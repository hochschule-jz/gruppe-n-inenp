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 (einmalig)</c:v>
                </c:pt>
              </c:strCache>
            </c:strRef>
          </c:tx>
          <c:spPr>
            <a:solidFill>
              <a:srgbClr val="1FA9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 Stellplätze</c:v>
                  </c:pt>
                  <c:pt idx="1">
                    <c:v>400 Stellplätze</c:v>
                  </c:pt>
                  <c:pt idx="2">
                    <c:v>500 Stellplätze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7616</c:v>
                </c:pt>
                <c:pt idx="1">
                  <c:v>11720</c:v>
                </c:pt>
                <c:pt idx="2">
                  <c:v>13784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 (5 Jahre)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 Stellplätze</c:v>
                  </c:pt>
                  <c:pt idx="1">
                    <c:v>400 Stellplätze</c:v>
                  </c:pt>
                  <c:pt idx="2">
                    <c:v>500 Stellplätze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2342</c:v>
                </c:pt>
                <c:pt idx="1">
                  <c:v>3741</c:v>
                </c:pt>
                <c:pt idx="2">
                  <c:v>4457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</c:scaling>
        <c:delete val="0"/>
        <c:axPos val="l"/>
        <c:majorGridlines>
          <c:spPr>
            <a:ln w="6350" cap="flat">
              <a:solidFill>
                <a:srgbClr val="DC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Relativer Einfluss</c:v>
                </c:pt>
              </c:strCache>
            </c:strRef>
          </c:tx>
          <c:spPr>
            <a:solidFill>
              <a:srgbClr val="1FA97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Cloud-Ereignisrate</c:v>
                  </c:pt>
                  <c:pt idx="1">
                    <c:v>Sensor-Stückkosten</c:v>
                  </c:pt>
                  <c:pt idx="2">
                    <c:v>Auslastungssteigerung</c:v>
                  </c:pt>
                  <c:pt idx="3">
                    <c:v>Parktarif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</c:v>
                </c:pt>
                <c:pt idx="1">
                  <c:v>3.6</c:v>
                </c:pt>
                <c:pt idx="2">
                  <c:v>67</c:v>
                </c:pt>
                <c:pt idx="3">
                  <c:v>100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DC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Kernbotschaft: Drive &amp; Decide macht die laufenden Cloud-Kosten eines IoT-Smart-Parking-Systems messbar und liefert Betreibern eine nachvollziehbare Kosten-Nutzen-Grundlage (TCO, ROI, Break-Even). ~30 Sekunden.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orientieren, nicht vorlesen. ~30 Sekunden. Roter Faden: Problem → Forschungslücke (Wirtschaftlichkeit) → Prototyp → messbarer Datenfluss → Kostenmodell → Kennzahlen → Diskussion.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den drei Zahlen einsteigen, nach &gt;7,5 Mio. kurz pausieren. Suchverkehr als Kernproblem benennen. Überleitung: Smart Parking verspricht Abhilfe – aber lohnt es sich? ~3 Minuten. Quelle: introduction.tex.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Literatur deckt viele Einzelaspekte ab, aber keinen Betreiber-Bewertungsrahmen. Forschungsfrage betont vorlesen. ~2 Minuten. Quelle: related_work.tex.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konkret machen: ein Betreiber, der überlegt, ob sich die Investition lohnt. ~1,5 Minuten. Quelle: methodology.tex.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Architektur als zentrale technische Folie. Betonen: rein serverless, keine Idle-Kosten – das ist die Voraussetzung dafür, dass OPEX überhaupt belastbar erfassbar wird. ~2,5 Minuten. Quelle: methodology.tex, backend/template.yaml.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 Pfad einmal durcherzählen. Der entscheidende Satz steht im grünen Kasten: 1 Ereignis = 1 Nachricht = 1 Lambda = 1 Write. Das ist die Brücke zum Kostenmodell. ~2 Minuten. Quelle: methodology.tex, docs/contract.md.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Erkenntnisinteressen: physisch = Realismus von Sensorik/Kommunikation, virtuell = Skalierung und Lastkosten. Gleicher Pfad ist der Clou. Foto vor dem Vortrag einsetzen. ~1,5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Bildschirm auf die App/das Video umschalten. Eine Person bedient, eine erklärt. Pre-Flight: AWS aktiv, Web-App in beiden Ansichten getestet, ESP32 am Hotspot mit gesehenem Initial-Publish, Fallback-Video lokal bereit. ~5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Modellaufbau erklären: 5-Jahres-Horizont (Abschreibung), Betreibersicht. Vier Nutzenpfade, aber nur die Auslastung wird hart monetarisiert – der Rest qualitativ, um den Nutzen nicht zu überschätzen. ~2,5 Minuten. Quelle: methodology.tex, cost-model/.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laufenden Cloud-Kosten sind im Verhältnis zu möglichen Parkerlösen vernachlässigbar. Werte aus dem Kostenmodell (AWS-Listenpreise + gemessene Last aus dem Lauf-Manifest). ~1,5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 ist die Headline. Bewusst NICHT den ROI als Riesenzahl verkaufen – er ist rechnerisch sehr hoch, weil der Nutzen über die volle Betriebszeit zum vollen Tarif angesetzt ist. Belastbar ist der Break-Even: schon ~0,03–0,04 pp genügen. ~2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Tornado-Logik: die Nutzenseite (Tarif × Auslastung) dominiert, die Kostenparameter sind fast irrelevant. Genau deshalb ist der Break-Even die ehrliche Kennzahl.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diskutieren: die hohen ROI-Werte nicht überverkaufen, sondern auf den Break-Even verweisen. Limitationen offen ansprechen – das wirkt souverän. ~2 Minuten. Quelle: methodology.tex (Abgrenzung), conclusion.tex.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der Kernbotschaft schließen (= Merksatz oben). Dann kurzer Ausblick. Danke + Überleitung zu Q&amp;A.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Reservefolie für Q&amp;A. Detail-Kostentabelle und technische Details bei Bedarf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237744" cy="237744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1417320"/>
            <a:ext cx="237744" cy="237744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1417320"/>
            <a:ext cx="237744" cy="23774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Wirtschaftlichkeit eines IoT-basierten Smart-Parking-Systems auf serverless AWS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 Seier · Julian Zankl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 Burgenland · Cloud Computing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1737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 &amp; Motivation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6288" y="1737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 &amp; Stand des Wissens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28163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Lösungsansatz &amp; Use Case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2862072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76288" y="28163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Systemarchitektur &amp; Datenfluss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941064"/>
            <a:ext cx="457200" cy="45720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8448" y="3895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&amp; Live-Demo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3941064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76288" y="3895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Kosten-Nutzen-Modell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020056"/>
            <a:ext cx="457200" cy="45720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8448" y="49743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&amp; Sensitivität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5020056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76288" y="49743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 &amp; Fazit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 &amp; MOTIVATION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Verkehr, teure Parkplatzsuche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55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+54.208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Pkw-Zuwachs in Österreich 2025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60020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1755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&gt;7,5 Mio.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3484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zugelassene Kfz – Höchststand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160020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0" y="1755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~⅓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04672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Verkehrstote durch Ablenkung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1091153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Pendlerverkehr nach Wien endet in Parkhäusern mit nur statischer Anzeige → wiederholtes Anfahren, Zeitverlust, Suchverkehr, Emissionen und Lärm.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Betreibersicht: Druck, Stellplätze effizient auszulasten – die Wirtschaftlichkeit eines Smart-Parking-Systems bleibt jedoch unklar.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Sicherheit: Parkinfo-Suche während der Fahrt erhöht das Ablenkungspotenzial mobiler Geräte.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 &amp; STAND DES WISSENS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Lücke: nicht Machbarkeit, sondern Wirtschaftlichkeit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des Wissens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Sensorik: IR, Kamera, Induktion, Ultraschall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Edge-, Fog- und Cloud-Architekturen für Echtzeitdaten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 Preis- und Routingansätze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 zu Fahrerablenkung und Sicherheit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166360" cy="1737360"/>
          </a:xfrm>
          <a:prstGeom prst="roundRect">
            <a:avLst>
              <a:gd name="adj" fmla="val 3684"/>
            </a:avLst>
          </a:prstGeom>
          <a:solidFill>
            <a:srgbClr val="E8F6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Forschungslücke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fehlt ein reproduzierbarer Bewertungsrahmen aus Sicht des Betreibers – die technische Machbarkeit ist längst gezeigt.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3520440"/>
            <a:ext cx="5166360" cy="1737360"/>
          </a:xfrm>
          <a:prstGeom prst="roundRect">
            <a:avLst>
              <a:gd name="adj" fmla="val 3684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41148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Rechtfertigt der erwartete Nutzen die Investitions- und Betriebskosten eines IoT-Smart-Parking-Systems – und ab wann (Break-Even)?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LÖSUNGSANSATZ &amp; USE 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trifft Kosten-Nutzen-Modell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911535" cy="1097280"/>
          </a:xfrm>
          <a:prstGeom prst="roundRect">
            <a:avLst>
              <a:gd name="adj" fmla="val 5833"/>
            </a:avLst>
          </a:prstGeom>
          <a:solidFill>
            <a:srgbClr val="E8F6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= realitätsnaher Prototyp (physisch + virtuell) + Kosten-Nutzen-Modell aus Betreibersicht.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Mittelgroßer Wiener Parkhausbetreiber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200–500 Stellplätze, innerstädtisch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Schwankende Auslastung über den Tag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3063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Bewertungslogik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3474720"/>
            <a:ext cx="5166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Betreiber = Entscheidungsträger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 in Sensorik + Konnektivität + Cloud = zu bewertende Maßnahme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Endnutzer:innen wirken indirekt über das Verhalten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SYSTEMARCHITEKTUR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auf AWS – Voraussetzung für messbare Kosten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7772400" cy="4381976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Users/julian/Documents/Projects/Cloud Computing/gruppe-n-inenp/Final Paper/fig/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680960" cy="42905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Datenpfad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0" y="205740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Geräteanbindung + MQTT-Routing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ereignisgetriebene Verarbeitung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aktueller Belegungsstatus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an Web / Navigation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806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dauerhaft laufenden Server – Kosten fallen nur pro Ereignis an.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DATENFLUSS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Sensorkante zur Anzeige – in 6 Schritten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429000" cy="1280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892808"/>
            <a:ext cx="402336" cy="40233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erkennt Statuswechsel (TCRT5000)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429000" cy="1280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1892808"/>
            <a:ext cx="402336" cy="40233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8288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baut MQTT-Nachricht: sensorId, spotId, ts, raw, status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429000" cy="1280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1892808"/>
            <a:ext cx="402336" cy="40233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18288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auf parking/garage1/spot/&lt;id&gt;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3429000" cy="1280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401568"/>
            <a:ext cx="402336" cy="402336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IoT-Rule → Validierungs-Lambda → DynamoDB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43400" y="3200400"/>
            <a:ext cx="3429000" cy="1280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44568" y="3401568"/>
            <a:ext cx="402336" cy="402336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337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Aggregations-Lambda: Auslastung + Ampel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46720" y="3200400"/>
            <a:ext cx="3429000" cy="1280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47888" y="3401568"/>
            <a:ext cx="402336" cy="402336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9" name="Text 27"/>
          <p:cNvSpPr/>
          <p:nvPr/>
        </p:nvSpPr>
        <p:spPr>
          <a:xfrm>
            <a:off x="8247888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78240" y="3337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→ Web / Navigation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name="adj" fmla="val 5185"/>
            </a:avLst>
          </a:prstGeom>
          <a:solidFill>
            <a:srgbClr val="E8F6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9834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Nachricht = 1 IoT-Nachricht = 1 Lambda-Aufruf = 1 DynamoDB-Write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genau das macht die laufenden Cloud-Kosten (OPEX) messbar.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Ampel: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&lt;0,70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0,70–0,90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&gt;0,90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Physisch für Realismus, virtuell für Skalierung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212080" cy="2743200"/>
          </a:xfrm>
          <a:prstGeom prst="roundRect">
            <a:avLst>
              <a:gd name="adj" fmla="val 2333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 des physischen Prototyps einfügen 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Modellgarage mit 4 markierten Stellplätzen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ein TCRT5000-IR-Sensor, ausgelesen vom ESP32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Belegung per Matchbox-Fahrzeugen, Publish via MQTT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645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2057400"/>
            <a:ext cx="5166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Software-Lastgenerator simuliert eine ganze Garage (200–500 Stellplätze; Großgarage: 400)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denselben MQTT-Pfad + Einfahrts-Ampel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 Last und Cloud-Kosten ohne Hardware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4434840"/>
            <a:ext cx="5166360" cy="1371600"/>
          </a:xfrm>
          <a:prstGeom prst="roundRect">
            <a:avLst>
              <a:gd name="adj" fmla="val 4667"/>
            </a:avLst>
          </a:prstGeom>
          <a:solidFill>
            <a:srgbClr val="E8F6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452628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Prototypen nutzen identisches Topic und JSON-Schema – einen gemeinsamen „Contract“.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82880" cy="18288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1554480"/>
            <a:ext cx="182880" cy="18288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1554480"/>
            <a:ext cx="182880" cy="1828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Video-Fallback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Physische Belegung (Modell) → Web-Update in 1–2 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Großgarage → „Andrang simulieren“ → Ampel grün → gelb → rot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End-to-End-Pfad live: Sensor → MQTT → IoT Core → Lambda → DynamoDB → API → 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KOSTEN-NUTZEN-MODELL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Aufbau: Kosten gegen Nutzen über 5 Jahre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Sensoren, Mikrocontroller, Verkabelung, Installation, initiale Cloud-Konfiguration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35000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Nutzungsabhängige AWS-Kosten (IoT, Lambda, DynamoDB, Transfer, Speicher) + Wartung, Sensoraustausch, Strom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840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3159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Auslastung, dynamische Preise, weniger Fehlfahrten, Datenverwertung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840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43159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· ROI · Amortisation · Break-Even (Δ Auslastung in %-Punkten)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Datenquellen: Markt-/Herstellerpreise · AWS-Listenpreise · Literaturparameter · Lauf-Manifest des Lastgenerators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· KOSTEN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dominiert, OPEX bleibt minimal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0020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737360"/>
            <a:ext cx="3749040" cy="4023360"/>
          </a:xfrm>
          <a:prstGeom prst="roundRect">
            <a:avLst>
              <a:gd name="adj" fmla="val 1707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Wichtigste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0" y="23317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nur rund 470–890 € pro Jahr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Gesamtkosten klar von den einmaligen CAPEX dominiert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= sehr geringe laufende Cloud-Kosten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(5 J.): 9.958 € · 15.461 € · 18.241 €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· KENNZAHLEN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als belastbare Kennzahl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4767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~0,03–0,04 pp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nötige Auslastungssteigerung, ab der sich die Investition trägt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468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9476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Jahr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27706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Amortisationsdauer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23960" y="1691640"/>
            <a:ext cx="2468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9476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470–890 €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7706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pro Jahr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91363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9.958–18.241 €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960" y="473659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über 5 Jahre (200 – 500 Stellplätze)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074920" cy="1783080"/>
          </a:xfrm>
          <a:prstGeom prst="roundRect">
            <a:avLst>
              <a:gd name="adj" fmla="val 3590"/>
            </a:avLst>
          </a:prstGeom>
          <a:solidFill>
            <a:srgbClr val="E8F6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22452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Break-Even liegt weit unter dem konservativsten Szenario (+1 pp) und unter den in der Literatur berichteten Effekten. ROI und Amortisation sind über alle Szenarien deutlich positiv; als robuste Kennzahl wird der Break-Even berichtet.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· SENSITIVITÄT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Ergebnis hängt an der Nutzenseite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45920"/>
          <a:ext cx="7040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783080"/>
            <a:ext cx="3703320" cy="3931920"/>
          </a:xfrm>
          <a:prstGeom prst="roundRect">
            <a:avLst>
              <a:gd name="adj" fmla="val 1728"/>
            </a:avLst>
          </a:prstGeom>
          <a:solidFill>
            <a:srgbClr val="F2F5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Lesart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92440" y="2377440"/>
            <a:ext cx="3246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Parktarif und Auslastungssteigerung bestimmen das Ergebnis fast vollständig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Sensorkosten und Cloud-Ereignisrate spielen kaum eine Rolle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Deshalb wird der Break-Even statt eines einzelnen ROI-Werts berichtet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5806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Einfluss je Parameter, normiert auf den stärksten (±30 % Variation, Basis 400 Stellplätze).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 &amp; LIMITATIONEN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es sich trägt – und was offen bleibt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praktisch allen plausiblen Annahmen amortisiert sich die Investition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Nutzenseite (Auslastung, Tarif) dominiert das Ergebnis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Skaleneffekt: OPEX je Stellplatz sinkt mit der Größe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macht die OPEX überhaupt erst belastbar erfassbar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645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5080" y="2057400"/>
            <a:ext cx="5166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Modellierte statt langfristig gemessene Cloud-Kosten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über vollen Tarif angesetzt → ROI überschätzt; Break-Even ist die belastbare Aussage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Sensor-Benchmark, keine Endnutzerstudie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Sicherheitseffekte nur qualitativ; Ergebnis hängt an offen dokumentierten Annahmen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82880" cy="18288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1371600"/>
            <a:ext cx="182880" cy="18288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1371600"/>
            <a:ext cx="182880" cy="1828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Investitionsentscheidungen für ein Smart-Parking-System sollten auf TCO, ROI und Break-Even beruhen – und serverless, ereignisgetriebenes Design ist die Voraussetzung für belastbare laufende Kosten.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Messreihen statt modellierter OPEX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Feldstudie zum tatsächlichen Auslastungseffekt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Sensoren/Stellplätze, robustere Sensorik (ToF)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Navigations-Anbindung und dynamische Tarife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28016" cy="12801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28016" cy="12801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54864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QUELLEN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Rückfragen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Ampel-Schwellen &amp; Aggregationslogik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Topic-Schema + JSON-Nachricht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IoT-Policy (nur Connect + Publish)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Lastprofile &amp; awsUsageEstimate-Manifest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Quellenverzeichnis (references.bib)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94560"/>
          <a:ext cx="51663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914400"/>
                <a:gridCol w="822960"/>
                <a:gridCol w="960120"/>
                <a:gridCol w="960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OPEX/J.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 5J.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Stellpl.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7.616 €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9.958 €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Stellpl.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11.720 €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15.461 €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Stellpl.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13.784 €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891 €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18.241 €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18288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 je Garagengröße (Basisfall, +3 pp)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&amp; Decide · Seier &amp; Zankl · FH Burgenland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 &amp; Decide</dc:title>
  <dc:subject>PptxGenJS Presentation</dc:subject>
  <dc:creator>Seier &amp; Zankl</dc:creator>
  <cp:lastModifiedBy>Seier &amp; Zankl</cp:lastModifiedBy>
  <cp:revision>1</cp:revision>
  <dcterms:created xsi:type="dcterms:W3CDTF">2026-06-19T05:14:07Z</dcterms:created>
  <dcterms:modified xsi:type="dcterms:W3CDTF">2026-06-19T05:14:07Z</dcterms:modified>
</cp:coreProperties>
</file>