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rts/chart1.xml" ContentType="application/vnd.openxmlformats-officedocument.drawingml.chart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rts/chart2.xml" ContentType="application/vnd.openxmlformats-officedocument.drawingml.chart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handoutMasterIdLst>
    <p:handoutMasterId r:id="rId19"/>
  </p:handout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9144000"/>
  <p:defaultTextStyle>
    <a:defPPr rtl="0"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D34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746" autoAdjust="0"/>
    <p:restoredTop sz="84939" autoAdjust="0"/>
  </p:normalViewPr>
  <p:slideViewPr>
    <p:cSldViewPr snapToGrid="0">
      <p:cViewPr varScale="1">
        <p:scale>
          <a:sx n="103" d="100"/>
          <a:sy n="103" d="100"/>
        </p:scale>
        <p:origin x="120" y="7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3" d="100"/>
          <a:sy n="93" d="100"/>
        </p:scale>
        <p:origin x="295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CAPEX (einmalig)</c:v>
                </c:pt>
              </c:strCache>
            </c:strRef>
          </c:tx>
          <c:spPr>
            <a:solidFill>
              <a:srgbClr val="4472C4"/>
            </a:solidFill>
            <a:ln>
              <a:noFill/>
            </a:ln>
          </c:spPr>
          <c:invertIfNegative val="1"/>
          <c:cat>
            <c:strRef>
              <c:f>Sheet1!$A$2:$A$4</c:f>
              <c:strCache>
                <c:ptCount val="3"/>
                <c:pt idx="0">
                  <c:v>200 Stellplätze</c:v>
                </c:pt>
                <c:pt idx="1">
                  <c:v>400 Stellplätze</c:v>
                </c:pt>
                <c:pt idx="2">
                  <c:v>500 Stellplätze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7616</c:v>
                </c:pt>
                <c:pt idx="1">
                  <c:v>11720</c:v>
                </c:pt>
                <c:pt idx="2">
                  <c:v>13784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28A5-6040-A939-A1EF9B7752A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OPEX (5 Jahre)</c:v>
                </c:pt>
              </c:strCache>
            </c:strRef>
          </c:tx>
          <c:spPr>
            <a:solidFill>
              <a:srgbClr val="FFC000"/>
            </a:solidFill>
            <a:ln>
              <a:noFill/>
            </a:ln>
          </c:spPr>
          <c:invertIfNegative val="1"/>
          <c:cat>
            <c:strRef>
              <c:f>Sheet1!$A$2:$A$4</c:f>
              <c:strCache>
                <c:ptCount val="3"/>
                <c:pt idx="0">
                  <c:v>200 Stellplätze</c:v>
                </c:pt>
                <c:pt idx="1">
                  <c:v>400 Stellplätze</c:v>
                </c:pt>
                <c:pt idx="2">
                  <c:v>500 Stellplätze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2342</c:v>
                </c:pt>
                <c:pt idx="1">
                  <c:v>3741</c:v>
                </c:pt>
                <c:pt idx="2">
                  <c:v>4457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28A5-6040-A939-A1EF9B7752A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2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txPr>
          <a:bodyPr/>
          <a:lstStyle/>
          <a:p>
            <a:pPr>
              <a:defRPr sz="1200">
                <a:latin typeface="Calibri"/>
              </a:defRPr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>
          <c:spPr>
            <a:ln w="6350">
              <a:solidFill>
                <a:srgbClr val="E0E0E0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Calibri"/>
              </a:defRPr>
            </a:pPr>
            <a:endParaRPr lang="en-US"/>
          </a:p>
        </c:txPr>
        <c:crossAx val="-2068027336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200">
              <a:latin typeface="Calibri"/>
            </a:defRPr>
          </a:pPr>
          <a:endParaRPr lang="en-US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1"/>
  <c:style val="2"/>
  <c:chart>
    <c:autoTitleDeleted val="1"/>
    <c:plotArea>
      <c:layout/>
      <c:barChart>
        <c:barDir val="bar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Relativer Einfluss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solidFill>
                <a:srgbClr val="A5A5A5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1-CEC2-B443-9671-A44E6E2F32A8}"/>
              </c:ext>
            </c:extLst>
          </c:dPt>
          <c:dPt>
            <c:idx val="1"/>
            <c:invertIfNegative val="1"/>
            <c:bubble3D val="0"/>
            <c:spPr>
              <a:solidFill>
                <a:srgbClr val="A5A5A5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3-CEC2-B443-9671-A44E6E2F32A8}"/>
              </c:ext>
            </c:extLst>
          </c:dPt>
          <c:dPt>
            <c:idx val="2"/>
            <c:invertIfNegative val="1"/>
            <c:bubble3D val="0"/>
            <c:spPr>
              <a:solidFill>
                <a:srgbClr val="5B9BD5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5-CEC2-B443-9671-A44E6E2F32A8}"/>
              </c:ext>
            </c:extLst>
          </c:dPt>
          <c:dPt>
            <c:idx val="3"/>
            <c:invertIfNegative val="1"/>
            <c:bubble3D val="0"/>
            <c:spPr>
              <a:solidFill>
                <a:srgbClr val="4472C4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7-CEC2-B443-9671-A44E6E2F32A8}"/>
              </c:ext>
            </c:extLst>
          </c:dPt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1">
                    <a:latin typeface="Calibri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Cloud-Ereignisrate</c:v>
                </c:pt>
                <c:pt idx="1">
                  <c:v>Sensor-Stückkosten</c:v>
                </c:pt>
                <c:pt idx="2">
                  <c:v>Auslastungssteigerung</c:v>
                </c:pt>
                <c:pt idx="3">
                  <c:v>Parktarif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0.3</c:v>
                </c:pt>
                <c:pt idx="1">
                  <c:v>3.6</c:v>
                </c:pt>
                <c:pt idx="2">
                  <c:v>67</c:v>
                </c:pt>
                <c:pt idx="3">
                  <c:v>100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CEC2-B443-9671-A44E6E2F32A8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numFmt formatCode="General" sourceLinked="0"/>
        <c:majorTickMark val="none"/>
        <c:minorTickMark val="none"/>
        <c:tickLblPos val="nextTo"/>
        <c:txPr>
          <a:bodyPr/>
          <a:lstStyle/>
          <a:p>
            <a:pPr>
              <a:defRPr sz="1200">
                <a:latin typeface="Calibri"/>
              </a:defRPr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110"/>
          <c:min val="0"/>
        </c:scaling>
        <c:delete val="0"/>
        <c:axPos val="b"/>
        <c:majorGridlines>
          <c:spPr>
            <a:ln w="6350">
              <a:solidFill>
                <a:srgbClr val="E0E0E0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Calibri"/>
              </a:defRPr>
            </a:pPr>
            <a:endParaRPr lang="en-US"/>
          </a:p>
        </c:txPr>
        <c:crossAx val="-2068027336"/>
        <c:crosses val="autoZero"/>
        <c:crossBetween val="between"/>
        <c:majorUnit val="20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5659A35A-B45A-471D-8798-A1F634660991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de-D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86CDBCFF-DB1C-4148-AE10-0009F0ABF66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3762065D-B45E-4BF4-A742-865B9EF86310}" type="datetime1">
              <a:rPr lang="de-DE" smtClean="0"/>
              <a:t>19.06.2026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BE624F19-BD09-4F8A-BEC3-5B4EC46FBBB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76897F4-4C0C-4FAD-84FC-2E652243893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0D4D6EF6-E2EF-452B-A550-B4BEBF67A7A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5248478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de-DE" noProof="0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37F2CF3-43BB-44F7-9FDD-3BD266557B3B}" type="datetime1">
              <a:rPr lang="de-DE" smtClean="0"/>
              <a:pPr/>
              <a:t>19.06.2026</a:t>
            </a:fld>
            <a:endParaRPr lang="de-DE" dirty="0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de-DE" noProof="0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de-DE" noProof="0"/>
              <a:t>Textmasterformat durch Klicken bearbeiten</a:t>
            </a:r>
          </a:p>
          <a:p>
            <a:pPr lvl="1" rtl="0"/>
            <a:r>
              <a:rPr lang="de-DE" noProof="0"/>
              <a:t>Zweite Ebene</a:t>
            </a:r>
          </a:p>
          <a:p>
            <a:pPr lvl="2" rtl="0"/>
            <a:r>
              <a:rPr lang="de-DE" noProof="0"/>
              <a:t>Dritte Ebene</a:t>
            </a:r>
          </a:p>
          <a:p>
            <a:pPr lvl="3" rtl="0"/>
            <a:r>
              <a:rPr lang="de-DE" noProof="0"/>
              <a:t>Vierte Ebene</a:t>
            </a:r>
          </a:p>
          <a:p>
            <a:pPr lvl="4" rtl="0"/>
            <a:r>
              <a:rPr lang="de-DE" noProof="0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de-DE" noProof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C853816F-A1CF-4485-B308-1B9F14B36EAD}" type="slidenum">
              <a:rPr lang="de-DE" noProof="0" smtClean="0"/>
              <a:t>‹Nr.›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1726839170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A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853816F-A1CF-4485-B308-1B9F14B36EAD}" type="slidenum">
              <a:rPr lang="de-DE" noProof="0" smtClean="0"/>
              <a:t>3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264507701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A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853816F-A1CF-4485-B308-1B9F14B36EAD}" type="slidenum">
              <a:rPr lang="de-DE" noProof="0" smtClean="0"/>
              <a:t>5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159273395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A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853816F-A1CF-4485-B308-1B9F14B36EAD}" type="slidenum">
              <a:rPr lang="de-DE" noProof="0" smtClean="0"/>
              <a:t>6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223774457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A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853816F-A1CF-4485-B308-1B9F14B36EAD}" type="slidenum">
              <a:rPr lang="de-DE" noProof="0" smtClean="0"/>
              <a:t>7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165272768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A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853816F-A1CF-4485-B308-1B9F14B36EAD}" type="slidenum">
              <a:rPr lang="de-DE" noProof="0" smtClean="0"/>
              <a:t>10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364280046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A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853816F-A1CF-4485-B308-1B9F14B36EAD}" type="slidenum">
              <a:rPr lang="de-DE" noProof="0" smtClean="0"/>
              <a:t>11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282356538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A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853816F-A1CF-4485-B308-1B9F14B36EAD}" type="slidenum">
              <a:rPr lang="de-DE" noProof="0" smtClean="0"/>
              <a:t>12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310349377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A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853816F-A1CF-4485-B308-1B9F14B36EAD}" type="slidenum">
              <a:rPr lang="de-DE" noProof="0" smtClean="0"/>
              <a:t>13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44648054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A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853816F-A1CF-4485-B308-1B9F14B36EAD}" type="slidenum">
              <a:rPr lang="de-DE" noProof="0" smtClean="0"/>
              <a:t>16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10999102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980C5E7-B1A1-4648-89D2-17B0F1E7F5B3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122363"/>
            <a:ext cx="9144000" cy="2387600"/>
          </a:xfrm>
        </p:spPr>
        <p:txBody>
          <a:bodyPr rtlCol="0" anchor="b"/>
          <a:lstStyle>
            <a:lvl1pPr algn="ctr">
              <a:defRPr sz="6000"/>
            </a:lvl1pPr>
          </a:lstStyle>
          <a:p>
            <a:pPr rtl="0"/>
            <a:r>
              <a:rPr lang="de-DE" noProof="0"/>
              <a:t>Titelmasterformat durch Klicken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5D140298-3E00-4E73-B947-697E6928286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 rtlCol="0"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de-DE" noProof="0"/>
              <a:t>Formatvorlage des Untertitelmasters durch Klicken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6BB99EB-0E86-4FEA-A9C4-501D4E755A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A22773E7-C9D4-4F74-957D-E044B2801EEA}" type="datetime1">
              <a:rPr lang="de-DE" noProof="0" smtClean="0"/>
              <a:t>19.06.2026</a:t>
            </a:fld>
            <a:endParaRPr lang="de-DE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731F536-58DF-4935-AE3B-7A08C03124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de-DE" noProof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E995127-BE30-42B7-9BE5-B83CC6A2E6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CEC5C30-0B3A-4B13-ADDD-7C63C8AA921B}" type="slidenum">
              <a:rPr lang="de-DE" noProof="0" smtClean="0"/>
              <a:t>‹Nr.›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30097518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6AAE108-9C7F-4CDC-AD71-B576580A199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rtlCol="0"/>
          <a:lstStyle/>
          <a:p>
            <a:pPr rtl="0"/>
            <a:r>
              <a:rPr lang="de-DE" noProof="0"/>
              <a:t>Titelmasterformat durch Klicken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A103746-779A-435F-995A-5BF82C86C297}"/>
              </a:ext>
            </a:extLst>
          </p:cNvPr>
          <p:cNvSpPr>
            <a:spLocks noGrp="1"/>
          </p:cNvSpPr>
          <p:nvPr>
            <p:ph idx="1" hasCustomPrompt="1"/>
          </p:nvPr>
        </p:nvSpPr>
        <p:spPr/>
        <p:txBody>
          <a:bodyPr rtlCol="0"/>
          <a:lstStyle/>
          <a:p>
            <a:pPr lvl="0" rtl="0"/>
            <a:r>
              <a:rPr lang="de-DE" noProof="0"/>
              <a:t>Textmasterformat durch Klicken bearbeiten</a:t>
            </a:r>
          </a:p>
          <a:p>
            <a:pPr lvl="1" rtl="0"/>
            <a:r>
              <a:rPr lang="de-DE" noProof="0"/>
              <a:t>Zweite Ebene</a:t>
            </a:r>
          </a:p>
          <a:p>
            <a:pPr lvl="2" rtl="0"/>
            <a:r>
              <a:rPr lang="de-DE" noProof="0"/>
              <a:t>Dritte Ebene</a:t>
            </a:r>
          </a:p>
          <a:p>
            <a:pPr lvl="3" rtl="0"/>
            <a:r>
              <a:rPr lang="de-DE" noProof="0"/>
              <a:t>Vierte Ebene</a:t>
            </a:r>
          </a:p>
          <a:p>
            <a:pPr lvl="4" rtl="0"/>
            <a:r>
              <a:rPr lang="de-DE" noProof="0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984E866-B322-455F-AC32-8C164B8CD9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993DE410-A4A9-42F3-B0F5-E18F24795FB9}" type="datetime1">
              <a:rPr lang="de-DE" noProof="0" smtClean="0"/>
              <a:t>19.06.2026</a:t>
            </a:fld>
            <a:endParaRPr lang="de-DE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C0D61E0-F80F-48E7-A817-F1CECBEE9A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de-DE" noProof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BF34AFC-4299-43F1-A312-79EF0102CE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CEC5C30-0B3A-4B13-ADDD-7C63C8AA921B}" type="slidenum">
              <a:rPr lang="de-DE" noProof="0" smtClean="0"/>
              <a:t>‹Nr.›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15527462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B1E1D3E-E4B6-4EAA-BFB4-25A0557A6CB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1850" y="1709738"/>
            <a:ext cx="10515600" cy="2852737"/>
          </a:xfrm>
        </p:spPr>
        <p:txBody>
          <a:bodyPr rtlCol="0" anchor="b"/>
          <a:lstStyle>
            <a:lvl1pPr>
              <a:defRPr sz="6000"/>
            </a:lvl1pPr>
          </a:lstStyle>
          <a:p>
            <a:pPr rtl="0"/>
            <a:r>
              <a:rPr lang="de-DE" noProof="0"/>
              <a:t>Titelmasterformat durch Klicken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F7E0856-45A8-4EAD-A9D6-8A993968A1A8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1850" y="4589463"/>
            <a:ext cx="10515600" cy="1500187"/>
          </a:xfrm>
        </p:spPr>
        <p:txBody>
          <a:bodyPr rtlCol="0"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de-DE" noProof="0"/>
              <a:t>Textmasterformat durch Klicken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90EEBE1-2BAF-4C94-8403-6E8454F9BC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8E0B2B71-0084-4E14-A09F-350691EE64E7}" type="datetime1">
              <a:rPr lang="de-DE" noProof="0" smtClean="0"/>
              <a:t>19.06.2026</a:t>
            </a:fld>
            <a:endParaRPr lang="de-DE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3358F46-E931-4D79-94A5-037AFD0733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de-DE" noProof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5130D95-EF5F-4A0A-93BD-73AEE2C2FF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CEC5C30-0B3A-4B13-ADDD-7C63C8AA921B}" type="slidenum">
              <a:rPr lang="de-DE" noProof="0" smtClean="0"/>
              <a:t>‹Nr.›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36012567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1BABEC0-6253-4360-B586-B9D20933DE3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rtlCol="0"/>
          <a:lstStyle/>
          <a:p>
            <a:pPr rtl="0"/>
            <a:r>
              <a:rPr lang="de-DE" noProof="0"/>
              <a:t>Titelmasterformat durch Klicken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946E20B-8661-4C60-84FB-4892E8B48608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838200" y="1825625"/>
            <a:ext cx="5181600" cy="4351338"/>
          </a:xfrm>
        </p:spPr>
        <p:txBody>
          <a:bodyPr rtlCol="0"/>
          <a:lstStyle/>
          <a:p>
            <a:pPr lvl="0" rtl="0"/>
            <a:r>
              <a:rPr lang="de-DE" noProof="0"/>
              <a:t>Textmasterformat durch Klicken bearbeiten</a:t>
            </a:r>
          </a:p>
          <a:p>
            <a:pPr lvl="1" rtl="0"/>
            <a:r>
              <a:rPr lang="de-DE" noProof="0"/>
              <a:t>Zweite Ebene</a:t>
            </a:r>
          </a:p>
          <a:p>
            <a:pPr lvl="2" rtl="0"/>
            <a:r>
              <a:rPr lang="de-DE" noProof="0"/>
              <a:t>Dritte Ebene</a:t>
            </a:r>
          </a:p>
          <a:p>
            <a:pPr lvl="3" rtl="0"/>
            <a:r>
              <a:rPr lang="de-DE" noProof="0"/>
              <a:t>Vierte Ebene</a:t>
            </a:r>
          </a:p>
          <a:p>
            <a:pPr lvl="4" rtl="0"/>
            <a:r>
              <a:rPr lang="de-DE" noProof="0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5132BE45-79E4-479B-BD2F-46CCB0BEE628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172200" y="1825625"/>
            <a:ext cx="5181600" cy="4351338"/>
          </a:xfrm>
        </p:spPr>
        <p:txBody>
          <a:bodyPr rtlCol="0"/>
          <a:lstStyle/>
          <a:p>
            <a:pPr lvl="0" rtl="0"/>
            <a:r>
              <a:rPr lang="de-DE" noProof="0"/>
              <a:t>Textmasterformat durch Klicken bearbeiten</a:t>
            </a:r>
          </a:p>
          <a:p>
            <a:pPr lvl="1" rtl="0"/>
            <a:r>
              <a:rPr lang="de-DE" noProof="0"/>
              <a:t>Zweite Ebene</a:t>
            </a:r>
          </a:p>
          <a:p>
            <a:pPr lvl="2" rtl="0"/>
            <a:r>
              <a:rPr lang="de-DE" noProof="0"/>
              <a:t>Dritte Ebene</a:t>
            </a:r>
          </a:p>
          <a:p>
            <a:pPr lvl="3" rtl="0"/>
            <a:r>
              <a:rPr lang="de-DE" noProof="0"/>
              <a:t>Vierte Ebene</a:t>
            </a:r>
          </a:p>
          <a:p>
            <a:pPr lvl="4" rtl="0"/>
            <a:r>
              <a:rPr lang="de-DE" noProof="0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0589105E-DF25-4F38-BDE2-9B00C2C44F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B092AC67-DC35-452C-AEEE-7B11672D1355}" type="datetime1">
              <a:rPr lang="de-DE" noProof="0" smtClean="0"/>
              <a:t>19.06.2026</a:t>
            </a:fld>
            <a:endParaRPr lang="de-DE" noProof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B1D9C4A8-7467-4BAD-98A2-0B63CAC19B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de-DE" noProof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8BC5C5C0-08E4-4F7B-9E80-8925539D22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CEC5C30-0B3A-4B13-ADDD-7C63C8AA921B}" type="slidenum">
              <a:rPr lang="de-DE" noProof="0" smtClean="0"/>
              <a:t>‹Nr.›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24384073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47FF641-A5CC-4263-A394-2112D623A8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9788" y="365125"/>
            <a:ext cx="10515600" cy="1325563"/>
          </a:xfrm>
        </p:spPr>
        <p:txBody>
          <a:bodyPr rtlCol="0"/>
          <a:lstStyle/>
          <a:p>
            <a:pPr rtl="0"/>
            <a:r>
              <a:rPr lang="de-DE" noProof="0"/>
              <a:t>Titelmasterformat durch Klicken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24D6865-C632-473C-AEC8-8D3F71562BE6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9788" y="1681163"/>
            <a:ext cx="5157787" cy="823912"/>
          </a:xfrm>
        </p:spPr>
        <p:txBody>
          <a:bodyPr rtlCol="0"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de-DE" noProof="0"/>
              <a:t>Textmasterformat durch Klicken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D9FDBD19-4D33-4F6A-9938-6A04B3888ECC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839788" y="2505075"/>
            <a:ext cx="5157787" cy="3684588"/>
          </a:xfrm>
        </p:spPr>
        <p:txBody>
          <a:bodyPr rtlCol="0"/>
          <a:lstStyle/>
          <a:p>
            <a:pPr lvl="0" rtl="0"/>
            <a:r>
              <a:rPr lang="de-DE" noProof="0"/>
              <a:t>Textmasterformat durch Klicken bearbeiten</a:t>
            </a:r>
          </a:p>
          <a:p>
            <a:pPr lvl="1" rtl="0"/>
            <a:r>
              <a:rPr lang="de-DE" noProof="0"/>
              <a:t>Zweite Ebene</a:t>
            </a:r>
          </a:p>
          <a:p>
            <a:pPr lvl="2" rtl="0"/>
            <a:r>
              <a:rPr lang="de-DE" noProof="0"/>
              <a:t>Dritte Ebene</a:t>
            </a:r>
          </a:p>
          <a:p>
            <a:pPr lvl="3" rtl="0"/>
            <a:r>
              <a:rPr lang="de-DE" noProof="0"/>
              <a:t>Vierte Ebene</a:t>
            </a:r>
          </a:p>
          <a:p>
            <a:pPr lvl="4" rtl="0"/>
            <a:r>
              <a:rPr lang="de-DE" noProof="0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51697E46-CE4D-480E-A997-2B53B2DF55B2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6172200" y="1681163"/>
            <a:ext cx="5183188" cy="823912"/>
          </a:xfrm>
        </p:spPr>
        <p:txBody>
          <a:bodyPr rtlCol="0"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de-DE" noProof="0"/>
              <a:t>Textmasterformat durch Klicken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8B8B7E36-823F-4FD4-B826-E450A1248008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6172200" y="2505075"/>
            <a:ext cx="5183188" cy="3684588"/>
          </a:xfrm>
        </p:spPr>
        <p:txBody>
          <a:bodyPr rtlCol="0"/>
          <a:lstStyle/>
          <a:p>
            <a:pPr lvl="0" rtl="0"/>
            <a:r>
              <a:rPr lang="de-DE" noProof="0"/>
              <a:t>Textmasterformat durch Klicken bearbeiten</a:t>
            </a:r>
          </a:p>
          <a:p>
            <a:pPr lvl="1" rtl="0"/>
            <a:r>
              <a:rPr lang="de-DE" noProof="0"/>
              <a:t>Zweite Ebene</a:t>
            </a:r>
          </a:p>
          <a:p>
            <a:pPr lvl="2" rtl="0"/>
            <a:r>
              <a:rPr lang="de-DE" noProof="0"/>
              <a:t>Dritte Ebene</a:t>
            </a:r>
          </a:p>
          <a:p>
            <a:pPr lvl="3" rtl="0"/>
            <a:r>
              <a:rPr lang="de-DE" noProof="0"/>
              <a:t>Vierte Ebene</a:t>
            </a:r>
          </a:p>
          <a:p>
            <a:pPr lvl="4" rtl="0"/>
            <a:r>
              <a:rPr lang="de-DE" noProof="0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8DBB3B14-C886-4F84-9FD5-11C8320E1F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50DB00D4-7C83-497D-9871-C4A5B4F00465}" type="datetime1">
              <a:rPr lang="de-DE" noProof="0" smtClean="0"/>
              <a:t>19.06.2026</a:t>
            </a:fld>
            <a:endParaRPr lang="de-DE" noProof="0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DF9AF591-4BBF-4BF2-9EF7-F8B114DFA1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de-DE" noProof="0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352B1A04-B244-4AE3-8997-9B075B1059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CEC5C30-0B3A-4B13-ADDD-7C63C8AA921B}" type="slidenum">
              <a:rPr lang="de-DE" noProof="0" smtClean="0"/>
              <a:t>‹Nr.›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1110444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05408F1-BB29-4C6F-91C9-653A730BECC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rtlCol="0"/>
          <a:lstStyle/>
          <a:p>
            <a:pPr rtl="0"/>
            <a:r>
              <a:rPr lang="de-DE" noProof="0"/>
              <a:t>Titelmasterformat durch Klicken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2F54FEF9-8D09-4091-BE99-B6264EBD34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1241CF0-587E-437A-B21F-38049A7914AF}" type="datetime1">
              <a:rPr lang="de-DE" noProof="0" smtClean="0"/>
              <a:t>19.06.2026</a:t>
            </a:fld>
            <a:endParaRPr lang="de-DE" noProof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0B5F49AA-83D5-4063-9CDE-AA7763048B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de-DE" noProof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B2A2B27C-3C99-4208-B425-775413C536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CEC5C30-0B3A-4B13-ADDD-7C63C8AA921B}" type="slidenum">
              <a:rPr lang="de-DE" noProof="0" smtClean="0"/>
              <a:t>‹Nr.›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1614035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042A62B2-A6D1-4A6F-8B20-80606F4785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7567E767-1E22-4940-B5CA-781C46D69496}" type="datetime1">
              <a:rPr lang="de-DE" noProof="0" smtClean="0"/>
              <a:t>19.06.2026</a:t>
            </a:fld>
            <a:endParaRPr lang="de-DE" noProof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C02E4958-7A46-4331-B2D8-2C31D8FCBD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de-DE" noProof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5C8548B-339B-46B2-BF01-1EE3DDC72A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CEC5C30-0B3A-4B13-ADDD-7C63C8AA921B}" type="slidenum">
              <a:rPr lang="de-DE" noProof="0" smtClean="0"/>
              <a:t>‹Nr.›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19146615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8EF408F-8083-4F07-9628-074C7AFE41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9788" y="457200"/>
            <a:ext cx="3932237" cy="1600200"/>
          </a:xfrm>
        </p:spPr>
        <p:txBody>
          <a:bodyPr rtlCol="0" anchor="b"/>
          <a:lstStyle>
            <a:lvl1pPr>
              <a:defRPr sz="3200"/>
            </a:lvl1pPr>
          </a:lstStyle>
          <a:p>
            <a:pPr rtl="0"/>
            <a:r>
              <a:rPr lang="de-DE" noProof="0"/>
              <a:t>Titelmasterformat durch Klicken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70477E0-A333-439D-A531-30B39A81346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183188" y="987425"/>
            <a:ext cx="6172200" cy="4873625"/>
          </a:xfrm>
        </p:spPr>
        <p:txBody>
          <a:bodyPr rtlCol="0"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rtl="0"/>
            <a:r>
              <a:rPr lang="de-DE" noProof="0"/>
              <a:t>Textmasterformat durch Klicken bearbeiten</a:t>
            </a:r>
          </a:p>
          <a:p>
            <a:pPr lvl="1" rtl="0"/>
            <a:r>
              <a:rPr lang="de-DE" noProof="0"/>
              <a:t>Zweite Ebene</a:t>
            </a:r>
          </a:p>
          <a:p>
            <a:pPr lvl="2" rtl="0"/>
            <a:r>
              <a:rPr lang="de-DE" noProof="0"/>
              <a:t>Dritte Ebene</a:t>
            </a:r>
          </a:p>
          <a:p>
            <a:pPr lvl="3" rtl="0"/>
            <a:r>
              <a:rPr lang="de-DE" noProof="0"/>
              <a:t>Vierte Ebene</a:t>
            </a:r>
          </a:p>
          <a:p>
            <a:pPr lvl="4" rtl="0"/>
            <a:r>
              <a:rPr lang="de-DE" noProof="0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D5D59501-D187-414C-AACE-F838720036CC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839788" y="2057400"/>
            <a:ext cx="3932237" cy="3811588"/>
          </a:xfrm>
        </p:spPr>
        <p:txBody>
          <a:bodyPr rtlCol="0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de-DE" noProof="0"/>
              <a:t>Textmasterformat durch Klicken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1235F890-BB8A-49E1-880A-924FD6FE40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7EED94C3-2D45-4889-939C-DCCC0E20F8E3}" type="datetime1">
              <a:rPr lang="de-DE" noProof="0" smtClean="0"/>
              <a:t>19.06.2026</a:t>
            </a:fld>
            <a:endParaRPr lang="de-DE" noProof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51CA38FE-429A-41E7-942D-ECCE639D3C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de-DE" noProof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2401D9BC-0038-4041-AE2C-657BF99D41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CEC5C30-0B3A-4B13-ADDD-7C63C8AA921B}" type="slidenum">
              <a:rPr lang="de-DE" noProof="0" smtClean="0"/>
              <a:t>‹Nr.›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12875613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7956CFD-7F35-482C-A50F-B3D43ACB0AE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9788" y="457200"/>
            <a:ext cx="3932237" cy="1600200"/>
          </a:xfrm>
        </p:spPr>
        <p:txBody>
          <a:bodyPr rtlCol="0" anchor="b"/>
          <a:lstStyle>
            <a:lvl1pPr>
              <a:defRPr sz="3200"/>
            </a:lvl1pPr>
          </a:lstStyle>
          <a:p>
            <a:pPr rtl="0"/>
            <a:r>
              <a:rPr lang="de-DE" noProof="0"/>
              <a:t>Titelmasterformat durch Klicken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7FD7F3EF-0FE9-46C4-A116-5DA6E26B0D5D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5183188" y="987425"/>
            <a:ext cx="6172200" cy="4873625"/>
          </a:xfrm>
        </p:spPr>
        <p:txBody>
          <a:bodyPr rtlCol="0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de-DE" noProof="0"/>
              <a:t>Klicken Sie, um ein Bild hinzuzufügen.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D10B4041-0F17-42D8-AF16-AB099A39FFBD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839788" y="2057400"/>
            <a:ext cx="3932237" cy="3811588"/>
          </a:xfrm>
        </p:spPr>
        <p:txBody>
          <a:bodyPr rtlCol="0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de-DE" noProof="0"/>
              <a:t>Textmasterformat durch Klicken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8BAF67FF-F8F1-4B22-A471-9317ED3A25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5EEED7C-AB99-46BA-A7E4-ED553DD733AB}" type="datetime1">
              <a:rPr lang="de-DE" noProof="0" smtClean="0"/>
              <a:t>19.06.2026</a:t>
            </a:fld>
            <a:endParaRPr lang="de-DE" noProof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A73D6993-98F8-4234-B24A-02D4DB41CE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de-DE" noProof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F2A34037-0E7D-4379-ACA0-98611B2F76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CEC5C30-0B3A-4B13-ADDD-7C63C8AA921B}" type="slidenum">
              <a:rPr lang="de-DE" noProof="0" smtClean="0"/>
              <a:t>‹Nr.›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39391979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E645B175-C851-453B-B2A0-9A5CFCADC0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rtl="0"/>
            <a:r>
              <a:rPr lang="de-DE" noProof="0"/>
              <a:t>Titelmasterformat durch Klicken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2E65F4A2-0E4F-4E49-A0BF-BEEC722033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de-DE" noProof="0"/>
              <a:t>Textmasterformat durch Klicken bearbeiten</a:t>
            </a:r>
          </a:p>
          <a:p>
            <a:pPr lvl="1" rtl="0"/>
            <a:r>
              <a:rPr lang="de-DE" noProof="0"/>
              <a:t>Zweite Ebene</a:t>
            </a:r>
          </a:p>
          <a:p>
            <a:pPr lvl="2" rtl="0"/>
            <a:r>
              <a:rPr lang="de-DE" noProof="0"/>
              <a:t>Dritte Ebene</a:t>
            </a:r>
          </a:p>
          <a:p>
            <a:pPr lvl="3" rtl="0"/>
            <a:r>
              <a:rPr lang="de-DE" noProof="0"/>
              <a:t>Vierte Ebene</a:t>
            </a:r>
          </a:p>
          <a:p>
            <a:pPr lvl="4" rtl="0"/>
            <a:r>
              <a:rPr lang="de-DE" noProof="0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328AA27-3F13-4BFD-B949-21CF3191088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fld id="{65DFCFCF-CF53-4F22-B1AE-6A848FB177B5}" type="datetime1">
              <a:rPr lang="de-DE" noProof="0" smtClean="0"/>
              <a:t>19.06.2026</a:t>
            </a:fld>
            <a:endParaRPr lang="de-DE" noProof="0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EEE99A2-0FED-42D4-9FBD-08CC1C3F81B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endParaRPr lang="de-DE" noProof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F2468D4-5440-4CE2-BAB3-61D83F628C5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fld id="{ACEC5C30-0B3A-4B13-ADDD-7C63C8AA921B}" type="slidenum">
              <a:rPr lang="de-DE" noProof="0" smtClean="0"/>
              <a:t>‹Nr.›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41220394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clou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502920"/>
            <a:ext cx="1325880" cy="1325880"/>
          </a:xfrm>
          <a:prstGeom prst="rect">
            <a:avLst/>
          </a:prstGeom>
        </p:spPr>
      </p:pic>
      <p:pic>
        <p:nvPicPr>
          <p:cNvPr id="3" name="Picture 2" descr="wif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2057400"/>
            <a:ext cx="1143000" cy="1143000"/>
          </a:xfrm>
          <a:prstGeom prst="rect">
            <a:avLst/>
          </a:prstGeom>
        </p:spPr>
      </p:pic>
      <p:pic>
        <p:nvPicPr>
          <p:cNvPr id="4" name="Picture 3" descr="ba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95560" y="411480"/>
            <a:ext cx="1417320" cy="1417320"/>
          </a:xfrm>
          <a:prstGeom prst="rect">
            <a:avLst/>
          </a:prstGeom>
        </p:spPr>
      </p:pic>
      <p:pic>
        <p:nvPicPr>
          <p:cNvPr id="5" name="Picture 4" descr="chi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18520" y="1645920"/>
            <a:ext cx="914400" cy="914400"/>
          </a:xfrm>
          <a:prstGeom prst="rect">
            <a:avLst/>
          </a:prstGeom>
        </p:spPr>
      </p:pic>
      <p:pic>
        <p:nvPicPr>
          <p:cNvPr id="6" name="Picture 5" descr="eur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87000" y="2377440"/>
            <a:ext cx="960120" cy="960120"/>
          </a:xfrm>
          <a:prstGeom prst="rect">
            <a:avLst/>
          </a:prstGeom>
        </p:spPr>
      </p:pic>
      <p:pic>
        <p:nvPicPr>
          <p:cNvPr id="7" name="Picture 6" descr="databas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34440" y="5349240"/>
            <a:ext cx="1097280" cy="1097280"/>
          </a:xfrm>
          <a:prstGeom prst="rect">
            <a:avLst/>
          </a:prstGeom>
        </p:spPr>
      </p:pic>
      <p:pic>
        <p:nvPicPr>
          <p:cNvPr id="8" name="Picture 7" descr="ca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063240" y="5074920"/>
            <a:ext cx="1188720" cy="1188720"/>
          </a:xfrm>
          <a:prstGeom prst="rect">
            <a:avLst/>
          </a:prstGeom>
        </p:spPr>
      </p:pic>
      <p:pic>
        <p:nvPicPr>
          <p:cNvPr id="9" name="Picture 8" descr="parking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74920" y="5257800"/>
            <a:ext cx="1417320" cy="1417320"/>
          </a:xfrm>
          <a:prstGeom prst="rect">
            <a:avLst/>
          </a:prstGeom>
        </p:spPr>
      </p:pic>
      <p:pic>
        <p:nvPicPr>
          <p:cNvPr id="10" name="Picture 9" descr="trafficlight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086600" y="5303520"/>
            <a:ext cx="1097280" cy="1097280"/>
          </a:xfrm>
          <a:prstGeom prst="rect">
            <a:avLst/>
          </a:prstGeom>
        </p:spPr>
      </p:pic>
      <p:pic>
        <p:nvPicPr>
          <p:cNvPr id="11" name="Picture 10" descr="pin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915400" y="5212080"/>
            <a:ext cx="1051560" cy="10515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28800" y="960120"/>
            <a:ext cx="8531352" cy="1371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5600" b="0" i="0">
                <a:solidFill>
                  <a:srgbClr val="262626"/>
                </a:solidFill>
                <a:latin typeface="Calibri Light"/>
              </a:rPr>
              <a:t>Drive &amp; Decide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270248" y="2395728"/>
            <a:ext cx="3657600" cy="0"/>
          </a:xfrm>
          <a:prstGeom prst="bentConnector3">
            <a:avLst/>
          </a:prstGeom>
          <a:ln w="19050">
            <a:solidFill>
              <a:srgbClr val="4454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645920" y="2542032"/>
            <a:ext cx="8897112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 dirty="0" err="1">
                <a:solidFill>
                  <a:srgbClr val="44546A"/>
                </a:solidFill>
                <a:latin typeface="Calibri Light"/>
              </a:rPr>
              <a:t>Wirtschaftlichkeit</a:t>
            </a:r>
            <a:r>
              <a:rPr sz="2000" b="0" i="0" dirty="0">
                <a:solidFill>
                  <a:srgbClr val="44546A"/>
                </a:solidFill>
                <a:latin typeface="Calibri Light"/>
              </a:rPr>
              <a:t> </a:t>
            </a:r>
            <a:r>
              <a:rPr sz="2000" b="0" i="0" dirty="0" err="1">
                <a:solidFill>
                  <a:srgbClr val="44546A"/>
                </a:solidFill>
                <a:latin typeface="Calibri Light"/>
              </a:rPr>
              <a:t>eines</a:t>
            </a:r>
            <a:r>
              <a:rPr sz="2000" b="0" i="0" dirty="0">
                <a:solidFill>
                  <a:srgbClr val="44546A"/>
                </a:solidFill>
                <a:latin typeface="Calibri Light"/>
              </a:rPr>
              <a:t> IoT-</a:t>
            </a:r>
            <a:r>
              <a:rPr sz="2000" b="0" i="0" dirty="0" err="1">
                <a:solidFill>
                  <a:srgbClr val="44546A"/>
                </a:solidFill>
                <a:latin typeface="Calibri Light"/>
              </a:rPr>
              <a:t>basierten</a:t>
            </a:r>
            <a:r>
              <a:rPr sz="2000" b="0" i="0" dirty="0">
                <a:solidFill>
                  <a:srgbClr val="44546A"/>
                </a:solidFill>
                <a:latin typeface="Calibri Light"/>
              </a:rPr>
              <a:t> Smart-Parking-Systems auf serverless AWS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611880"/>
            <a:ext cx="8531352" cy="45653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1" i="0" dirty="0">
                <a:solidFill>
                  <a:srgbClr val="262626"/>
                </a:solidFill>
                <a:latin typeface="Calibri"/>
              </a:rPr>
              <a:t>Maximilian Seier · Julian Zankl</a:t>
            </a:r>
          </a:p>
          <a:p>
            <a:pPr algn="ctr">
              <a:spcBef>
                <a:spcPts val="200"/>
              </a:spcBef>
            </a:pPr>
            <a:r>
              <a:rPr lang="de-AT" sz="1300" dirty="0">
                <a:solidFill>
                  <a:srgbClr val="7F7F7F"/>
                </a:solidFill>
                <a:latin typeface="Calibri"/>
              </a:rPr>
              <a:t>Hochschule</a:t>
            </a:r>
            <a:r>
              <a:rPr sz="1300" b="0" i="0" dirty="0">
                <a:solidFill>
                  <a:srgbClr val="7F7F7F"/>
                </a:solidFill>
                <a:latin typeface="Calibri"/>
              </a:rPr>
              <a:t> Burgenland · </a:t>
            </a:r>
            <a:r>
              <a:rPr lang="de-AT" sz="1300" b="0" i="0" dirty="0">
                <a:solidFill>
                  <a:srgbClr val="7F7F7F"/>
                </a:solidFill>
                <a:latin typeface="Calibri"/>
              </a:rPr>
              <a:t>Infrastructure Engineering</a:t>
            </a:r>
            <a:endParaRPr sz="1300" b="0" i="0" dirty="0">
              <a:solidFill>
                <a:srgbClr val="7F7F7F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45720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4472C4"/>
                </a:solidFill>
                <a:latin typeface="Calibri"/>
              </a:rPr>
              <a:t>ÜBERBLICK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86384"/>
            <a:ext cx="109728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0" i="0">
                <a:solidFill>
                  <a:srgbClr val="262626"/>
                </a:solidFill>
                <a:latin typeface="Calibri Light"/>
              </a:rPr>
              <a:t>Agenda</a:t>
            </a:r>
          </a:p>
        </p:txBody>
      </p:sp>
      <p:sp>
        <p:nvSpPr>
          <p:cNvPr id="4" name="Oval 3"/>
          <p:cNvSpPr/>
          <p:nvPr/>
        </p:nvSpPr>
        <p:spPr>
          <a:xfrm>
            <a:off x="685800" y="1965960"/>
            <a:ext cx="566928" cy="566928"/>
          </a:xfrm>
          <a:prstGeom prst="ellipse">
            <a:avLst/>
          </a:prstGeom>
          <a:solidFill>
            <a:srgbClr val="447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 Light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1947672"/>
            <a:ext cx="448056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262626"/>
                </a:solidFill>
                <a:latin typeface="Calibri"/>
              </a:rPr>
              <a:t>Problemstellung &amp; Motivation</a:t>
            </a:r>
          </a:p>
        </p:txBody>
      </p:sp>
      <p:sp>
        <p:nvSpPr>
          <p:cNvPr id="6" name="Oval 5"/>
          <p:cNvSpPr/>
          <p:nvPr/>
        </p:nvSpPr>
        <p:spPr>
          <a:xfrm>
            <a:off x="685800" y="2990088"/>
            <a:ext cx="566928" cy="566928"/>
          </a:xfrm>
          <a:prstGeom prst="ellipse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 Light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2971800"/>
            <a:ext cx="448056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262626"/>
                </a:solidFill>
                <a:latin typeface="Calibri"/>
              </a:rPr>
              <a:t>Forschungsfrage &amp; Stand des Wissens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4014216"/>
            <a:ext cx="566928" cy="566928"/>
          </a:xfrm>
          <a:prstGeom prst="ellipse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 Light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3995928"/>
            <a:ext cx="448056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262626"/>
                </a:solidFill>
                <a:latin typeface="Calibri"/>
              </a:rPr>
              <a:t>Lösungsansatz &amp; Use Case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5038344"/>
            <a:ext cx="566928" cy="566928"/>
          </a:xfrm>
          <a:prstGeom prst="ellipse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 Light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5020056"/>
            <a:ext cx="448056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262626"/>
                </a:solidFill>
                <a:latin typeface="Calibri"/>
              </a:rPr>
              <a:t>Systemarchitektur &amp; Datenfluss</a:t>
            </a:r>
          </a:p>
        </p:txBody>
      </p:sp>
      <p:sp>
        <p:nvSpPr>
          <p:cNvPr id="12" name="Oval 11"/>
          <p:cNvSpPr/>
          <p:nvPr/>
        </p:nvSpPr>
        <p:spPr>
          <a:xfrm>
            <a:off x="6355080" y="1965960"/>
            <a:ext cx="566928" cy="566928"/>
          </a:xfrm>
          <a:prstGeom prst="ellipse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 Light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0" y="1947672"/>
            <a:ext cx="448056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262626"/>
                </a:solidFill>
                <a:latin typeface="Calibri"/>
              </a:rPr>
              <a:t>Prototyp &amp; Live-Demo</a:t>
            </a:r>
          </a:p>
        </p:txBody>
      </p:sp>
      <p:sp>
        <p:nvSpPr>
          <p:cNvPr id="14" name="Oval 13"/>
          <p:cNvSpPr/>
          <p:nvPr/>
        </p:nvSpPr>
        <p:spPr>
          <a:xfrm>
            <a:off x="6355080" y="2990088"/>
            <a:ext cx="566928" cy="566928"/>
          </a:xfrm>
          <a:prstGeom prst="ellipse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 Light"/>
              </a:rP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0" y="2971800"/>
            <a:ext cx="448056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262626"/>
                </a:solidFill>
                <a:latin typeface="Calibri"/>
              </a:rPr>
              <a:t>Kosten-Nutzen-Modell</a:t>
            </a:r>
          </a:p>
        </p:txBody>
      </p:sp>
      <p:sp>
        <p:nvSpPr>
          <p:cNvPr id="16" name="Oval 15"/>
          <p:cNvSpPr/>
          <p:nvPr/>
        </p:nvSpPr>
        <p:spPr>
          <a:xfrm>
            <a:off x="6355080" y="4014216"/>
            <a:ext cx="566928" cy="566928"/>
          </a:xfrm>
          <a:prstGeom prst="ellipse">
            <a:avLst/>
          </a:prstGeom>
          <a:solidFill>
            <a:srgbClr val="447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 Light"/>
              </a:rPr>
              <a:t>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0" y="3995928"/>
            <a:ext cx="448056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262626"/>
                </a:solidFill>
                <a:latin typeface="Calibri"/>
              </a:rPr>
              <a:t>Ergebnisse &amp; Sensitivität</a:t>
            </a:r>
          </a:p>
        </p:txBody>
      </p:sp>
      <p:sp>
        <p:nvSpPr>
          <p:cNvPr id="18" name="Oval 17"/>
          <p:cNvSpPr/>
          <p:nvPr/>
        </p:nvSpPr>
        <p:spPr>
          <a:xfrm>
            <a:off x="6355080" y="5038344"/>
            <a:ext cx="566928" cy="566928"/>
          </a:xfrm>
          <a:prstGeom prst="ellipse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 Light"/>
              </a:rPr>
              <a:t>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0" y="5020056"/>
            <a:ext cx="448056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262626"/>
                </a:solidFill>
                <a:latin typeface="Calibri"/>
              </a:rPr>
              <a:t>Diskussion &amp; Fazit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37376"/>
            <a:ext cx="82296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900" b="0" i="0" dirty="0">
                <a:solidFill>
                  <a:srgbClr val="7F7F7F"/>
                </a:solidFill>
                <a:latin typeface="Calibri"/>
              </a:rPr>
              <a:t>Drive &amp; Decide · Seier &amp; Zankl · </a:t>
            </a:r>
            <a:r>
              <a:rPr lang="de-AT" sz="900" dirty="0">
                <a:solidFill>
                  <a:srgbClr val="7F7F7F"/>
                </a:solidFill>
              </a:rPr>
              <a:t>Hochschule</a:t>
            </a:r>
            <a:r>
              <a:rPr sz="900" b="0" i="0" dirty="0">
                <a:solidFill>
                  <a:srgbClr val="7F7F7F"/>
                </a:solidFill>
                <a:latin typeface="Calibri"/>
              </a:rPr>
              <a:t> Burgenland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0" y="6437376"/>
            <a:ext cx="6400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7F7F7F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45720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4472C4"/>
                </a:solidFill>
                <a:latin typeface="Calibri"/>
              </a:rPr>
              <a:t>PROBLEMSTELLUNG &amp; 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86384"/>
            <a:ext cx="109728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 i="0">
                <a:solidFill>
                  <a:srgbClr val="262626"/>
                </a:solidFill>
                <a:latin typeface="Calibri Light"/>
              </a:rPr>
              <a:t>Mehr Verkehr, teure Parkplatzsuche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783080"/>
            <a:ext cx="3529584" cy="155448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984248"/>
            <a:ext cx="3072384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>
                <a:solidFill>
                  <a:srgbClr val="4472C4"/>
                </a:solidFill>
                <a:latin typeface="Calibri Light"/>
              </a:rPr>
              <a:t>+54.208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715768"/>
            <a:ext cx="3072384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262626"/>
                </a:solidFill>
                <a:latin typeface="Calibri"/>
              </a:rPr>
              <a:t>Pkw-Zuwachs in Österreich 2025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98264" y="1783080"/>
            <a:ext cx="3529584" cy="155448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626864" y="1984248"/>
            <a:ext cx="3072384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>
                <a:solidFill>
                  <a:srgbClr val="ED7D31"/>
                </a:solidFill>
                <a:latin typeface="Calibri Light"/>
              </a:rPr>
              <a:t>&gt;7,5 Mio.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26864" y="2715768"/>
            <a:ext cx="3072384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262626"/>
                </a:solidFill>
                <a:latin typeface="Calibri"/>
              </a:rPr>
              <a:t>zugelassene Kfz – Höchststand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02168" y="1783080"/>
            <a:ext cx="3529584" cy="155448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430768" y="1984248"/>
            <a:ext cx="3072384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>
                <a:solidFill>
                  <a:srgbClr val="70AD47"/>
                </a:solidFill>
                <a:latin typeface="Calibri Light"/>
              </a:rPr>
              <a:t>~⅓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30768" y="2715768"/>
            <a:ext cx="3072384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262626"/>
                </a:solidFill>
                <a:latin typeface="Calibri"/>
              </a:rPr>
              <a:t>Verkehrstote durch Ablenkung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657600"/>
            <a:ext cx="11018520" cy="199721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28600" indent="-228600" algn="l">
              <a:lnSpc>
                <a:spcPct val="108000"/>
              </a:lnSpc>
              <a:spcAft>
                <a:spcPts val="800"/>
              </a:spcAft>
              <a:buChar char="•"/>
            </a:pPr>
            <a:r>
              <a:rPr sz="1500" b="0" i="0" dirty="0" err="1">
                <a:solidFill>
                  <a:srgbClr val="262626"/>
                </a:solidFill>
                <a:latin typeface="Calibri"/>
              </a:rPr>
              <a:t>Pendlerverkehr</a:t>
            </a:r>
            <a:r>
              <a:rPr sz="15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262626"/>
                </a:solidFill>
                <a:latin typeface="Calibri"/>
              </a:rPr>
              <a:t>nach</a:t>
            </a:r>
            <a:r>
              <a:rPr sz="1500" b="0" i="0" dirty="0">
                <a:solidFill>
                  <a:srgbClr val="262626"/>
                </a:solidFill>
                <a:latin typeface="Calibri"/>
              </a:rPr>
              <a:t> Wien </a:t>
            </a:r>
            <a:r>
              <a:rPr sz="1500" b="0" i="0" dirty="0" err="1">
                <a:solidFill>
                  <a:srgbClr val="262626"/>
                </a:solidFill>
                <a:latin typeface="Calibri"/>
              </a:rPr>
              <a:t>endet</a:t>
            </a:r>
            <a:r>
              <a:rPr sz="1500" b="0" i="0" dirty="0">
                <a:solidFill>
                  <a:srgbClr val="262626"/>
                </a:solidFill>
                <a:latin typeface="Calibri"/>
              </a:rPr>
              <a:t> in </a:t>
            </a:r>
            <a:r>
              <a:rPr sz="1500" b="0" i="0" dirty="0" err="1">
                <a:solidFill>
                  <a:srgbClr val="262626"/>
                </a:solidFill>
                <a:latin typeface="Calibri"/>
              </a:rPr>
              <a:t>Parkhäusern</a:t>
            </a:r>
            <a:r>
              <a:rPr sz="15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262626"/>
                </a:solidFill>
                <a:latin typeface="Calibri"/>
              </a:rPr>
              <a:t>mit</a:t>
            </a:r>
            <a:r>
              <a:rPr sz="15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262626"/>
                </a:solidFill>
                <a:latin typeface="Calibri"/>
              </a:rPr>
              <a:t>nur</a:t>
            </a:r>
            <a:r>
              <a:rPr sz="15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262626"/>
                </a:solidFill>
                <a:latin typeface="Calibri"/>
              </a:rPr>
              <a:t>statischer</a:t>
            </a:r>
            <a:r>
              <a:rPr sz="15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262626"/>
                </a:solidFill>
                <a:latin typeface="Calibri"/>
              </a:rPr>
              <a:t>Anzeige</a:t>
            </a:r>
            <a:endParaRPr lang="de-AT" sz="1500" dirty="0">
              <a:solidFill>
                <a:srgbClr val="262626"/>
              </a:solidFill>
              <a:latin typeface="Calibri"/>
            </a:endParaRPr>
          </a:p>
          <a:p>
            <a:pPr marL="685800" lvl="1" indent="-228600">
              <a:lnSpc>
                <a:spcPct val="108000"/>
              </a:lnSpc>
              <a:spcAft>
                <a:spcPts val="800"/>
              </a:spcAft>
              <a:buChar char="•"/>
            </a:pPr>
            <a:r>
              <a:rPr sz="1500" b="0" i="0" dirty="0" err="1">
                <a:solidFill>
                  <a:srgbClr val="262626"/>
                </a:solidFill>
                <a:latin typeface="Calibri"/>
              </a:rPr>
              <a:t>wiederholtes</a:t>
            </a:r>
            <a:r>
              <a:rPr sz="15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262626"/>
                </a:solidFill>
                <a:latin typeface="Calibri"/>
              </a:rPr>
              <a:t>Anfahren</a:t>
            </a:r>
            <a:r>
              <a:rPr sz="1500" b="0" i="0" dirty="0">
                <a:solidFill>
                  <a:srgbClr val="262626"/>
                </a:solidFill>
                <a:latin typeface="Calibri"/>
              </a:rPr>
              <a:t>, </a:t>
            </a:r>
            <a:r>
              <a:rPr sz="1500" b="0" i="0" dirty="0" err="1">
                <a:solidFill>
                  <a:srgbClr val="262626"/>
                </a:solidFill>
                <a:latin typeface="Calibri"/>
              </a:rPr>
              <a:t>Zeitverlust</a:t>
            </a:r>
            <a:r>
              <a:rPr sz="1500" b="0" i="0" dirty="0">
                <a:solidFill>
                  <a:srgbClr val="262626"/>
                </a:solidFill>
                <a:latin typeface="Calibri"/>
              </a:rPr>
              <a:t>, </a:t>
            </a:r>
            <a:r>
              <a:rPr sz="1500" b="0" i="0" dirty="0" err="1">
                <a:solidFill>
                  <a:srgbClr val="262626"/>
                </a:solidFill>
                <a:latin typeface="Calibri"/>
              </a:rPr>
              <a:t>Suchverkehr</a:t>
            </a:r>
            <a:r>
              <a:rPr sz="1500" b="0" i="0" dirty="0">
                <a:solidFill>
                  <a:srgbClr val="262626"/>
                </a:solidFill>
                <a:latin typeface="Calibri"/>
              </a:rPr>
              <a:t>, </a:t>
            </a:r>
            <a:r>
              <a:rPr sz="1500" b="0" i="0" dirty="0" err="1">
                <a:solidFill>
                  <a:srgbClr val="262626"/>
                </a:solidFill>
                <a:latin typeface="Calibri"/>
              </a:rPr>
              <a:t>Emissionen</a:t>
            </a:r>
            <a:r>
              <a:rPr sz="1500" b="0" i="0" dirty="0">
                <a:solidFill>
                  <a:srgbClr val="262626"/>
                </a:solidFill>
                <a:latin typeface="Calibri"/>
              </a:rPr>
              <a:t> und </a:t>
            </a:r>
            <a:r>
              <a:rPr sz="1500" b="0" i="0" dirty="0" err="1">
                <a:solidFill>
                  <a:srgbClr val="262626"/>
                </a:solidFill>
                <a:latin typeface="Calibri"/>
              </a:rPr>
              <a:t>Lärm</a:t>
            </a:r>
            <a:endParaRPr sz="1500" b="0" i="0" dirty="0">
              <a:solidFill>
                <a:srgbClr val="262626"/>
              </a:solidFill>
              <a:latin typeface="Calibri"/>
            </a:endParaRPr>
          </a:p>
          <a:p>
            <a:pPr marL="228600" indent="-228600" algn="l">
              <a:lnSpc>
                <a:spcPct val="108000"/>
              </a:lnSpc>
              <a:spcAft>
                <a:spcPts val="800"/>
              </a:spcAft>
              <a:buChar char="•"/>
            </a:pPr>
            <a:r>
              <a:rPr sz="1500" b="0" i="0" dirty="0" err="1">
                <a:solidFill>
                  <a:srgbClr val="262626"/>
                </a:solidFill>
                <a:latin typeface="Calibri"/>
              </a:rPr>
              <a:t>Betreibersicht</a:t>
            </a:r>
            <a:endParaRPr lang="de-AT" sz="1500" dirty="0">
              <a:solidFill>
                <a:srgbClr val="262626"/>
              </a:solidFill>
              <a:latin typeface="Calibri"/>
            </a:endParaRPr>
          </a:p>
          <a:p>
            <a:pPr marL="685800" lvl="1" indent="-228600">
              <a:lnSpc>
                <a:spcPct val="108000"/>
              </a:lnSpc>
              <a:spcAft>
                <a:spcPts val="800"/>
              </a:spcAft>
              <a:buChar char="•"/>
            </a:pPr>
            <a:r>
              <a:rPr sz="1500" b="0" i="0" dirty="0">
                <a:solidFill>
                  <a:srgbClr val="262626"/>
                </a:solidFill>
                <a:latin typeface="Calibri"/>
              </a:rPr>
              <a:t>Druck, </a:t>
            </a:r>
            <a:r>
              <a:rPr sz="1500" b="0" i="0" dirty="0" err="1">
                <a:solidFill>
                  <a:srgbClr val="262626"/>
                </a:solidFill>
                <a:latin typeface="Calibri"/>
              </a:rPr>
              <a:t>Stellplätze</a:t>
            </a:r>
            <a:r>
              <a:rPr sz="15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262626"/>
                </a:solidFill>
                <a:latin typeface="Calibri"/>
              </a:rPr>
              <a:t>effizient</a:t>
            </a:r>
            <a:r>
              <a:rPr sz="15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262626"/>
                </a:solidFill>
                <a:latin typeface="Calibri"/>
              </a:rPr>
              <a:t>auszulasten</a:t>
            </a:r>
            <a:r>
              <a:rPr sz="1500" b="0" i="0" dirty="0">
                <a:solidFill>
                  <a:srgbClr val="262626"/>
                </a:solidFill>
                <a:latin typeface="Calibri"/>
              </a:rPr>
              <a:t> – </a:t>
            </a:r>
            <a:r>
              <a:rPr sz="1500" b="0" i="0" dirty="0" err="1">
                <a:solidFill>
                  <a:srgbClr val="262626"/>
                </a:solidFill>
                <a:latin typeface="Calibri"/>
              </a:rPr>
              <a:t>Wirtschaftlichkeit</a:t>
            </a:r>
            <a:r>
              <a:rPr sz="15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262626"/>
                </a:solidFill>
                <a:latin typeface="Calibri"/>
              </a:rPr>
              <a:t>eines</a:t>
            </a:r>
            <a:r>
              <a:rPr sz="1500" b="0" i="0" dirty="0">
                <a:solidFill>
                  <a:srgbClr val="262626"/>
                </a:solidFill>
                <a:latin typeface="Calibri"/>
              </a:rPr>
              <a:t> Smart-Parking-Systems </a:t>
            </a:r>
            <a:r>
              <a:rPr sz="1500" b="0" i="0" dirty="0" err="1">
                <a:solidFill>
                  <a:srgbClr val="262626"/>
                </a:solidFill>
                <a:latin typeface="Calibri"/>
              </a:rPr>
              <a:t>bleibt</a:t>
            </a:r>
            <a:r>
              <a:rPr sz="15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262626"/>
                </a:solidFill>
                <a:latin typeface="Calibri"/>
              </a:rPr>
              <a:t>unklar</a:t>
            </a:r>
            <a:endParaRPr sz="1500" b="0" i="0" dirty="0">
              <a:solidFill>
                <a:srgbClr val="262626"/>
              </a:solidFill>
              <a:latin typeface="Calibri"/>
            </a:endParaRPr>
          </a:p>
          <a:p>
            <a:pPr marL="228600" indent="-228600" algn="l">
              <a:lnSpc>
                <a:spcPct val="108000"/>
              </a:lnSpc>
              <a:spcAft>
                <a:spcPts val="800"/>
              </a:spcAft>
              <a:buChar char="•"/>
            </a:pPr>
            <a:r>
              <a:rPr sz="1500" b="0" i="0" dirty="0">
                <a:solidFill>
                  <a:srgbClr val="262626"/>
                </a:solidFill>
                <a:latin typeface="Calibri"/>
              </a:rPr>
              <a:t>Sicherheit</a:t>
            </a:r>
            <a:endParaRPr lang="de-AT" sz="1500" dirty="0">
              <a:solidFill>
                <a:srgbClr val="262626"/>
              </a:solidFill>
              <a:latin typeface="Calibri"/>
            </a:endParaRPr>
          </a:p>
          <a:p>
            <a:pPr marL="685800" lvl="1" indent="-228600">
              <a:lnSpc>
                <a:spcPct val="108000"/>
              </a:lnSpc>
              <a:spcAft>
                <a:spcPts val="800"/>
              </a:spcAft>
              <a:buChar char="•"/>
            </a:pPr>
            <a:r>
              <a:rPr sz="1500" b="0" i="0" dirty="0" err="1">
                <a:solidFill>
                  <a:srgbClr val="262626"/>
                </a:solidFill>
                <a:latin typeface="Calibri"/>
              </a:rPr>
              <a:t>Parkinfo-Suche</a:t>
            </a:r>
            <a:r>
              <a:rPr sz="15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262626"/>
                </a:solidFill>
                <a:latin typeface="Calibri"/>
              </a:rPr>
              <a:t>während</a:t>
            </a:r>
            <a:r>
              <a:rPr sz="1500" b="0" i="0" dirty="0">
                <a:solidFill>
                  <a:srgbClr val="262626"/>
                </a:solidFill>
                <a:latin typeface="Calibri"/>
              </a:rPr>
              <a:t> der </a:t>
            </a:r>
            <a:r>
              <a:rPr sz="1500" b="0" i="0" dirty="0" err="1">
                <a:solidFill>
                  <a:srgbClr val="262626"/>
                </a:solidFill>
                <a:latin typeface="Calibri"/>
              </a:rPr>
              <a:t>Fahrt</a:t>
            </a:r>
            <a:r>
              <a:rPr sz="15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262626"/>
                </a:solidFill>
                <a:latin typeface="Calibri"/>
              </a:rPr>
              <a:t>erhöht</a:t>
            </a:r>
            <a:r>
              <a:rPr sz="1500" b="0" i="0" dirty="0">
                <a:solidFill>
                  <a:srgbClr val="262626"/>
                </a:solidFill>
                <a:latin typeface="Calibri"/>
              </a:rPr>
              <a:t> das </a:t>
            </a:r>
            <a:r>
              <a:rPr sz="1500" b="0" i="0" dirty="0" err="1">
                <a:solidFill>
                  <a:srgbClr val="262626"/>
                </a:solidFill>
                <a:latin typeface="Calibri"/>
              </a:rPr>
              <a:t>Ablenkungspotenzial</a:t>
            </a:r>
            <a:r>
              <a:rPr sz="15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262626"/>
                </a:solidFill>
                <a:latin typeface="Calibri"/>
              </a:rPr>
              <a:t>mobiler</a:t>
            </a:r>
            <a:r>
              <a:rPr sz="15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262626"/>
                </a:solidFill>
                <a:latin typeface="Calibri"/>
              </a:rPr>
              <a:t>Geräte</a:t>
            </a:r>
            <a:endParaRPr sz="1500" b="0" i="0" dirty="0">
              <a:solidFill>
                <a:srgbClr val="262626"/>
              </a:solidFill>
              <a:latin typeface="Calibr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48640" y="6437376"/>
            <a:ext cx="82296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900" b="0" i="0" dirty="0">
                <a:solidFill>
                  <a:srgbClr val="7F7F7F"/>
                </a:solidFill>
                <a:latin typeface="Calibri"/>
              </a:rPr>
              <a:t>Drive &amp; Decide · Seier &amp; Zankl · </a:t>
            </a:r>
            <a:r>
              <a:rPr lang="de-AT" sz="900" dirty="0">
                <a:solidFill>
                  <a:srgbClr val="7F7F7F"/>
                </a:solidFill>
              </a:rPr>
              <a:t>Hochschule</a:t>
            </a:r>
            <a:r>
              <a:rPr sz="900" b="0" i="0" dirty="0">
                <a:solidFill>
                  <a:srgbClr val="7F7F7F"/>
                </a:solidFill>
                <a:latin typeface="Calibri"/>
              </a:rPr>
              <a:t> Burgenland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37376"/>
            <a:ext cx="6400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7F7F7F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45720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4472C4"/>
                </a:solidFill>
                <a:latin typeface="Calibri"/>
              </a:rPr>
              <a:t>FORSCHUNGSFRAGE &amp; STAND DES WISSENS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86384"/>
            <a:ext cx="109728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 i="0">
                <a:solidFill>
                  <a:srgbClr val="262626"/>
                </a:solidFill>
                <a:latin typeface="Calibri Light"/>
              </a:rPr>
              <a:t>Die Lücke: nicht Machbarkeit, sondern Wirtschaftlichkeit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828800"/>
            <a:ext cx="51206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44546A"/>
                </a:solidFill>
                <a:latin typeface="Calibri"/>
              </a:rPr>
              <a:t>Stand des Wissens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331720"/>
            <a:ext cx="5074920" cy="3291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28600" indent="-228600" algn="l">
              <a:lnSpc>
                <a:spcPct val="105000"/>
              </a:lnSpc>
              <a:spcAft>
                <a:spcPts val="900"/>
              </a:spcAft>
              <a:buChar char="•"/>
            </a:pPr>
            <a:r>
              <a:rPr sz="1500" b="0" i="0" dirty="0" err="1">
                <a:solidFill>
                  <a:srgbClr val="262626"/>
                </a:solidFill>
                <a:latin typeface="Calibri"/>
              </a:rPr>
              <a:t>Sensorik</a:t>
            </a:r>
            <a:r>
              <a:rPr sz="1500" b="0" i="0" dirty="0">
                <a:solidFill>
                  <a:srgbClr val="262626"/>
                </a:solidFill>
                <a:latin typeface="Calibri"/>
              </a:rPr>
              <a:t>: IR, Kamera, </a:t>
            </a:r>
            <a:r>
              <a:rPr sz="1500" b="0" i="0" dirty="0" err="1">
                <a:solidFill>
                  <a:srgbClr val="262626"/>
                </a:solidFill>
                <a:latin typeface="Calibri"/>
              </a:rPr>
              <a:t>Induktion</a:t>
            </a:r>
            <a:r>
              <a:rPr sz="1500" b="0" i="0" dirty="0">
                <a:solidFill>
                  <a:srgbClr val="262626"/>
                </a:solidFill>
                <a:latin typeface="Calibri"/>
              </a:rPr>
              <a:t>, </a:t>
            </a:r>
            <a:r>
              <a:rPr sz="1500" b="0" i="0" dirty="0" err="1">
                <a:solidFill>
                  <a:srgbClr val="262626"/>
                </a:solidFill>
                <a:latin typeface="Calibri"/>
              </a:rPr>
              <a:t>Ultraschall</a:t>
            </a:r>
            <a:endParaRPr sz="1500" b="0" i="0" dirty="0">
              <a:solidFill>
                <a:srgbClr val="262626"/>
              </a:solidFill>
              <a:latin typeface="Calibri"/>
            </a:endParaRPr>
          </a:p>
          <a:p>
            <a:pPr marL="228600" indent="-228600" algn="l">
              <a:lnSpc>
                <a:spcPct val="105000"/>
              </a:lnSpc>
              <a:spcAft>
                <a:spcPts val="900"/>
              </a:spcAft>
              <a:buChar char="•"/>
            </a:pPr>
            <a:r>
              <a:rPr sz="1500" b="0" i="0" dirty="0">
                <a:solidFill>
                  <a:srgbClr val="262626"/>
                </a:solidFill>
                <a:latin typeface="Calibri"/>
              </a:rPr>
              <a:t>Edge-, Fog- und Cloud-</a:t>
            </a:r>
            <a:r>
              <a:rPr sz="1500" b="0" i="0" dirty="0" err="1">
                <a:solidFill>
                  <a:srgbClr val="262626"/>
                </a:solidFill>
                <a:latin typeface="Calibri"/>
              </a:rPr>
              <a:t>Architekturen</a:t>
            </a:r>
            <a:r>
              <a:rPr sz="1500" b="0" i="0" dirty="0">
                <a:solidFill>
                  <a:srgbClr val="262626"/>
                </a:solidFill>
                <a:latin typeface="Calibri"/>
              </a:rPr>
              <a:t> für </a:t>
            </a:r>
            <a:r>
              <a:rPr sz="1500" b="0" i="0" dirty="0" err="1">
                <a:solidFill>
                  <a:srgbClr val="262626"/>
                </a:solidFill>
                <a:latin typeface="Calibri"/>
              </a:rPr>
              <a:t>Echtzeitdaten</a:t>
            </a:r>
            <a:endParaRPr sz="1500" b="0" i="0" dirty="0">
              <a:solidFill>
                <a:srgbClr val="262626"/>
              </a:solidFill>
              <a:latin typeface="Calibri"/>
            </a:endParaRPr>
          </a:p>
          <a:p>
            <a:pPr marL="228600" indent="-228600" algn="l">
              <a:lnSpc>
                <a:spcPct val="105000"/>
              </a:lnSpc>
              <a:spcAft>
                <a:spcPts val="900"/>
              </a:spcAft>
              <a:buChar char="•"/>
            </a:pPr>
            <a:r>
              <a:rPr sz="1500" b="0" i="0" dirty="0" err="1">
                <a:solidFill>
                  <a:srgbClr val="262626"/>
                </a:solidFill>
                <a:latin typeface="Calibri"/>
              </a:rPr>
              <a:t>Dynamische</a:t>
            </a:r>
            <a:r>
              <a:rPr sz="1500" b="0" i="0" dirty="0">
                <a:solidFill>
                  <a:srgbClr val="262626"/>
                </a:solidFill>
                <a:latin typeface="Calibri"/>
              </a:rPr>
              <a:t> Preis- und </a:t>
            </a:r>
            <a:r>
              <a:rPr sz="1500" b="0" i="0" dirty="0" err="1">
                <a:solidFill>
                  <a:srgbClr val="262626"/>
                </a:solidFill>
                <a:latin typeface="Calibri"/>
              </a:rPr>
              <a:t>Routingansätze</a:t>
            </a:r>
            <a:endParaRPr sz="1500" b="0" i="0" dirty="0">
              <a:solidFill>
                <a:srgbClr val="262626"/>
              </a:solidFill>
              <a:latin typeface="Calibri"/>
            </a:endParaRPr>
          </a:p>
          <a:p>
            <a:pPr marL="228600" indent="-228600" algn="l">
              <a:lnSpc>
                <a:spcPct val="105000"/>
              </a:lnSpc>
              <a:spcAft>
                <a:spcPts val="900"/>
              </a:spcAft>
              <a:buChar char="•"/>
            </a:pPr>
            <a:r>
              <a:rPr sz="1500" b="0" i="0" dirty="0">
                <a:solidFill>
                  <a:srgbClr val="262626"/>
                </a:solidFill>
                <a:latin typeface="Calibri"/>
              </a:rPr>
              <a:t>Forschung </a:t>
            </a:r>
            <a:r>
              <a:rPr sz="1500" b="0" i="0" dirty="0" err="1">
                <a:solidFill>
                  <a:srgbClr val="262626"/>
                </a:solidFill>
                <a:latin typeface="Calibri"/>
              </a:rPr>
              <a:t>zu</a:t>
            </a:r>
            <a:r>
              <a:rPr sz="15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262626"/>
                </a:solidFill>
                <a:latin typeface="Calibri"/>
              </a:rPr>
              <a:t>Fahrerablenkung</a:t>
            </a:r>
            <a:r>
              <a:rPr sz="1500" b="0" i="0" dirty="0">
                <a:solidFill>
                  <a:srgbClr val="262626"/>
                </a:solidFill>
                <a:latin typeface="Calibri"/>
              </a:rPr>
              <a:t> und Sicherheit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89320" y="1783080"/>
            <a:ext cx="5623560" cy="169164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263640" y="1938528"/>
            <a:ext cx="50749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ED7D31"/>
                </a:solidFill>
                <a:latin typeface="Calibri"/>
              </a:rPr>
              <a:t>Forschungslücke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2331720"/>
            <a:ext cx="5074920" cy="4470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 i="0" dirty="0">
                <a:solidFill>
                  <a:srgbClr val="262626"/>
                </a:solidFill>
                <a:latin typeface="Calibri"/>
              </a:rPr>
              <a:t>Es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fehlt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ein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reproduzierbarer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Bewertungsrahmen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aus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Sicht des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Betreibers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lang="de-AT" sz="1400" dirty="0">
                <a:solidFill>
                  <a:srgbClr val="262626"/>
                </a:solidFill>
                <a:latin typeface="Calibri"/>
                <a:sym typeface="Wingdings" pitchFamily="2" charset="2"/>
              </a:rPr>
              <a:t>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technische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Machbarkeit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ist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längst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gezeig</a:t>
            </a:r>
            <a:r>
              <a:rPr lang="de-AT" sz="1400" dirty="0">
                <a:solidFill>
                  <a:srgbClr val="262626"/>
                </a:solidFill>
                <a:latin typeface="Calibri"/>
              </a:rPr>
              <a:t>t</a:t>
            </a:r>
            <a:endParaRPr sz="1400" b="0" i="0" dirty="0">
              <a:solidFill>
                <a:srgbClr val="262626"/>
              </a:solidFill>
              <a:latin typeface="Calibri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5989320" y="3657600"/>
            <a:ext cx="5623560" cy="1965960"/>
          </a:xfrm>
          <a:prstGeom prst="roundRect">
            <a:avLst>
              <a:gd name="adj" fmla="val 6000"/>
            </a:avLst>
          </a:prstGeom>
          <a:solidFill>
            <a:srgbClr val="447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263640" y="3840480"/>
            <a:ext cx="50749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Forschungsfrage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4251960"/>
            <a:ext cx="5074920" cy="7363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0" i="0" dirty="0" err="1">
                <a:solidFill>
                  <a:srgbClr val="FFFFFF"/>
                </a:solidFill>
                <a:latin typeface="Calibri"/>
              </a:rPr>
              <a:t>Rechtfertigt</a:t>
            </a:r>
            <a:r>
              <a:rPr sz="1500" b="0" i="0" dirty="0">
                <a:solidFill>
                  <a:srgbClr val="FFFFFF"/>
                </a:solidFill>
                <a:latin typeface="Calibri"/>
              </a:rPr>
              <a:t> der </a:t>
            </a:r>
            <a:r>
              <a:rPr sz="1500" b="0" i="0" dirty="0" err="1">
                <a:solidFill>
                  <a:srgbClr val="FFFFFF"/>
                </a:solidFill>
                <a:latin typeface="Calibri"/>
              </a:rPr>
              <a:t>erwartete</a:t>
            </a:r>
            <a:r>
              <a:rPr sz="1500" b="0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FFFFFF"/>
                </a:solidFill>
                <a:latin typeface="Calibri"/>
              </a:rPr>
              <a:t>Nutzen</a:t>
            </a:r>
            <a:r>
              <a:rPr sz="1500" b="0" i="0" dirty="0">
                <a:solidFill>
                  <a:srgbClr val="FFFFFF"/>
                </a:solidFill>
                <a:latin typeface="Calibri"/>
              </a:rPr>
              <a:t> die </a:t>
            </a:r>
            <a:r>
              <a:rPr sz="1500" b="0" i="0" dirty="0" err="1">
                <a:solidFill>
                  <a:srgbClr val="FFFFFF"/>
                </a:solidFill>
                <a:latin typeface="Calibri"/>
              </a:rPr>
              <a:t>Investitions</a:t>
            </a:r>
            <a:r>
              <a:rPr sz="1500" b="0" i="0" dirty="0">
                <a:solidFill>
                  <a:srgbClr val="FFFFFF"/>
                </a:solidFill>
                <a:latin typeface="Calibri"/>
              </a:rPr>
              <a:t>- und </a:t>
            </a:r>
            <a:r>
              <a:rPr sz="1500" b="0" i="0" dirty="0" err="1">
                <a:solidFill>
                  <a:srgbClr val="FFFFFF"/>
                </a:solidFill>
                <a:latin typeface="Calibri"/>
              </a:rPr>
              <a:t>Betriebskosten</a:t>
            </a:r>
            <a:r>
              <a:rPr sz="1500" b="0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FFFFFF"/>
                </a:solidFill>
                <a:latin typeface="Calibri"/>
              </a:rPr>
              <a:t>eines</a:t>
            </a:r>
            <a:r>
              <a:rPr sz="1500" b="0" i="0" dirty="0">
                <a:solidFill>
                  <a:srgbClr val="FFFFFF"/>
                </a:solidFill>
                <a:latin typeface="Calibri"/>
              </a:rPr>
              <a:t> IoT-Smart-Parking-Systems und ab </a:t>
            </a:r>
            <a:r>
              <a:rPr sz="1500" b="0" i="0" dirty="0" err="1">
                <a:solidFill>
                  <a:srgbClr val="FFFFFF"/>
                </a:solidFill>
                <a:latin typeface="Calibri"/>
              </a:rPr>
              <a:t>wann</a:t>
            </a:r>
            <a:r>
              <a:rPr lang="de-AT" sz="1500" b="0" i="0" dirty="0">
                <a:solidFill>
                  <a:srgbClr val="FFFFFF"/>
                </a:solidFill>
                <a:latin typeface="Calibri"/>
              </a:rPr>
              <a:t> ist dies der Fall</a:t>
            </a:r>
            <a:r>
              <a:rPr sz="1500" b="0" i="0" dirty="0">
                <a:solidFill>
                  <a:srgbClr val="FFFFFF"/>
                </a:solidFill>
                <a:latin typeface="Calibri"/>
              </a:rPr>
              <a:t> (Break-Even)?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37376"/>
            <a:ext cx="82296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 dirty="0">
                <a:solidFill>
                  <a:srgbClr val="7F7F7F"/>
                </a:solidFill>
                <a:latin typeface="Calibri"/>
              </a:rPr>
              <a:t>Drive &amp; Decide · Seier &amp; Zankl · </a:t>
            </a:r>
            <a:r>
              <a:rPr lang="de-AT" sz="900" dirty="0">
                <a:solidFill>
                  <a:srgbClr val="7F7F7F"/>
                </a:solidFill>
                <a:latin typeface="Calibri"/>
              </a:rPr>
              <a:t>Hochschule</a:t>
            </a:r>
            <a:r>
              <a:rPr sz="900" b="0" i="0" dirty="0">
                <a:solidFill>
                  <a:srgbClr val="7F7F7F"/>
                </a:solidFill>
                <a:latin typeface="Calibri"/>
              </a:rPr>
              <a:t> Burgenland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437376"/>
            <a:ext cx="6400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7F7F7F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45720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4472C4"/>
                </a:solidFill>
                <a:latin typeface="Calibri"/>
              </a:rPr>
              <a:t>LÖSUNGSANSATZ &amp; USE CASE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86384"/>
            <a:ext cx="109728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 i="0">
                <a:solidFill>
                  <a:srgbClr val="262626"/>
                </a:solidFill>
                <a:latin typeface="Calibri Light"/>
              </a:rPr>
              <a:t>Prototyp trifft Kosten-Nutzen-Modell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783080"/>
            <a:ext cx="11018520" cy="960120"/>
          </a:xfrm>
          <a:prstGeom prst="roundRect">
            <a:avLst>
              <a:gd name="adj" fmla="val 6000"/>
            </a:avLst>
          </a:prstGeom>
          <a:solidFill>
            <a:srgbClr val="DAE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68680" y="2180279"/>
            <a:ext cx="10469880" cy="24801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 dirty="0">
                <a:solidFill>
                  <a:srgbClr val="44546A"/>
                </a:solidFill>
                <a:latin typeface="Calibri"/>
              </a:rPr>
              <a:t>Drive &amp; Decide = </a:t>
            </a:r>
            <a:r>
              <a:rPr sz="1600" b="1" i="0" dirty="0" err="1">
                <a:solidFill>
                  <a:srgbClr val="44546A"/>
                </a:solidFill>
                <a:latin typeface="Calibri"/>
              </a:rPr>
              <a:t>realitätsnaher</a:t>
            </a:r>
            <a:r>
              <a:rPr sz="1600" b="1" i="0" dirty="0">
                <a:solidFill>
                  <a:srgbClr val="44546A"/>
                </a:solidFill>
                <a:latin typeface="Calibri"/>
              </a:rPr>
              <a:t> </a:t>
            </a:r>
            <a:r>
              <a:rPr sz="1600" b="1" i="0" dirty="0" err="1">
                <a:solidFill>
                  <a:srgbClr val="44546A"/>
                </a:solidFill>
                <a:latin typeface="Calibri"/>
              </a:rPr>
              <a:t>Prototyp</a:t>
            </a:r>
            <a:r>
              <a:rPr sz="1600" b="1" i="0" dirty="0">
                <a:solidFill>
                  <a:srgbClr val="44546A"/>
                </a:solidFill>
                <a:latin typeface="Calibri"/>
              </a:rPr>
              <a:t> (</a:t>
            </a:r>
            <a:r>
              <a:rPr sz="1600" b="1" i="0" dirty="0" err="1">
                <a:solidFill>
                  <a:srgbClr val="44546A"/>
                </a:solidFill>
                <a:latin typeface="Calibri"/>
              </a:rPr>
              <a:t>physisch</a:t>
            </a:r>
            <a:r>
              <a:rPr sz="1600" b="1" i="0" dirty="0">
                <a:solidFill>
                  <a:srgbClr val="44546A"/>
                </a:solidFill>
                <a:latin typeface="Calibri"/>
              </a:rPr>
              <a:t> + </a:t>
            </a:r>
            <a:r>
              <a:rPr sz="1600" b="1" i="0" dirty="0" err="1">
                <a:solidFill>
                  <a:srgbClr val="44546A"/>
                </a:solidFill>
                <a:latin typeface="Calibri"/>
              </a:rPr>
              <a:t>virtuell</a:t>
            </a:r>
            <a:r>
              <a:rPr sz="1600" b="1" i="0" dirty="0">
                <a:solidFill>
                  <a:srgbClr val="44546A"/>
                </a:solidFill>
                <a:latin typeface="Calibri"/>
              </a:rPr>
              <a:t>) + Kosten-</a:t>
            </a:r>
            <a:r>
              <a:rPr sz="1600" b="1" i="0" dirty="0" err="1">
                <a:solidFill>
                  <a:srgbClr val="44546A"/>
                </a:solidFill>
                <a:latin typeface="Calibri"/>
              </a:rPr>
              <a:t>Nutzen</a:t>
            </a:r>
            <a:r>
              <a:rPr sz="1600" b="1" i="0" dirty="0">
                <a:solidFill>
                  <a:srgbClr val="44546A"/>
                </a:solidFill>
                <a:latin typeface="Calibri"/>
              </a:rPr>
              <a:t>-Modell </a:t>
            </a:r>
            <a:r>
              <a:rPr sz="1600" b="1" i="0" dirty="0" err="1">
                <a:solidFill>
                  <a:srgbClr val="44546A"/>
                </a:solidFill>
                <a:latin typeface="Calibri"/>
              </a:rPr>
              <a:t>aus</a:t>
            </a:r>
            <a:r>
              <a:rPr sz="1600" b="1" i="0" dirty="0">
                <a:solidFill>
                  <a:srgbClr val="44546A"/>
                </a:solidFill>
                <a:latin typeface="Calibri"/>
              </a:rPr>
              <a:t> </a:t>
            </a:r>
            <a:r>
              <a:rPr sz="1600" b="1" i="0" dirty="0" err="1">
                <a:solidFill>
                  <a:srgbClr val="44546A"/>
                </a:solidFill>
                <a:latin typeface="Calibri"/>
              </a:rPr>
              <a:t>Betreibersicht</a:t>
            </a:r>
            <a:endParaRPr sz="1600" b="1" i="0" dirty="0">
              <a:solidFill>
                <a:srgbClr val="44546A"/>
              </a:solidFill>
              <a:latin typeface="Calibri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94360" y="2971800"/>
            <a:ext cx="5440680" cy="27432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86968" y="3182112"/>
            <a:ext cx="48920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70AD47"/>
                </a:solidFill>
                <a:latin typeface="Calibri"/>
              </a:rPr>
              <a:t>Use Case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3639312"/>
            <a:ext cx="4855464" cy="8985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14000" indent="-214000" algn="l">
              <a:lnSpc>
                <a:spcPct val="105000"/>
              </a:lnSpc>
              <a:spcAft>
                <a:spcPts val="800"/>
              </a:spcAft>
              <a:buChar char="•"/>
            </a:pPr>
            <a:r>
              <a:rPr sz="1450" b="0" i="0" dirty="0" err="1">
                <a:solidFill>
                  <a:srgbClr val="262626"/>
                </a:solidFill>
                <a:latin typeface="Calibri"/>
              </a:rPr>
              <a:t>Mittelgroßer</a:t>
            </a:r>
            <a:r>
              <a:rPr sz="1450" b="0" i="0" dirty="0">
                <a:solidFill>
                  <a:srgbClr val="262626"/>
                </a:solidFill>
                <a:latin typeface="Calibri"/>
              </a:rPr>
              <a:t> Wiener </a:t>
            </a:r>
            <a:r>
              <a:rPr sz="1450" b="0" i="0" dirty="0" err="1">
                <a:solidFill>
                  <a:srgbClr val="262626"/>
                </a:solidFill>
                <a:latin typeface="Calibri"/>
              </a:rPr>
              <a:t>Parkhausbetreiber</a:t>
            </a:r>
            <a:endParaRPr sz="1450" b="0" i="0" dirty="0">
              <a:solidFill>
                <a:srgbClr val="262626"/>
              </a:solidFill>
              <a:latin typeface="Calibri"/>
            </a:endParaRPr>
          </a:p>
          <a:p>
            <a:pPr marL="214000" indent="-214000" algn="l">
              <a:lnSpc>
                <a:spcPct val="105000"/>
              </a:lnSpc>
              <a:spcAft>
                <a:spcPts val="800"/>
              </a:spcAft>
              <a:buChar char="•"/>
            </a:pPr>
            <a:r>
              <a:rPr sz="1450" b="0" i="0" dirty="0">
                <a:solidFill>
                  <a:srgbClr val="262626"/>
                </a:solidFill>
                <a:latin typeface="Calibri"/>
              </a:rPr>
              <a:t>200</a:t>
            </a:r>
            <a:r>
              <a:rPr lang="de-AT" sz="1450" b="0" i="0" dirty="0">
                <a:solidFill>
                  <a:srgbClr val="262626"/>
                </a:solidFill>
                <a:latin typeface="Calibri"/>
              </a:rPr>
              <a:t> - </a:t>
            </a:r>
            <a:r>
              <a:rPr sz="1450" b="0" i="0" dirty="0">
                <a:solidFill>
                  <a:srgbClr val="262626"/>
                </a:solidFill>
                <a:latin typeface="Calibri"/>
              </a:rPr>
              <a:t>500 </a:t>
            </a:r>
            <a:r>
              <a:rPr sz="1450" b="0" i="0" dirty="0" err="1">
                <a:solidFill>
                  <a:srgbClr val="262626"/>
                </a:solidFill>
                <a:latin typeface="Calibri"/>
              </a:rPr>
              <a:t>Stellplätze</a:t>
            </a:r>
            <a:r>
              <a:rPr sz="1450" b="0" i="0" dirty="0">
                <a:solidFill>
                  <a:srgbClr val="262626"/>
                </a:solidFill>
                <a:latin typeface="Calibri"/>
              </a:rPr>
              <a:t>, </a:t>
            </a:r>
            <a:r>
              <a:rPr sz="1450" b="0" i="0" dirty="0" err="1">
                <a:solidFill>
                  <a:srgbClr val="262626"/>
                </a:solidFill>
                <a:latin typeface="Calibri"/>
              </a:rPr>
              <a:t>innerstädtisch</a:t>
            </a:r>
            <a:endParaRPr sz="1450" b="0" i="0" dirty="0">
              <a:solidFill>
                <a:srgbClr val="262626"/>
              </a:solidFill>
              <a:latin typeface="Calibri"/>
            </a:endParaRPr>
          </a:p>
          <a:p>
            <a:pPr marL="214000" indent="-214000" algn="l">
              <a:lnSpc>
                <a:spcPct val="105000"/>
              </a:lnSpc>
              <a:spcAft>
                <a:spcPts val="800"/>
              </a:spcAft>
              <a:buChar char="•"/>
            </a:pPr>
            <a:r>
              <a:rPr sz="1450" b="0" i="0" dirty="0" err="1">
                <a:solidFill>
                  <a:srgbClr val="262626"/>
                </a:solidFill>
                <a:latin typeface="Calibri"/>
              </a:rPr>
              <a:t>Schwankende</a:t>
            </a:r>
            <a:r>
              <a:rPr sz="145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50" b="0" i="0" dirty="0" err="1">
                <a:solidFill>
                  <a:srgbClr val="262626"/>
                </a:solidFill>
                <a:latin typeface="Calibri"/>
              </a:rPr>
              <a:t>Auslastung</a:t>
            </a:r>
            <a:r>
              <a:rPr sz="145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50" b="0" i="0" dirty="0" err="1">
                <a:solidFill>
                  <a:srgbClr val="262626"/>
                </a:solidFill>
                <a:latin typeface="Calibri"/>
              </a:rPr>
              <a:t>über</a:t>
            </a:r>
            <a:r>
              <a:rPr sz="1450" b="0" i="0" dirty="0">
                <a:solidFill>
                  <a:srgbClr val="262626"/>
                </a:solidFill>
                <a:latin typeface="Calibri"/>
              </a:rPr>
              <a:t> den Tag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2971800"/>
            <a:ext cx="5440680" cy="27432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64808" y="3182112"/>
            <a:ext cx="48920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ED7D31"/>
                </a:solidFill>
                <a:latin typeface="Calibri"/>
              </a:rPr>
              <a:t>Bewertungslogik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64808" y="3639312"/>
            <a:ext cx="4855464" cy="11328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14000" indent="-214000" algn="l">
              <a:lnSpc>
                <a:spcPct val="105000"/>
              </a:lnSpc>
              <a:spcAft>
                <a:spcPts val="800"/>
              </a:spcAft>
              <a:buChar char="•"/>
            </a:pPr>
            <a:r>
              <a:rPr sz="1450" b="0" i="0" dirty="0" err="1">
                <a:solidFill>
                  <a:srgbClr val="262626"/>
                </a:solidFill>
                <a:latin typeface="Calibri"/>
              </a:rPr>
              <a:t>Betreiber</a:t>
            </a:r>
            <a:r>
              <a:rPr sz="1450" b="0" i="0" dirty="0">
                <a:solidFill>
                  <a:srgbClr val="262626"/>
                </a:solidFill>
                <a:latin typeface="Calibri"/>
              </a:rPr>
              <a:t> = </a:t>
            </a:r>
            <a:r>
              <a:rPr sz="1450" b="0" i="0" dirty="0" err="1">
                <a:solidFill>
                  <a:srgbClr val="262626"/>
                </a:solidFill>
                <a:latin typeface="Calibri"/>
              </a:rPr>
              <a:t>Entscheidungsträger</a:t>
            </a:r>
            <a:endParaRPr sz="1450" b="0" i="0" dirty="0">
              <a:solidFill>
                <a:srgbClr val="262626"/>
              </a:solidFill>
              <a:latin typeface="Calibri"/>
            </a:endParaRPr>
          </a:p>
          <a:p>
            <a:pPr marL="214000" indent="-214000" algn="l">
              <a:lnSpc>
                <a:spcPct val="105000"/>
              </a:lnSpc>
              <a:spcAft>
                <a:spcPts val="800"/>
              </a:spcAft>
              <a:buChar char="•"/>
            </a:pPr>
            <a:r>
              <a:rPr sz="1450" b="0" i="0" dirty="0">
                <a:solidFill>
                  <a:srgbClr val="262626"/>
                </a:solidFill>
                <a:latin typeface="Calibri"/>
              </a:rPr>
              <a:t>Investition in </a:t>
            </a:r>
            <a:r>
              <a:rPr sz="1450" b="0" i="0" dirty="0" err="1">
                <a:solidFill>
                  <a:srgbClr val="262626"/>
                </a:solidFill>
                <a:latin typeface="Calibri"/>
              </a:rPr>
              <a:t>Sensorik</a:t>
            </a:r>
            <a:r>
              <a:rPr sz="1450" b="0" i="0" dirty="0">
                <a:solidFill>
                  <a:srgbClr val="262626"/>
                </a:solidFill>
                <a:latin typeface="Calibri"/>
              </a:rPr>
              <a:t> + </a:t>
            </a:r>
            <a:r>
              <a:rPr sz="1450" b="0" i="0" dirty="0" err="1">
                <a:solidFill>
                  <a:srgbClr val="262626"/>
                </a:solidFill>
                <a:latin typeface="Calibri"/>
              </a:rPr>
              <a:t>Konnektivität</a:t>
            </a:r>
            <a:r>
              <a:rPr sz="1450" b="0" i="0" dirty="0">
                <a:solidFill>
                  <a:srgbClr val="262626"/>
                </a:solidFill>
                <a:latin typeface="Calibri"/>
              </a:rPr>
              <a:t> + Cloud = </a:t>
            </a:r>
            <a:r>
              <a:rPr sz="1450" b="0" i="0" dirty="0" err="1">
                <a:solidFill>
                  <a:srgbClr val="262626"/>
                </a:solidFill>
                <a:latin typeface="Calibri"/>
              </a:rPr>
              <a:t>zu</a:t>
            </a:r>
            <a:r>
              <a:rPr sz="145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50" b="0" i="0" dirty="0" err="1">
                <a:solidFill>
                  <a:srgbClr val="262626"/>
                </a:solidFill>
                <a:latin typeface="Calibri"/>
              </a:rPr>
              <a:t>bewertende</a:t>
            </a:r>
            <a:r>
              <a:rPr sz="145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50" b="0" i="0" dirty="0" err="1">
                <a:solidFill>
                  <a:srgbClr val="262626"/>
                </a:solidFill>
                <a:latin typeface="Calibri"/>
              </a:rPr>
              <a:t>Maßnahme</a:t>
            </a:r>
            <a:endParaRPr sz="1450" b="0" i="0" dirty="0">
              <a:solidFill>
                <a:srgbClr val="262626"/>
              </a:solidFill>
              <a:latin typeface="Calibri"/>
            </a:endParaRPr>
          </a:p>
          <a:p>
            <a:pPr marL="214000" indent="-214000" algn="l">
              <a:lnSpc>
                <a:spcPct val="105000"/>
              </a:lnSpc>
              <a:spcAft>
                <a:spcPts val="800"/>
              </a:spcAft>
              <a:buChar char="•"/>
            </a:pPr>
            <a:r>
              <a:rPr sz="1450" b="0" i="0" dirty="0" err="1">
                <a:solidFill>
                  <a:srgbClr val="262626"/>
                </a:solidFill>
                <a:latin typeface="Calibri"/>
              </a:rPr>
              <a:t>Endnutzer</a:t>
            </a:r>
            <a:r>
              <a:rPr sz="145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50" b="0" i="0" dirty="0" err="1">
                <a:solidFill>
                  <a:srgbClr val="262626"/>
                </a:solidFill>
                <a:latin typeface="Calibri"/>
              </a:rPr>
              <a:t>wirken</a:t>
            </a:r>
            <a:r>
              <a:rPr sz="145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50" b="0" i="0" dirty="0" err="1">
                <a:solidFill>
                  <a:srgbClr val="262626"/>
                </a:solidFill>
                <a:latin typeface="Calibri"/>
              </a:rPr>
              <a:t>indirekt</a:t>
            </a:r>
            <a:r>
              <a:rPr sz="145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50" b="0" i="0" dirty="0" err="1">
                <a:solidFill>
                  <a:srgbClr val="262626"/>
                </a:solidFill>
                <a:latin typeface="Calibri"/>
              </a:rPr>
              <a:t>über</a:t>
            </a:r>
            <a:r>
              <a:rPr sz="1450" b="0" i="0" dirty="0">
                <a:solidFill>
                  <a:srgbClr val="262626"/>
                </a:solidFill>
                <a:latin typeface="Calibri"/>
              </a:rPr>
              <a:t> das </a:t>
            </a:r>
            <a:r>
              <a:rPr sz="1450" b="0" i="0" dirty="0" err="1">
                <a:solidFill>
                  <a:srgbClr val="262626"/>
                </a:solidFill>
                <a:latin typeface="Calibri"/>
              </a:rPr>
              <a:t>Verhalten</a:t>
            </a:r>
            <a:endParaRPr sz="1450" b="0" i="0" dirty="0">
              <a:solidFill>
                <a:srgbClr val="262626"/>
              </a:solidFill>
              <a:latin typeface="Calibr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48640" y="6437376"/>
            <a:ext cx="82296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900" b="0" i="0" dirty="0">
                <a:solidFill>
                  <a:srgbClr val="7F7F7F"/>
                </a:solidFill>
                <a:latin typeface="Calibri"/>
              </a:rPr>
              <a:t>Drive &amp; Decide · Seier &amp; Zankl · </a:t>
            </a:r>
            <a:r>
              <a:rPr lang="de-AT" sz="900" dirty="0">
                <a:solidFill>
                  <a:srgbClr val="7F7F7F"/>
                </a:solidFill>
              </a:rPr>
              <a:t>Hochschule</a:t>
            </a:r>
            <a:r>
              <a:rPr sz="900" b="0" i="0" dirty="0">
                <a:solidFill>
                  <a:srgbClr val="7F7F7F"/>
                </a:solidFill>
                <a:latin typeface="Calibri"/>
              </a:rPr>
              <a:t> Burgenland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437376"/>
            <a:ext cx="6400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7F7F7F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45720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4472C4"/>
                </a:solidFill>
                <a:latin typeface="Calibri"/>
              </a:rPr>
              <a:t>SYSTEMARCHITEKTUR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86384"/>
            <a:ext cx="1097280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 i="0" dirty="0">
                <a:solidFill>
                  <a:srgbClr val="262626"/>
                </a:solidFill>
                <a:latin typeface="Calibri Light"/>
              </a:rPr>
              <a:t>Serverless auf AWS </a:t>
            </a:r>
            <a:r>
              <a:rPr lang="de-AT" sz="2800" dirty="0">
                <a:solidFill>
                  <a:srgbClr val="262626"/>
                </a:solidFill>
                <a:latin typeface="Calibri Light"/>
              </a:rPr>
              <a:t>- </a:t>
            </a:r>
            <a:r>
              <a:rPr sz="2800" b="0" i="0" dirty="0" err="1">
                <a:solidFill>
                  <a:srgbClr val="262626"/>
                </a:solidFill>
                <a:latin typeface="Calibri Light"/>
              </a:rPr>
              <a:t>Voraussetzung</a:t>
            </a:r>
            <a:r>
              <a:rPr sz="2800" b="0" i="0" dirty="0">
                <a:solidFill>
                  <a:srgbClr val="262626"/>
                </a:solidFill>
                <a:latin typeface="Calibri Light"/>
              </a:rPr>
              <a:t> für </a:t>
            </a:r>
            <a:r>
              <a:rPr sz="2800" b="0" i="0" dirty="0" err="1">
                <a:solidFill>
                  <a:srgbClr val="262626"/>
                </a:solidFill>
                <a:latin typeface="Calibri Light"/>
              </a:rPr>
              <a:t>messbare</a:t>
            </a:r>
            <a:r>
              <a:rPr sz="2800" b="0" i="0" dirty="0">
                <a:solidFill>
                  <a:srgbClr val="262626"/>
                </a:solidFill>
                <a:latin typeface="Calibri Light"/>
              </a:rPr>
              <a:t> Kosten</a:t>
            </a:r>
          </a:p>
        </p:txBody>
      </p:sp>
      <p:pic>
        <p:nvPicPr>
          <p:cNvPr id="4" name="Picture 3" descr="architectur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828800"/>
            <a:ext cx="7040880" cy="393299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001000" y="1783080"/>
            <a:ext cx="36576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44546A"/>
                </a:solidFill>
                <a:latin typeface="Calibri"/>
              </a:rPr>
              <a:t>Datenpfad</a:t>
            </a:r>
          </a:p>
        </p:txBody>
      </p:sp>
      <p:sp>
        <p:nvSpPr>
          <p:cNvPr id="6" name="Rectangle 5"/>
          <p:cNvSpPr/>
          <p:nvPr/>
        </p:nvSpPr>
        <p:spPr>
          <a:xfrm>
            <a:off x="8001000" y="2286000"/>
            <a:ext cx="109728" cy="566928"/>
          </a:xfrm>
          <a:prstGeom prst="rect">
            <a:avLst/>
          </a:prstGeom>
          <a:solidFill>
            <a:srgbClr val="447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57031" y="2267712"/>
            <a:ext cx="33832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 dirty="0">
                <a:solidFill>
                  <a:srgbClr val="262626"/>
                </a:solidFill>
                <a:latin typeface="Calibri"/>
              </a:rPr>
              <a:t>AWS IoT Core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150" b="0" i="0" dirty="0" err="1">
                <a:solidFill>
                  <a:srgbClr val="7F7F7F"/>
                </a:solidFill>
                <a:latin typeface="Calibri"/>
              </a:rPr>
              <a:t>Geräteanbindung</a:t>
            </a:r>
            <a:r>
              <a:rPr sz="1150" b="0" i="0" dirty="0">
                <a:solidFill>
                  <a:srgbClr val="7F7F7F"/>
                </a:solidFill>
                <a:latin typeface="Calibri"/>
              </a:rPr>
              <a:t> + MQTT-Routing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8001000" y="2999232"/>
            <a:ext cx="109728" cy="566928"/>
          </a:xfrm>
          <a:prstGeom prst="rect">
            <a:avLst/>
          </a:prstGeom>
          <a:solidFill>
            <a:srgbClr val="447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57031" y="2980944"/>
            <a:ext cx="33832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62626"/>
                </a:solidFill>
                <a:latin typeface="Calibri"/>
              </a:rPr>
              <a:t>AWS Lambda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150" b="0" i="0">
                <a:solidFill>
                  <a:srgbClr val="7F7F7F"/>
                </a:solidFill>
                <a:latin typeface="Calibri"/>
              </a:rPr>
              <a:t>ereignisgetriebene Verarbeitung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1000" y="3712464"/>
            <a:ext cx="109728" cy="566928"/>
          </a:xfrm>
          <a:prstGeom prst="rect">
            <a:avLst/>
          </a:prstGeom>
          <a:solidFill>
            <a:srgbClr val="447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57031" y="3694176"/>
            <a:ext cx="33832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62626"/>
                </a:solidFill>
                <a:latin typeface="Calibri"/>
              </a:rPr>
              <a:t>Amazon DynamoDB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150" b="0" i="0">
                <a:solidFill>
                  <a:srgbClr val="7F7F7F"/>
                </a:solidFill>
                <a:latin typeface="Calibri"/>
              </a:rPr>
              <a:t>aktueller Belegungsstatus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01000" y="4425696"/>
            <a:ext cx="109728" cy="566928"/>
          </a:xfrm>
          <a:prstGeom prst="rect">
            <a:avLst/>
          </a:prstGeom>
          <a:solidFill>
            <a:srgbClr val="447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57031" y="4407408"/>
            <a:ext cx="33832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62626"/>
                </a:solidFill>
                <a:latin typeface="Calibri"/>
              </a:rPr>
              <a:t>API Gateway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150" b="0" i="0">
                <a:solidFill>
                  <a:srgbClr val="7F7F7F"/>
                </a:solidFill>
                <a:latin typeface="Calibri"/>
              </a:rPr>
              <a:t>Ausgabe an Web / Navigation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5806440"/>
            <a:ext cx="7040880" cy="566928"/>
          </a:xfrm>
          <a:prstGeom prst="roundRect">
            <a:avLst>
              <a:gd name="adj" fmla="val 6000"/>
            </a:avLst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2960" y="6003592"/>
            <a:ext cx="6583680" cy="20005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1" i="0" dirty="0">
                <a:solidFill>
                  <a:srgbClr val="375A28"/>
                </a:solidFill>
                <a:latin typeface="Calibri"/>
              </a:rPr>
              <a:t>Keine </a:t>
            </a:r>
            <a:r>
              <a:rPr sz="1300" b="1" i="0" dirty="0" err="1">
                <a:solidFill>
                  <a:srgbClr val="375A28"/>
                </a:solidFill>
                <a:latin typeface="Calibri"/>
              </a:rPr>
              <a:t>dauerhaft</a:t>
            </a:r>
            <a:r>
              <a:rPr sz="1300" b="1" i="0" dirty="0">
                <a:solidFill>
                  <a:srgbClr val="375A28"/>
                </a:solidFill>
                <a:latin typeface="Calibri"/>
              </a:rPr>
              <a:t> </a:t>
            </a:r>
            <a:r>
              <a:rPr sz="1300" b="1" i="0" dirty="0" err="1">
                <a:solidFill>
                  <a:srgbClr val="375A28"/>
                </a:solidFill>
                <a:latin typeface="Calibri"/>
              </a:rPr>
              <a:t>laufenden</a:t>
            </a:r>
            <a:r>
              <a:rPr sz="1300" b="1" i="0" dirty="0">
                <a:solidFill>
                  <a:srgbClr val="375A28"/>
                </a:solidFill>
                <a:latin typeface="Calibri"/>
              </a:rPr>
              <a:t> Server </a:t>
            </a:r>
            <a:r>
              <a:rPr lang="de-AT" sz="1300" b="1" dirty="0">
                <a:solidFill>
                  <a:srgbClr val="375A28"/>
                </a:solidFill>
                <a:latin typeface="Calibri"/>
                <a:sym typeface="Wingdings" pitchFamily="2" charset="2"/>
              </a:rPr>
              <a:t> </a:t>
            </a:r>
            <a:r>
              <a:rPr sz="1300" b="1" i="0" dirty="0">
                <a:solidFill>
                  <a:srgbClr val="375A28"/>
                </a:solidFill>
                <a:latin typeface="Calibri"/>
              </a:rPr>
              <a:t>Kosten fallen </a:t>
            </a:r>
            <a:r>
              <a:rPr sz="1300" b="1" i="0" dirty="0" err="1">
                <a:solidFill>
                  <a:srgbClr val="375A28"/>
                </a:solidFill>
                <a:latin typeface="Calibri"/>
              </a:rPr>
              <a:t>nur</a:t>
            </a:r>
            <a:r>
              <a:rPr sz="1300" b="1" i="0" dirty="0">
                <a:solidFill>
                  <a:srgbClr val="375A28"/>
                </a:solidFill>
                <a:latin typeface="Calibri"/>
              </a:rPr>
              <a:t> pro </a:t>
            </a:r>
            <a:r>
              <a:rPr sz="1300" b="1" i="0" dirty="0" err="1">
                <a:solidFill>
                  <a:srgbClr val="375A28"/>
                </a:solidFill>
                <a:latin typeface="Calibri"/>
              </a:rPr>
              <a:t>Ereignis</a:t>
            </a:r>
            <a:r>
              <a:rPr sz="1300" b="1" i="0" dirty="0">
                <a:solidFill>
                  <a:srgbClr val="375A28"/>
                </a:solidFill>
                <a:latin typeface="Calibri"/>
              </a:rPr>
              <a:t> 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6462055"/>
            <a:ext cx="82296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900" b="0" i="0" dirty="0">
                <a:solidFill>
                  <a:srgbClr val="7F7F7F"/>
                </a:solidFill>
                <a:latin typeface="Calibri"/>
              </a:rPr>
              <a:t>Drive &amp; Decide · Seier &amp; Zankl · </a:t>
            </a:r>
            <a:r>
              <a:rPr lang="de-AT" sz="900" dirty="0">
                <a:solidFill>
                  <a:srgbClr val="7F7F7F"/>
                </a:solidFill>
              </a:rPr>
              <a:t>Hochschule</a:t>
            </a:r>
            <a:r>
              <a:rPr sz="900" b="0" i="0" dirty="0">
                <a:solidFill>
                  <a:srgbClr val="7F7F7F"/>
                </a:solidFill>
                <a:latin typeface="Calibri"/>
              </a:rPr>
              <a:t> Burgenland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0" y="6437376"/>
            <a:ext cx="6400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7F7F7F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45720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4472C4"/>
                </a:solidFill>
                <a:latin typeface="Calibri"/>
              </a:rPr>
              <a:t>DATENFLUSS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86384"/>
            <a:ext cx="1097280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 i="0" dirty="0">
                <a:solidFill>
                  <a:srgbClr val="262626"/>
                </a:solidFill>
                <a:latin typeface="Calibri Light"/>
              </a:rPr>
              <a:t>Von der </a:t>
            </a:r>
            <a:r>
              <a:rPr sz="2800" b="0" i="0" dirty="0" err="1">
                <a:solidFill>
                  <a:srgbClr val="262626"/>
                </a:solidFill>
                <a:latin typeface="Calibri Light"/>
              </a:rPr>
              <a:t>Sensorkante</a:t>
            </a:r>
            <a:r>
              <a:rPr sz="2800" b="0" i="0" dirty="0">
                <a:solidFill>
                  <a:srgbClr val="262626"/>
                </a:solidFill>
                <a:latin typeface="Calibri Light"/>
              </a:rPr>
              <a:t> </a:t>
            </a:r>
            <a:r>
              <a:rPr sz="2800" b="0" i="0" dirty="0" err="1">
                <a:solidFill>
                  <a:srgbClr val="262626"/>
                </a:solidFill>
                <a:latin typeface="Calibri Light"/>
              </a:rPr>
              <a:t>zur</a:t>
            </a:r>
            <a:r>
              <a:rPr sz="2800" b="0" i="0" dirty="0">
                <a:solidFill>
                  <a:srgbClr val="262626"/>
                </a:solidFill>
                <a:latin typeface="Calibri Light"/>
              </a:rPr>
              <a:t> </a:t>
            </a:r>
            <a:r>
              <a:rPr sz="2800" b="0" i="0" dirty="0" err="1">
                <a:solidFill>
                  <a:srgbClr val="262626"/>
                </a:solidFill>
                <a:latin typeface="Calibri Light"/>
              </a:rPr>
              <a:t>Anzeige</a:t>
            </a:r>
            <a:r>
              <a:rPr sz="2800" b="0" i="0" dirty="0">
                <a:solidFill>
                  <a:srgbClr val="262626"/>
                </a:solidFill>
                <a:latin typeface="Calibri Light"/>
              </a:rPr>
              <a:t> in 6 </a:t>
            </a:r>
            <a:r>
              <a:rPr sz="2800" b="0" i="0" dirty="0" err="1">
                <a:solidFill>
                  <a:srgbClr val="262626"/>
                </a:solidFill>
                <a:latin typeface="Calibri Light"/>
              </a:rPr>
              <a:t>Schritten</a:t>
            </a:r>
            <a:endParaRPr sz="2800" b="0" i="0" dirty="0">
              <a:solidFill>
                <a:srgbClr val="262626"/>
              </a:solidFill>
              <a:latin typeface="Calibri Light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594360" y="1783080"/>
            <a:ext cx="3529584" cy="132588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795528" y="1984248"/>
            <a:ext cx="457200" cy="457200"/>
          </a:xfrm>
          <a:prstGeom prst="ellipse">
            <a:avLst/>
          </a:prstGeom>
          <a:solidFill>
            <a:srgbClr val="447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 Light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1965960"/>
            <a:ext cx="2569463" cy="1005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4000"/>
              </a:lnSpc>
            </a:pPr>
            <a:r>
              <a:rPr sz="1300" b="1" i="0">
                <a:solidFill>
                  <a:srgbClr val="262626"/>
                </a:solidFill>
                <a:latin typeface="Calibri"/>
              </a:rPr>
              <a:t>Sensor erkennt Statuswechsel (TCRT5000)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98264" y="1783080"/>
            <a:ext cx="3529584" cy="132588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4599432" y="1984248"/>
            <a:ext cx="457200" cy="457200"/>
          </a:xfrm>
          <a:prstGeom prst="ellipse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 Light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75504" y="1965960"/>
            <a:ext cx="2569463" cy="1005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4000"/>
              </a:lnSpc>
            </a:pPr>
            <a:r>
              <a:rPr sz="1300" b="1" i="0">
                <a:solidFill>
                  <a:srgbClr val="262626"/>
                </a:solidFill>
                <a:latin typeface="Calibri"/>
              </a:rPr>
              <a:t>ESP32 baut MQTT-Nachricht: sensorId, spotId, ts, raw, status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02168" y="1783080"/>
            <a:ext cx="3529584" cy="132588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8403336" y="1984248"/>
            <a:ext cx="457200" cy="457200"/>
          </a:xfrm>
          <a:prstGeom prst="ellipse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 Light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79408" y="1965960"/>
            <a:ext cx="2569463" cy="1005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4000"/>
              </a:lnSpc>
            </a:pPr>
            <a:r>
              <a:rPr sz="1300" b="1" i="0">
                <a:solidFill>
                  <a:srgbClr val="262626"/>
                </a:solidFill>
                <a:latin typeface="Calibri"/>
              </a:rPr>
              <a:t>Publish auf parking/garage1/spot/&lt;id&gt;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3383280"/>
            <a:ext cx="3529584" cy="132588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795528" y="3584448"/>
            <a:ext cx="457200" cy="457200"/>
          </a:xfrm>
          <a:prstGeom prst="ellipse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 Light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3566160"/>
            <a:ext cx="2569463" cy="1005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4000"/>
              </a:lnSpc>
            </a:pPr>
            <a:r>
              <a:rPr sz="1300" b="1" i="0">
                <a:solidFill>
                  <a:srgbClr val="262626"/>
                </a:solidFill>
                <a:latin typeface="Calibri"/>
              </a:rPr>
              <a:t>IoT-Rule → Validierungs-Lambda → DynamoDB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98264" y="3383280"/>
            <a:ext cx="3529584" cy="132588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4599432" y="3584448"/>
            <a:ext cx="457200" cy="457200"/>
          </a:xfrm>
          <a:prstGeom prst="ellipse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 Light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75504" y="3566160"/>
            <a:ext cx="2569463" cy="1005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4000"/>
              </a:lnSpc>
            </a:pPr>
            <a:r>
              <a:rPr sz="1300" b="1" i="0">
                <a:solidFill>
                  <a:srgbClr val="262626"/>
                </a:solidFill>
                <a:latin typeface="Calibri"/>
              </a:rPr>
              <a:t>Aggregations-Lambda: Auslastung + Ampel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02168" y="3383280"/>
            <a:ext cx="3529584" cy="132588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8403336" y="3584448"/>
            <a:ext cx="457200" cy="457200"/>
          </a:xfrm>
          <a:prstGeom prst="ellipse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 Light"/>
              </a:rP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79408" y="3566160"/>
            <a:ext cx="2569463" cy="1005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4000"/>
              </a:lnSpc>
            </a:pPr>
            <a:r>
              <a:rPr sz="1300" b="1" i="0">
                <a:solidFill>
                  <a:srgbClr val="262626"/>
                </a:solidFill>
                <a:latin typeface="Calibri"/>
              </a:rPr>
              <a:t>API Gateway → Web / Navigation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5074920"/>
            <a:ext cx="11018520" cy="47718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50" b="1" i="0" dirty="0" err="1">
                <a:solidFill>
                  <a:srgbClr val="44546A"/>
                </a:solidFill>
                <a:latin typeface="Calibri"/>
              </a:rPr>
              <a:t>Jede</a:t>
            </a:r>
            <a:r>
              <a:rPr sz="1350" b="1" i="0" dirty="0">
                <a:solidFill>
                  <a:srgbClr val="44546A"/>
                </a:solidFill>
                <a:latin typeface="Calibri"/>
              </a:rPr>
              <a:t> </a:t>
            </a:r>
            <a:r>
              <a:rPr sz="1350" b="1" i="0" dirty="0" err="1">
                <a:solidFill>
                  <a:srgbClr val="44546A"/>
                </a:solidFill>
                <a:latin typeface="Calibri"/>
              </a:rPr>
              <a:t>Nachricht</a:t>
            </a:r>
            <a:r>
              <a:rPr sz="1350" b="1" i="0" dirty="0">
                <a:solidFill>
                  <a:srgbClr val="44546A"/>
                </a:solidFill>
                <a:latin typeface="Calibri"/>
              </a:rPr>
              <a:t> = 1 IoT-</a:t>
            </a:r>
            <a:r>
              <a:rPr sz="1350" b="1" i="0" dirty="0" err="1">
                <a:solidFill>
                  <a:srgbClr val="44546A"/>
                </a:solidFill>
                <a:latin typeface="Calibri"/>
              </a:rPr>
              <a:t>Nachricht</a:t>
            </a:r>
            <a:r>
              <a:rPr sz="1350" b="1" i="0" dirty="0">
                <a:solidFill>
                  <a:srgbClr val="44546A"/>
                </a:solidFill>
                <a:latin typeface="Calibri"/>
              </a:rPr>
              <a:t> = 1 Lambda-</a:t>
            </a:r>
            <a:r>
              <a:rPr sz="1350" b="1" i="0" dirty="0" err="1">
                <a:solidFill>
                  <a:srgbClr val="44546A"/>
                </a:solidFill>
                <a:latin typeface="Calibri"/>
              </a:rPr>
              <a:t>Aufruf</a:t>
            </a:r>
            <a:r>
              <a:rPr sz="1350" b="1" i="0" dirty="0">
                <a:solidFill>
                  <a:srgbClr val="44546A"/>
                </a:solidFill>
                <a:latin typeface="Calibri"/>
              </a:rPr>
              <a:t> = 1 DynamoDB-Write → </a:t>
            </a:r>
            <a:r>
              <a:rPr sz="1350" b="1" i="0" dirty="0" err="1">
                <a:solidFill>
                  <a:srgbClr val="44546A"/>
                </a:solidFill>
                <a:latin typeface="Calibri"/>
              </a:rPr>
              <a:t>macht</a:t>
            </a:r>
            <a:r>
              <a:rPr sz="1350" b="1" i="0" dirty="0">
                <a:solidFill>
                  <a:srgbClr val="44546A"/>
                </a:solidFill>
                <a:latin typeface="Calibri"/>
              </a:rPr>
              <a:t> die </a:t>
            </a:r>
            <a:r>
              <a:rPr sz="1350" b="1" i="0" dirty="0" err="1">
                <a:solidFill>
                  <a:srgbClr val="44546A"/>
                </a:solidFill>
                <a:latin typeface="Calibri"/>
              </a:rPr>
              <a:t>laufenden</a:t>
            </a:r>
            <a:r>
              <a:rPr sz="1350" b="1" i="0" dirty="0">
                <a:solidFill>
                  <a:srgbClr val="44546A"/>
                </a:solidFill>
                <a:latin typeface="Calibri"/>
              </a:rPr>
              <a:t> Cloud-Kosten (OPEX) </a:t>
            </a:r>
            <a:r>
              <a:rPr sz="1350" b="1" i="0" dirty="0" err="1">
                <a:solidFill>
                  <a:srgbClr val="44546A"/>
                </a:solidFill>
                <a:latin typeface="Calibri"/>
              </a:rPr>
              <a:t>messbar</a:t>
            </a:r>
            <a:endParaRPr sz="1350" b="1" i="0" dirty="0">
              <a:solidFill>
                <a:srgbClr val="44546A"/>
              </a:solidFill>
              <a:latin typeface="Calibri"/>
            </a:endParaRPr>
          </a:p>
          <a:p>
            <a:pPr>
              <a:lnSpc>
                <a:spcPct val="100000"/>
              </a:lnSpc>
            </a:pPr>
            <a:r>
              <a:rPr sz="1350" b="1" dirty="0">
                <a:solidFill>
                  <a:srgbClr val="70AD47"/>
                </a:solidFill>
                <a:latin typeface="Calibri"/>
              </a:rPr>
              <a:t>● </a:t>
            </a:r>
            <a:r>
              <a:rPr sz="1350" b="0" dirty="0">
                <a:solidFill>
                  <a:srgbClr val="262626"/>
                </a:solidFill>
                <a:latin typeface="Calibri"/>
              </a:rPr>
              <a:t>&lt;0,70    </a:t>
            </a:r>
            <a:r>
              <a:rPr sz="1350" b="1" dirty="0">
                <a:solidFill>
                  <a:srgbClr val="FFC000"/>
                </a:solidFill>
                <a:latin typeface="Calibri"/>
              </a:rPr>
              <a:t>● </a:t>
            </a:r>
            <a:r>
              <a:rPr sz="1350" b="0" dirty="0">
                <a:solidFill>
                  <a:srgbClr val="262626"/>
                </a:solidFill>
                <a:latin typeface="Calibri"/>
              </a:rPr>
              <a:t>0,70–0,90    </a:t>
            </a:r>
            <a:r>
              <a:rPr sz="1350" b="1" dirty="0">
                <a:solidFill>
                  <a:srgbClr val="ED7D31"/>
                </a:solidFill>
                <a:latin typeface="Calibri"/>
              </a:rPr>
              <a:t>● </a:t>
            </a:r>
            <a:r>
              <a:rPr sz="1350" b="0" dirty="0">
                <a:solidFill>
                  <a:srgbClr val="262626"/>
                </a:solidFill>
                <a:latin typeface="Calibri"/>
              </a:rPr>
              <a:t>&gt;0,90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437376"/>
            <a:ext cx="82296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900" b="0" i="0" dirty="0">
                <a:solidFill>
                  <a:srgbClr val="7F7F7F"/>
                </a:solidFill>
                <a:latin typeface="Calibri"/>
              </a:rPr>
              <a:t>Drive &amp; Decide · Seier &amp; Zankl · </a:t>
            </a:r>
            <a:r>
              <a:rPr lang="de-AT" sz="900" dirty="0">
                <a:solidFill>
                  <a:srgbClr val="7F7F7F"/>
                </a:solidFill>
              </a:rPr>
              <a:t>Hochschule</a:t>
            </a:r>
            <a:r>
              <a:rPr sz="900" b="0" i="0" dirty="0">
                <a:solidFill>
                  <a:srgbClr val="7F7F7F"/>
                </a:solidFill>
                <a:latin typeface="Calibri"/>
              </a:rPr>
              <a:t> Burgenland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55680" y="6437376"/>
            <a:ext cx="6400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7F7F7F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45720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4472C4"/>
                </a:solidFill>
                <a:latin typeface="Calibri"/>
              </a:rPr>
              <a:t>PROTOTYP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86384"/>
            <a:ext cx="109728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 i="0">
                <a:solidFill>
                  <a:srgbClr val="262626"/>
                </a:solidFill>
                <a:latin typeface="Calibri Light"/>
              </a:rPr>
              <a:t>Physisch für Realismus, virtuell für Skalierung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828799"/>
            <a:ext cx="3931920" cy="4469364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12700">
            <a:solidFill>
              <a:srgbClr val="A5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800600" y="1828800"/>
            <a:ext cx="6812280" cy="1572768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74920" y="1956816"/>
            <a:ext cx="6263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70AD47"/>
                </a:solidFill>
                <a:latin typeface="Calibri"/>
              </a:rPr>
              <a:t>Physisch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74920" y="2340864"/>
            <a:ext cx="6263640" cy="10241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00000" indent="-200000" algn="l">
              <a:lnSpc>
                <a:spcPct val="100000"/>
              </a:lnSpc>
              <a:spcAft>
                <a:spcPts val="400"/>
              </a:spcAft>
              <a:buChar char="•"/>
            </a:pPr>
            <a:r>
              <a:rPr sz="1250" b="0" i="0">
                <a:solidFill>
                  <a:srgbClr val="262626"/>
                </a:solidFill>
                <a:latin typeface="Calibri"/>
              </a:rPr>
              <a:t>Modellgarage mit 4 markierten Stellplätzen</a:t>
            </a:r>
          </a:p>
          <a:p>
            <a:pPr marL="200000" indent="-200000" algn="l">
              <a:lnSpc>
                <a:spcPct val="100000"/>
              </a:lnSpc>
              <a:spcAft>
                <a:spcPts val="400"/>
              </a:spcAft>
              <a:buChar char="•"/>
            </a:pPr>
            <a:r>
              <a:rPr sz="1250" b="0" i="0">
                <a:solidFill>
                  <a:srgbClr val="262626"/>
                </a:solidFill>
                <a:latin typeface="Calibri"/>
              </a:rPr>
              <a:t>Je ein TCRT5000-IR-Sensor, ausgelesen vom ESP32</a:t>
            </a:r>
          </a:p>
          <a:p>
            <a:pPr marL="200000" indent="-200000" algn="l">
              <a:lnSpc>
                <a:spcPct val="100000"/>
              </a:lnSpc>
              <a:spcAft>
                <a:spcPts val="400"/>
              </a:spcAft>
              <a:buChar char="•"/>
            </a:pPr>
            <a:r>
              <a:rPr sz="1250" b="0" i="0">
                <a:solidFill>
                  <a:srgbClr val="262626"/>
                </a:solidFill>
                <a:latin typeface="Calibri"/>
              </a:rPr>
              <a:t>Belegung per Matchbox-Fahrzeugen, Publish via MQTT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00600" y="3502152"/>
            <a:ext cx="6812280" cy="1572768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74920" y="3630168"/>
            <a:ext cx="6263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5B9BD5"/>
                </a:solidFill>
                <a:latin typeface="Calibri"/>
              </a:rPr>
              <a:t>Virtuell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74920" y="4014216"/>
            <a:ext cx="6263640" cy="6796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00000" indent="-200000" algn="l">
              <a:lnSpc>
                <a:spcPct val="100000"/>
              </a:lnSpc>
              <a:spcAft>
                <a:spcPts val="400"/>
              </a:spcAft>
              <a:buChar char="•"/>
            </a:pPr>
            <a:r>
              <a:rPr lang="de-AT" sz="1250" b="0" i="0" dirty="0">
                <a:solidFill>
                  <a:srgbClr val="262626"/>
                </a:solidFill>
                <a:latin typeface="Calibri"/>
              </a:rPr>
              <a:t>Load Generator</a:t>
            </a:r>
            <a:r>
              <a:rPr sz="125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250" b="0" i="0" dirty="0" err="1">
                <a:solidFill>
                  <a:srgbClr val="262626"/>
                </a:solidFill>
                <a:latin typeface="Calibri"/>
              </a:rPr>
              <a:t>simuliert</a:t>
            </a:r>
            <a:r>
              <a:rPr sz="125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250" b="0" i="0" dirty="0" err="1">
                <a:solidFill>
                  <a:srgbClr val="262626"/>
                </a:solidFill>
                <a:latin typeface="Calibri"/>
              </a:rPr>
              <a:t>eine</a:t>
            </a:r>
            <a:r>
              <a:rPr sz="125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250" b="0" i="0" dirty="0" err="1">
                <a:solidFill>
                  <a:srgbClr val="262626"/>
                </a:solidFill>
                <a:latin typeface="Calibri"/>
              </a:rPr>
              <a:t>ganze</a:t>
            </a:r>
            <a:r>
              <a:rPr sz="1250" b="0" i="0" dirty="0">
                <a:solidFill>
                  <a:srgbClr val="262626"/>
                </a:solidFill>
                <a:latin typeface="Calibri"/>
              </a:rPr>
              <a:t> Garage (200</a:t>
            </a:r>
            <a:r>
              <a:rPr lang="de-AT" sz="1250" b="0" i="0" dirty="0">
                <a:solidFill>
                  <a:srgbClr val="262626"/>
                </a:solidFill>
                <a:latin typeface="Calibri"/>
              </a:rPr>
              <a:t> - </a:t>
            </a:r>
            <a:r>
              <a:rPr sz="1250" b="0" i="0" dirty="0">
                <a:solidFill>
                  <a:srgbClr val="262626"/>
                </a:solidFill>
                <a:latin typeface="Calibri"/>
              </a:rPr>
              <a:t>500 </a:t>
            </a:r>
            <a:r>
              <a:rPr sz="1250" b="0" i="0" dirty="0" err="1">
                <a:solidFill>
                  <a:srgbClr val="262626"/>
                </a:solidFill>
                <a:latin typeface="Calibri"/>
              </a:rPr>
              <a:t>Stellplätze</a:t>
            </a:r>
            <a:r>
              <a:rPr sz="1250" b="0" i="0" dirty="0">
                <a:solidFill>
                  <a:srgbClr val="262626"/>
                </a:solidFill>
                <a:latin typeface="Calibri"/>
              </a:rPr>
              <a:t>; </a:t>
            </a:r>
            <a:r>
              <a:rPr sz="1250" b="0" i="0" dirty="0" err="1">
                <a:solidFill>
                  <a:srgbClr val="262626"/>
                </a:solidFill>
                <a:latin typeface="Calibri"/>
              </a:rPr>
              <a:t>Großgarage</a:t>
            </a:r>
            <a:r>
              <a:rPr sz="1250" b="0" i="0" dirty="0">
                <a:solidFill>
                  <a:srgbClr val="262626"/>
                </a:solidFill>
                <a:latin typeface="Calibri"/>
              </a:rPr>
              <a:t>: 400)</a:t>
            </a:r>
          </a:p>
          <a:p>
            <a:pPr marL="200000" indent="-200000" algn="l">
              <a:lnSpc>
                <a:spcPct val="100000"/>
              </a:lnSpc>
              <a:spcAft>
                <a:spcPts val="400"/>
              </a:spcAft>
              <a:buChar char="•"/>
            </a:pPr>
            <a:r>
              <a:rPr sz="1250" b="0" i="0" dirty="0" err="1">
                <a:solidFill>
                  <a:srgbClr val="262626"/>
                </a:solidFill>
                <a:latin typeface="Calibri"/>
              </a:rPr>
              <a:t>Nutzt</a:t>
            </a:r>
            <a:r>
              <a:rPr sz="125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250" b="0" i="0" dirty="0" err="1">
                <a:solidFill>
                  <a:srgbClr val="262626"/>
                </a:solidFill>
                <a:latin typeface="Calibri"/>
              </a:rPr>
              <a:t>denselben</a:t>
            </a:r>
            <a:r>
              <a:rPr sz="1250" b="0" i="0" dirty="0">
                <a:solidFill>
                  <a:srgbClr val="262626"/>
                </a:solidFill>
                <a:latin typeface="Calibri"/>
              </a:rPr>
              <a:t> MQTT-</a:t>
            </a:r>
            <a:r>
              <a:rPr sz="1250" b="0" i="0" dirty="0" err="1">
                <a:solidFill>
                  <a:srgbClr val="262626"/>
                </a:solidFill>
                <a:latin typeface="Calibri"/>
              </a:rPr>
              <a:t>Pfad</a:t>
            </a:r>
            <a:r>
              <a:rPr sz="1250" b="0" i="0" dirty="0">
                <a:solidFill>
                  <a:srgbClr val="262626"/>
                </a:solidFill>
                <a:latin typeface="Calibri"/>
              </a:rPr>
              <a:t> + </a:t>
            </a:r>
            <a:r>
              <a:rPr sz="1250" b="0" i="0" dirty="0" err="1">
                <a:solidFill>
                  <a:srgbClr val="262626"/>
                </a:solidFill>
                <a:latin typeface="Calibri"/>
              </a:rPr>
              <a:t>Einfahrts</a:t>
            </a:r>
            <a:r>
              <a:rPr sz="1250" b="0" i="0" dirty="0">
                <a:solidFill>
                  <a:srgbClr val="262626"/>
                </a:solidFill>
                <a:latin typeface="Calibri"/>
              </a:rPr>
              <a:t>-Ampel</a:t>
            </a:r>
          </a:p>
          <a:p>
            <a:pPr marL="200000" indent="-200000" algn="l">
              <a:lnSpc>
                <a:spcPct val="100000"/>
              </a:lnSpc>
              <a:spcAft>
                <a:spcPts val="400"/>
              </a:spcAft>
              <a:buChar char="•"/>
            </a:pPr>
            <a:r>
              <a:rPr sz="1250" b="0" i="0" dirty="0" err="1">
                <a:solidFill>
                  <a:srgbClr val="262626"/>
                </a:solidFill>
                <a:latin typeface="Calibri"/>
              </a:rPr>
              <a:t>Realistische</a:t>
            </a:r>
            <a:r>
              <a:rPr sz="1250" b="0" i="0" dirty="0">
                <a:solidFill>
                  <a:srgbClr val="262626"/>
                </a:solidFill>
                <a:latin typeface="Calibri"/>
              </a:rPr>
              <a:t> Last und Cloud-Kosten </a:t>
            </a:r>
            <a:r>
              <a:rPr sz="1250" b="0" i="0" dirty="0" err="1">
                <a:solidFill>
                  <a:srgbClr val="262626"/>
                </a:solidFill>
                <a:latin typeface="Calibri"/>
              </a:rPr>
              <a:t>ohne</a:t>
            </a:r>
            <a:r>
              <a:rPr sz="1250" b="0" i="0" dirty="0">
                <a:solidFill>
                  <a:srgbClr val="262626"/>
                </a:solidFill>
                <a:latin typeface="Calibri"/>
              </a:rPr>
              <a:t> Hardware</a:t>
            </a:r>
          </a:p>
        </p:txBody>
      </p:sp>
      <p:grpSp>
        <p:nvGrpSpPr>
          <p:cNvPr id="5" name="Gruppieren 4">
            <a:extLst>
              <a:ext uri="{FF2B5EF4-FFF2-40B4-BE49-F238E27FC236}">
                <a16:creationId xmlns:a16="http://schemas.microsoft.com/office/drawing/2014/main" id="{634F388D-4510-9F39-A213-C6F611B379F4}"/>
              </a:ext>
            </a:extLst>
          </p:cNvPr>
          <p:cNvGrpSpPr/>
          <p:nvPr/>
        </p:nvGrpSpPr>
        <p:grpSpPr>
          <a:xfrm>
            <a:off x="4800600" y="5212080"/>
            <a:ext cx="6812280" cy="658368"/>
            <a:chOff x="594360" y="5212080"/>
            <a:chExt cx="11018520" cy="658368"/>
          </a:xfrm>
        </p:grpSpPr>
        <p:sp>
          <p:nvSpPr>
            <p:cNvPr id="12" name="Rounded Rectangle 11"/>
            <p:cNvSpPr/>
            <p:nvPr/>
          </p:nvSpPr>
          <p:spPr>
            <a:xfrm>
              <a:off x="594360" y="5212080"/>
              <a:ext cx="11018520" cy="658368"/>
            </a:xfrm>
            <a:prstGeom prst="roundRect">
              <a:avLst>
                <a:gd name="adj" fmla="val 6000"/>
              </a:avLst>
            </a:prstGeom>
            <a:solidFill>
              <a:srgbClr val="DAE3F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868680" y="5428245"/>
              <a:ext cx="10469880" cy="20774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l"/>
              <a:r>
                <a:rPr sz="1350" b="1" i="0" dirty="0" err="1">
                  <a:solidFill>
                    <a:srgbClr val="44546A"/>
                  </a:solidFill>
                  <a:latin typeface="Calibri"/>
                </a:rPr>
                <a:t>Beide</a:t>
              </a:r>
              <a:r>
                <a:rPr sz="1350" b="1" i="0" dirty="0">
                  <a:solidFill>
                    <a:srgbClr val="44546A"/>
                  </a:solidFill>
                  <a:latin typeface="Calibri"/>
                </a:rPr>
                <a:t> </a:t>
              </a:r>
              <a:r>
                <a:rPr sz="1350" b="1" i="0" dirty="0" err="1">
                  <a:solidFill>
                    <a:srgbClr val="44546A"/>
                  </a:solidFill>
                  <a:latin typeface="Calibri"/>
                </a:rPr>
                <a:t>Prototypen</a:t>
              </a:r>
              <a:r>
                <a:rPr sz="1350" b="1" i="0" dirty="0">
                  <a:solidFill>
                    <a:srgbClr val="44546A"/>
                  </a:solidFill>
                  <a:latin typeface="Calibri"/>
                </a:rPr>
                <a:t> </a:t>
              </a:r>
              <a:r>
                <a:rPr sz="1350" b="1" i="0" dirty="0" err="1">
                  <a:solidFill>
                    <a:srgbClr val="44546A"/>
                  </a:solidFill>
                  <a:latin typeface="Calibri"/>
                </a:rPr>
                <a:t>nutzen</a:t>
              </a:r>
              <a:r>
                <a:rPr sz="1350" b="1" i="0" dirty="0">
                  <a:solidFill>
                    <a:srgbClr val="44546A"/>
                  </a:solidFill>
                  <a:latin typeface="Calibri"/>
                </a:rPr>
                <a:t> </a:t>
              </a:r>
              <a:r>
                <a:rPr sz="1350" b="1" i="0" dirty="0" err="1">
                  <a:solidFill>
                    <a:srgbClr val="44546A"/>
                  </a:solidFill>
                  <a:latin typeface="Calibri"/>
                </a:rPr>
                <a:t>identisches</a:t>
              </a:r>
              <a:r>
                <a:rPr sz="1350" b="1" i="0" dirty="0">
                  <a:solidFill>
                    <a:srgbClr val="44546A"/>
                  </a:solidFill>
                  <a:latin typeface="Calibri"/>
                </a:rPr>
                <a:t> Topic und JSON-Schema </a:t>
              </a:r>
              <a:r>
                <a:rPr lang="de-AT" sz="1350" b="1" dirty="0">
                  <a:solidFill>
                    <a:srgbClr val="44546A"/>
                  </a:solidFill>
                  <a:latin typeface="Calibri"/>
                  <a:sym typeface="Wingdings" pitchFamily="2" charset="2"/>
                </a:rPr>
                <a:t> </a:t>
              </a:r>
              <a:r>
                <a:rPr sz="1350" b="1" i="0" dirty="0" err="1">
                  <a:solidFill>
                    <a:srgbClr val="44546A"/>
                  </a:solidFill>
                  <a:latin typeface="Calibri"/>
                </a:rPr>
                <a:t>ein</a:t>
              </a:r>
              <a:r>
                <a:rPr sz="1350" b="1" i="0" dirty="0">
                  <a:solidFill>
                    <a:srgbClr val="44546A"/>
                  </a:solidFill>
                  <a:latin typeface="Calibri"/>
                </a:rPr>
                <a:t> </a:t>
              </a:r>
              <a:r>
                <a:rPr sz="1350" b="1" i="0" dirty="0" err="1">
                  <a:solidFill>
                    <a:srgbClr val="44546A"/>
                  </a:solidFill>
                  <a:latin typeface="Calibri"/>
                </a:rPr>
                <a:t>gemeinsame</a:t>
              </a:r>
              <a:r>
                <a:rPr lang="de-AT" sz="1350" b="1" i="0" dirty="0" err="1">
                  <a:solidFill>
                    <a:srgbClr val="44546A"/>
                  </a:solidFill>
                  <a:latin typeface="Calibri"/>
                </a:rPr>
                <a:t>r</a:t>
              </a:r>
              <a:r>
                <a:rPr sz="1350" b="1" i="0" dirty="0">
                  <a:solidFill>
                    <a:srgbClr val="44546A"/>
                  </a:solidFill>
                  <a:latin typeface="Calibri"/>
                </a:rPr>
                <a:t> „Contract“</a:t>
              </a:r>
            </a:p>
          </p:txBody>
        </p:sp>
      </p:grpSp>
      <p:sp>
        <p:nvSpPr>
          <p:cNvPr id="14" name="TextBox 13"/>
          <p:cNvSpPr txBox="1"/>
          <p:nvPr/>
        </p:nvSpPr>
        <p:spPr>
          <a:xfrm>
            <a:off x="548640" y="6437376"/>
            <a:ext cx="82296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900" b="0" i="0" dirty="0">
                <a:solidFill>
                  <a:srgbClr val="7F7F7F"/>
                </a:solidFill>
                <a:latin typeface="Calibri"/>
              </a:rPr>
              <a:t>Drive &amp; Decide · Seier &amp; Zankl · </a:t>
            </a:r>
            <a:r>
              <a:rPr lang="de-AT" sz="900" dirty="0">
                <a:solidFill>
                  <a:srgbClr val="7F7F7F"/>
                </a:solidFill>
              </a:rPr>
              <a:t>Hochschule</a:t>
            </a:r>
            <a:r>
              <a:rPr sz="900" b="0" i="0" dirty="0">
                <a:solidFill>
                  <a:srgbClr val="7F7F7F"/>
                </a:solidFill>
                <a:latin typeface="Calibri"/>
              </a:rPr>
              <a:t> Burgenland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37376"/>
            <a:ext cx="6400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7F7F7F"/>
                </a:solidFill>
                <a:latin typeface="Calibri"/>
              </a:rPr>
              <a:t>8</a:t>
            </a:r>
          </a:p>
        </p:txBody>
      </p:sp>
      <p:pic>
        <p:nvPicPr>
          <p:cNvPr id="17" name="Picture 16" descr="A box with wires and wires&#10;&#10;AI-generated content may be incorrect.">
            <a:extLst>
              <a:ext uri="{FF2B5EF4-FFF2-40B4-BE49-F238E27FC236}">
                <a16:creationId xmlns:a16="http://schemas.microsoft.com/office/drawing/2014/main" id="{D18DBD1C-A9A6-BD14-8413-005DA0BF89A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5965" b="5222"/>
          <a:stretch>
            <a:fillRect/>
          </a:stretch>
        </p:blipFill>
        <p:spPr>
          <a:xfrm>
            <a:off x="1157096" y="1915482"/>
            <a:ext cx="2806448" cy="2133596"/>
          </a:xfrm>
          <a:prstGeom prst="rect">
            <a:avLst/>
          </a:prstGeom>
        </p:spPr>
      </p:pic>
      <p:pic>
        <p:nvPicPr>
          <p:cNvPr id="18" name="Grafik 17">
            <a:extLst>
              <a:ext uri="{FF2B5EF4-FFF2-40B4-BE49-F238E27FC236}">
                <a16:creationId xmlns:a16="http://schemas.microsoft.com/office/drawing/2014/main" id="{E5EE447D-276C-08FA-91D7-B3B6D8DFE0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7096" y="4099030"/>
            <a:ext cx="2806448" cy="210483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pl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240280"/>
            <a:ext cx="1371600" cy="1371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514600" y="2148840"/>
            <a:ext cx="8686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400" b="0" i="0">
                <a:solidFill>
                  <a:srgbClr val="262626"/>
                </a:solidFill>
                <a:latin typeface="Calibri Light"/>
              </a:rPr>
              <a:t>Live-Demo</a:t>
            </a:r>
          </a:p>
          <a:p>
            <a:pPr algn="l">
              <a:spcBef>
                <a:spcPts val="200"/>
              </a:spcBef>
            </a:pPr>
            <a:r>
              <a:rPr sz="2000" b="1" i="0">
                <a:solidFill>
                  <a:srgbClr val="ED7D31"/>
                </a:solidFill>
                <a:latin typeface="Calibri"/>
              </a:rPr>
              <a:t>mit Video-Fallback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42032" y="3703320"/>
            <a:ext cx="8778240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28600" indent="-228600" algn="l">
              <a:lnSpc>
                <a:spcPct val="106000"/>
              </a:lnSpc>
              <a:spcAft>
                <a:spcPts val="1100"/>
              </a:spcAft>
              <a:buChar char="•"/>
            </a:pPr>
            <a:r>
              <a:rPr sz="1600" b="0" i="0" dirty="0" err="1">
                <a:solidFill>
                  <a:srgbClr val="262626"/>
                </a:solidFill>
                <a:latin typeface="Calibri"/>
              </a:rPr>
              <a:t>Physische</a:t>
            </a:r>
            <a:r>
              <a:rPr sz="16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262626"/>
                </a:solidFill>
                <a:latin typeface="Calibri"/>
              </a:rPr>
              <a:t>Belegung</a:t>
            </a:r>
            <a:r>
              <a:rPr sz="1600" b="0" i="0" dirty="0">
                <a:solidFill>
                  <a:srgbClr val="262626"/>
                </a:solidFill>
                <a:latin typeface="Calibri"/>
              </a:rPr>
              <a:t> (Modell) → Web-Update in 1–2 s</a:t>
            </a:r>
          </a:p>
          <a:p>
            <a:pPr marL="228600" indent="-228600" algn="l">
              <a:lnSpc>
                <a:spcPct val="106000"/>
              </a:lnSpc>
              <a:spcAft>
                <a:spcPts val="1100"/>
              </a:spcAft>
              <a:buChar char="•"/>
            </a:pPr>
            <a:r>
              <a:rPr sz="1600" b="0" i="0" dirty="0" err="1">
                <a:solidFill>
                  <a:srgbClr val="262626"/>
                </a:solidFill>
                <a:latin typeface="Calibri"/>
              </a:rPr>
              <a:t>Großgarage</a:t>
            </a:r>
            <a:r>
              <a:rPr sz="1600" b="0" i="0" dirty="0">
                <a:solidFill>
                  <a:srgbClr val="262626"/>
                </a:solidFill>
                <a:latin typeface="Calibri"/>
              </a:rPr>
              <a:t> → „</a:t>
            </a:r>
            <a:r>
              <a:rPr sz="1600" b="0" i="0" dirty="0" err="1">
                <a:solidFill>
                  <a:srgbClr val="262626"/>
                </a:solidFill>
                <a:latin typeface="Calibri"/>
              </a:rPr>
              <a:t>Andrang</a:t>
            </a:r>
            <a:r>
              <a:rPr sz="16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262626"/>
                </a:solidFill>
                <a:latin typeface="Calibri"/>
              </a:rPr>
              <a:t>simulieren</a:t>
            </a:r>
            <a:r>
              <a:rPr sz="1600" b="0" i="0" dirty="0">
                <a:solidFill>
                  <a:srgbClr val="262626"/>
                </a:solidFill>
                <a:latin typeface="Calibri"/>
              </a:rPr>
              <a:t>“ → Ampel </a:t>
            </a:r>
            <a:r>
              <a:rPr sz="1600" b="0" i="0" dirty="0" err="1">
                <a:solidFill>
                  <a:srgbClr val="262626"/>
                </a:solidFill>
                <a:latin typeface="Calibri"/>
              </a:rPr>
              <a:t>grün</a:t>
            </a:r>
            <a:r>
              <a:rPr sz="1600" b="0" i="0" dirty="0">
                <a:solidFill>
                  <a:srgbClr val="262626"/>
                </a:solidFill>
                <a:latin typeface="Calibri"/>
              </a:rPr>
              <a:t> → </a:t>
            </a:r>
            <a:r>
              <a:rPr sz="1600" b="0" i="0" dirty="0" err="1">
                <a:solidFill>
                  <a:srgbClr val="262626"/>
                </a:solidFill>
                <a:latin typeface="Calibri"/>
              </a:rPr>
              <a:t>gelb</a:t>
            </a:r>
            <a:r>
              <a:rPr sz="1600" b="0" i="0" dirty="0">
                <a:solidFill>
                  <a:srgbClr val="262626"/>
                </a:solidFill>
                <a:latin typeface="Calibri"/>
              </a:rPr>
              <a:t> → rot</a:t>
            </a:r>
          </a:p>
          <a:p>
            <a:pPr marL="228600" indent="-228600" algn="l">
              <a:lnSpc>
                <a:spcPct val="106000"/>
              </a:lnSpc>
              <a:spcAft>
                <a:spcPts val="1100"/>
              </a:spcAft>
              <a:buChar char="•"/>
            </a:pPr>
            <a:r>
              <a:rPr sz="1600" b="0" i="0" dirty="0">
                <a:solidFill>
                  <a:srgbClr val="262626"/>
                </a:solidFill>
                <a:latin typeface="Calibri"/>
              </a:rPr>
              <a:t>End-to-End-</a:t>
            </a:r>
            <a:r>
              <a:rPr sz="1600" b="0" i="0" dirty="0" err="1">
                <a:solidFill>
                  <a:srgbClr val="262626"/>
                </a:solidFill>
                <a:latin typeface="Calibri"/>
              </a:rPr>
              <a:t>Pfad</a:t>
            </a:r>
            <a:r>
              <a:rPr sz="1600" b="0" i="0" dirty="0">
                <a:solidFill>
                  <a:srgbClr val="262626"/>
                </a:solidFill>
                <a:latin typeface="Calibri"/>
              </a:rPr>
              <a:t> live: Sensor → MQTT → IoT Core → Lambda → DynamoDB → API → Web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37376"/>
            <a:ext cx="82296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900" b="0" i="0" dirty="0">
                <a:solidFill>
                  <a:srgbClr val="7F7F7F"/>
                </a:solidFill>
                <a:latin typeface="Calibri"/>
              </a:rPr>
              <a:t>Drive &amp; Decide · Seier &amp; Zankl · </a:t>
            </a:r>
            <a:r>
              <a:rPr lang="de-AT" sz="900" dirty="0">
                <a:solidFill>
                  <a:srgbClr val="7F7F7F"/>
                </a:solidFill>
              </a:rPr>
              <a:t>Hochschule</a:t>
            </a:r>
            <a:r>
              <a:rPr sz="900" b="0" i="0" dirty="0">
                <a:solidFill>
                  <a:srgbClr val="7F7F7F"/>
                </a:solidFill>
                <a:latin typeface="Calibri"/>
              </a:rPr>
              <a:t> Burgenland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37376"/>
            <a:ext cx="6400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7F7F7F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45720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4472C4"/>
                </a:solidFill>
                <a:latin typeface="Calibri"/>
              </a:rPr>
              <a:t>KOSTEN-NUTZEN-MODELL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86384"/>
            <a:ext cx="109728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 i="0">
                <a:solidFill>
                  <a:srgbClr val="262626"/>
                </a:solidFill>
                <a:latin typeface="Calibri Light"/>
              </a:rPr>
              <a:t>Aufbau: Kosten gegen Nutzen über 5 Jahre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874519"/>
            <a:ext cx="2670048" cy="306324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 Same Side Corner Rectangle 4"/>
          <p:cNvSpPr/>
          <p:nvPr/>
        </p:nvSpPr>
        <p:spPr>
          <a:xfrm>
            <a:off x="594360" y="1874519"/>
            <a:ext cx="2670048" cy="566928"/>
          </a:xfrm>
          <a:prstGeom prst="round2SameRect">
            <a:avLst>
              <a:gd name="adj1" fmla="val 6000"/>
              <a:gd name="adj2" fmla="val 0"/>
            </a:avLst>
          </a:prstGeom>
          <a:solidFill>
            <a:srgbClr val="447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947672"/>
            <a:ext cx="2304288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CAPEX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5528" y="2651760"/>
            <a:ext cx="2267712" cy="2148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62626"/>
                </a:solidFill>
                <a:latin typeface="Calibri"/>
              </a:rPr>
              <a:t>Sensoren, Mikrocontroller, Verkabelung, Installation, initiale Cloud-Konfiguration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38144" y="1874519"/>
            <a:ext cx="2670048" cy="306324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 Same Side Corner Rectangle 8"/>
          <p:cNvSpPr/>
          <p:nvPr/>
        </p:nvSpPr>
        <p:spPr>
          <a:xfrm>
            <a:off x="3438144" y="1874519"/>
            <a:ext cx="2670048" cy="566928"/>
          </a:xfrm>
          <a:prstGeom prst="round2SameRect">
            <a:avLst>
              <a:gd name="adj1" fmla="val 6000"/>
              <a:gd name="adj2" fmla="val 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21024" y="1947672"/>
            <a:ext cx="2304288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OPEX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39312" y="2651760"/>
            <a:ext cx="2267712" cy="2148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62626"/>
                </a:solidFill>
                <a:latin typeface="Calibri"/>
              </a:rPr>
              <a:t>Nutzungsabhängige AWS-Kosten (IoT, Lambda, DynamoDB, Transfer, Speicher) + Wartung, Sensoraustausch, Strom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81928" y="1874519"/>
            <a:ext cx="2670048" cy="306324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 Same Side Corner Rectangle 12"/>
          <p:cNvSpPr/>
          <p:nvPr/>
        </p:nvSpPr>
        <p:spPr>
          <a:xfrm>
            <a:off x="6281928" y="1874519"/>
            <a:ext cx="2670048" cy="566928"/>
          </a:xfrm>
          <a:prstGeom prst="round2SameRect">
            <a:avLst>
              <a:gd name="adj1" fmla="val 6000"/>
              <a:gd name="adj2" fmla="val 0"/>
            </a:avLst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64808" y="1947672"/>
            <a:ext cx="2304288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Nutzen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83096" y="2651760"/>
            <a:ext cx="2267712" cy="2148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 dirty="0" err="1">
                <a:solidFill>
                  <a:srgbClr val="262626"/>
                </a:solidFill>
                <a:latin typeface="Calibri"/>
              </a:rPr>
              <a:t>Höhere</a:t>
            </a:r>
            <a:r>
              <a:rPr sz="13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262626"/>
                </a:solidFill>
                <a:latin typeface="Calibri"/>
              </a:rPr>
              <a:t>Auslastung</a:t>
            </a:r>
            <a:r>
              <a:rPr sz="1300" b="0" i="0" dirty="0">
                <a:solidFill>
                  <a:srgbClr val="262626"/>
                </a:solidFill>
                <a:latin typeface="Calibri"/>
              </a:rPr>
              <a:t>, </a:t>
            </a:r>
            <a:r>
              <a:rPr sz="1300" b="0" i="0" dirty="0" err="1">
                <a:solidFill>
                  <a:srgbClr val="262626"/>
                </a:solidFill>
                <a:latin typeface="Calibri"/>
              </a:rPr>
              <a:t>dynamische</a:t>
            </a:r>
            <a:r>
              <a:rPr sz="13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262626"/>
                </a:solidFill>
                <a:latin typeface="Calibri"/>
              </a:rPr>
              <a:t>Preise</a:t>
            </a:r>
            <a:r>
              <a:rPr sz="1300" b="0" i="0" dirty="0">
                <a:solidFill>
                  <a:srgbClr val="262626"/>
                </a:solidFill>
                <a:latin typeface="Calibri"/>
              </a:rPr>
              <a:t>, </a:t>
            </a:r>
            <a:r>
              <a:rPr sz="1300" b="0" i="0" dirty="0" err="1">
                <a:solidFill>
                  <a:srgbClr val="262626"/>
                </a:solidFill>
                <a:latin typeface="Calibri"/>
              </a:rPr>
              <a:t>weniger</a:t>
            </a:r>
            <a:r>
              <a:rPr sz="13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262626"/>
                </a:solidFill>
                <a:latin typeface="Calibri"/>
              </a:rPr>
              <a:t>Fehlfahrten</a:t>
            </a:r>
            <a:r>
              <a:rPr sz="1300" b="0" i="0" dirty="0">
                <a:solidFill>
                  <a:srgbClr val="262626"/>
                </a:solidFill>
                <a:latin typeface="Calibri"/>
              </a:rPr>
              <a:t>, </a:t>
            </a:r>
            <a:r>
              <a:rPr sz="1300" b="0" i="0" dirty="0" err="1">
                <a:solidFill>
                  <a:srgbClr val="262626"/>
                </a:solidFill>
                <a:latin typeface="Calibri"/>
              </a:rPr>
              <a:t>Datenverwertung</a:t>
            </a:r>
            <a:endParaRPr sz="1300" b="0" i="0" dirty="0">
              <a:solidFill>
                <a:srgbClr val="262626"/>
              </a:solidFill>
              <a:latin typeface="Calibri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9125712" y="1874519"/>
            <a:ext cx="2670048" cy="306324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 Same Side Corner Rectangle 16"/>
          <p:cNvSpPr/>
          <p:nvPr/>
        </p:nvSpPr>
        <p:spPr>
          <a:xfrm>
            <a:off x="9125712" y="1874519"/>
            <a:ext cx="2670048" cy="566928"/>
          </a:xfrm>
          <a:prstGeom prst="round2SameRect">
            <a:avLst>
              <a:gd name="adj1" fmla="val 6000"/>
              <a:gd name="adj2" fmla="val 0"/>
            </a:avLst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308592" y="1947672"/>
            <a:ext cx="2304288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Kennzahlen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0" y="2651760"/>
            <a:ext cx="2267712" cy="2148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 dirty="0">
                <a:solidFill>
                  <a:srgbClr val="262626"/>
                </a:solidFill>
                <a:latin typeface="Calibri"/>
              </a:rPr>
              <a:t>TCO · ROI · </a:t>
            </a:r>
            <a:r>
              <a:rPr sz="1300" b="0" i="0" dirty="0" err="1">
                <a:solidFill>
                  <a:srgbClr val="262626"/>
                </a:solidFill>
                <a:latin typeface="Calibri"/>
              </a:rPr>
              <a:t>Amortisation</a:t>
            </a:r>
            <a:r>
              <a:rPr sz="1300" b="0" i="0" dirty="0">
                <a:solidFill>
                  <a:srgbClr val="262626"/>
                </a:solidFill>
                <a:latin typeface="Calibri"/>
              </a:rPr>
              <a:t> · Break-Even (</a:t>
            </a:r>
            <a:r>
              <a:rPr lang="el-GR" sz="1300" b="0" i="0" dirty="0">
                <a:solidFill>
                  <a:srgbClr val="262626"/>
                </a:solidFill>
                <a:latin typeface="Calibri"/>
              </a:rPr>
              <a:t>Δ</a:t>
            </a:r>
            <a:r>
              <a:rPr lang="en-US" sz="13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262626"/>
                </a:solidFill>
                <a:latin typeface="Calibri"/>
              </a:rPr>
              <a:t>Auslastung</a:t>
            </a:r>
            <a:r>
              <a:rPr sz="1300" b="0" i="0" dirty="0">
                <a:solidFill>
                  <a:srgbClr val="262626"/>
                </a:solidFill>
                <a:latin typeface="Calibri"/>
              </a:rPr>
              <a:t> in %-</a:t>
            </a:r>
            <a:r>
              <a:rPr sz="1300" b="0" i="0" dirty="0" err="1">
                <a:solidFill>
                  <a:srgbClr val="262626"/>
                </a:solidFill>
                <a:latin typeface="Calibri"/>
              </a:rPr>
              <a:t>Punkten</a:t>
            </a:r>
            <a:r>
              <a:rPr sz="1300" b="0" i="0" dirty="0">
                <a:solidFill>
                  <a:srgbClr val="262626"/>
                </a:solidFill>
                <a:latin typeface="Calibri"/>
              </a:rPr>
              <a:t>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5257800"/>
            <a:ext cx="11018520" cy="1938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1" dirty="0" err="1">
                <a:solidFill>
                  <a:srgbClr val="7F7F7F"/>
                </a:solidFill>
                <a:latin typeface="Calibri"/>
              </a:rPr>
              <a:t>Datenquellen</a:t>
            </a:r>
            <a:r>
              <a:rPr sz="1250" b="0" i="1" dirty="0">
                <a:solidFill>
                  <a:srgbClr val="7F7F7F"/>
                </a:solidFill>
                <a:latin typeface="Calibri"/>
              </a:rPr>
              <a:t>: </a:t>
            </a:r>
            <a:r>
              <a:rPr sz="1250" b="0" i="1" dirty="0" err="1">
                <a:solidFill>
                  <a:srgbClr val="7F7F7F"/>
                </a:solidFill>
                <a:latin typeface="Calibri"/>
              </a:rPr>
              <a:t>Herstellerpreise</a:t>
            </a:r>
            <a:r>
              <a:rPr sz="1250" b="0" i="1" dirty="0">
                <a:solidFill>
                  <a:srgbClr val="7F7F7F"/>
                </a:solidFill>
                <a:latin typeface="Calibri"/>
              </a:rPr>
              <a:t> · AWS-</a:t>
            </a:r>
            <a:r>
              <a:rPr sz="1250" b="0" i="1" dirty="0" err="1">
                <a:solidFill>
                  <a:srgbClr val="7F7F7F"/>
                </a:solidFill>
                <a:latin typeface="Calibri"/>
              </a:rPr>
              <a:t>Listenpreise</a:t>
            </a:r>
            <a:r>
              <a:rPr sz="1250" b="0" i="1" dirty="0">
                <a:solidFill>
                  <a:srgbClr val="7F7F7F"/>
                </a:solidFill>
                <a:latin typeface="Calibri"/>
              </a:rPr>
              <a:t> · </a:t>
            </a:r>
            <a:r>
              <a:rPr sz="1250" b="0" i="1" dirty="0" err="1">
                <a:solidFill>
                  <a:srgbClr val="7F7F7F"/>
                </a:solidFill>
                <a:latin typeface="Calibri"/>
              </a:rPr>
              <a:t>Literaturparameter</a:t>
            </a:r>
            <a:r>
              <a:rPr sz="1250" b="0" i="1" dirty="0">
                <a:solidFill>
                  <a:srgbClr val="7F7F7F"/>
                </a:solidFill>
                <a:latin typeface="Calibri"/>
              </a:rPr>
              <a:t> · </a:t>
            </a:r>
            <a:r>
              <a:rPr lang="de-AT" sz="1250" i="1" dirty="0">
                <a:solidFill>
                  <a:srgbClr val="7F7F7F"/>
                </a:solidFill>
                <a:latin typeface="Calibri"/>
              </a:rPr>
              <a:t>Run</a:t>
            </a:r>
            <a:r>
              <a:rPr sz="1250" b="0" i="1" dirty="0">
                <a:solidFill>
                  <a:srgbClr val="7F7F7F"/>
                </a:solidFill>
                <a:latin typeface="Calibri"/>
              </a:rPr>
              <a:t>-Manifest des </a:t>
            </a:r>
            <a:r>
              <a:rPr lang="de-AT" sz="1250" b="0" i="1" dirty="0">
                <a:solidFill>
                  <a:srgbClr val="7F7F7F"/>
                </a:solidFill>
                <a:latin typeface="Calibri"/>
              </a:rPr>
              <a:t>Load Generators</a:t>
            </a:r>
            <a:endParaRPr sz="1250" b="0" i="1" dirty="0">
              <a:solidFill>
                <a:srgbClr val="7F7F7F"/>
              </a:solidFill>
              <a:latin typeface="Calibri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548640" y="6437376"/>
            <a:ext cx="82296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900" b="0" i="0" dirty="0">
                <a:solidFill>
                  <a:srgbClr val="7F7F7F"/>
                </a:solidFill>
                <a:latin typeface="Calibri"/>
              </a:rPr>
              <a:t>Drive &amp; Decide · Seier &amp; Zankl · </a:t>
            </a:r>
            <a:r>
              <a:rPr lang="de-AT" sz="900" dirty="0">
                <a:solidFill>
                  <a:srgbClr val="7F7F7F"/>
                </a:solidFill>
              </a:rPr>
              <a:t>Hochschule</a:t>
            </a:r>
            <a:r>
              <a:rPr sz="900" b="0" i="0" dirty="0">
                <a:solidFill>
                  <a:srgbClr val="7F7F7F"/>
                </a:solidFill>
                <a:latin typeface="Calibri"/>
              </a:rPr>
              <a:t> Burgenland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437376"/>
            <a:ext cx="6400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7F7F7F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45720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4472C4"/>
                </a:solidFill>
                <a:latin typeface="Calibri"/>
              </a:rPr>
              <a:t>ERGEBNISSE · KOSTEN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86384"/>
            <a:ext cx="109728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 i="0">
                <a:solidFill>
                  <a:srgbClr val="262626"/>
                </a:solidFill>
                <a:latin typeface="Calibri Light"/>
              </a:rPr>
              <a:t>CAPEX dominiert, OPEX bleibt minimal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94360" y="1783080"/>
          <a:ext cx="6766560" cy="4206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7680960" y="1783080"/>
            <a:ext cx="3931920" cy="420624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955280" y="1993392"/>
            <a:ext cx="3383279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4472C4"/>
                </a:solidFill>
                <a:latin typeface="Calibri"/>
              </a:rPr>
              <a:t>Das Wichtigste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55280" y="2450592"/>
            <a:ext cx="3364991" cy="2194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14000" indent="-214000" algn="l">
              <a:lnSpc>
                <a:spcPct val="106000"/>
              </a:lnSpc>
              <a:spcAft>
                <a:spcPts val="900"/>
              </a:spcAft>
              <a:buChar char="•"/>
            </a:pPr>
            <a:r>
              <a:rPr sz="1400" b="0" i="0" dirty="0">
                <a:solidFill>
                  <a:srgbClr val="262626"/>
                </a:solidFill>
                <a:latin typeface="Calibri"/>
              </a:rPr>
              <a:t>OPEX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nur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rund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470–890 € pro Jahr</a:t>
            </a:r>
          </a:p>
          <a:p>
            <a:pPr marL="214000" indent="-214000" algn="l">
              <a:lnSpc>
                <a:spcPct val="106000"/>
              </a:lnSpc>
              <a:spcAft>
                <a:spcPts val="900"/>
              </a:spcAft>
              <a:buChar char="•"/>
            </a:pPr>
            <a:r>
              <a:rPr sz="1400" b="0" i="0" dirty="0" err="1">
                <a:solidFill>
                  <a:srgbClr val="262626"/>
                </a:solidFill>
                <a:latin typeface="Calibri"/>
              </a:rPr>
              <a:t>Gesamtkosten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klar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von den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einmaligen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CAPEX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dominiert</a:t>
            </a:r>
            <a:endParaRPr sz="1400" b="0" i="0" dirty="0">
              <a:solidFill>
                <a:srgbClr val="262626"/>
              </a:solidFill>
              <a:latin typeface="Calibri"/>
            </a:endParaRPr>
          </a:p>
          <a:p>
            <a:pPr marL="214000" indent="-214000" algn="l">
              <a:lnSpc>
                <a:spcPct val="106000"/>
              </a:lnSpc>
              <a:spcAft>
                <a:spcPts val="900"/>
              </a:spcAft>
              <a:buChar char="•"/>
            </a:pPr>
            <a:r>
              <a:rPr sz="1400" b="0" i="0" dirty="0">
                <a:solidFill>
                  <a:srgbClr val="262626"/>
                </a:solidFill>
                <a:latin typeface="Calibri"/>
              </a:rPr>
              <a:t>Serverless =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sehr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geringe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laufende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Cloud-Kosten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80" y="5074920"/>
            <a:ext cx="3383279" cy="713232"/>
          </a:xfrm>
          <a:prstGeom prst="roundRect">
            <a:avLst>
              <a:gd name="adj" fmla="val 6000"/>
            </a:avLst>
          </a:prstGeom>
          <a:solidFill>
            <a:srgbClr val="447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138160" y="5175504"/>
            <a:ext cx="301752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TCO (5 J.): 9.958 € · 15.461 € · 18.241 €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37376"/>
            <a:ext cx="82296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900" b="0" i="0" dirty="0">
                <a:solidFill>
                  <a:srgbClr val="7F7F7F"/>
                </a:solidFill>
                <a:latin typeface="Calibri"/>
              </a:rPr>
              <a:t>Drive &amp; Decide · Seier &amp; Zankl · </a:t>
            </a:r>
            <a:r>
              <a:rPr lang="de-AT" sz="900" dirty="0">
                <a:solidFill>
                  <a:srgbClr val="7F7F7F"/>
                </a:solidFill>
              </a:rPr>
              <a:t>Hochschule</a:t>
            </a:r>
            <a:r>
              <a:rPr sz="900" b="0" i="0" dirty="0">
                <a:solidFill>
                  <a:srgbClr val="7F7F7F"/>
                </a:solidFill>
                <a:latin typeface="Calibri"/>
              </a:rPr>
              <a:t> Burgenland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37376"/>
            <a:ext cx="6400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7F7F7F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45720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4472C4"/>
                </a:solidFill>
                <a:latin typeface="Calibri"/>
              </a:rPr>
              <a:t>ERGEBNISSE · KENNZAHLEN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86384"/>
            <a:ext cx="109728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 i="0">
                <a:solidFill>
                  <a:srgbClr val="262626"/>
                </a:solidFill>
                <a:latin typeface="Calibri Light"/>
              </a:rPr>
              <a:t>Break-Even als belastbare Kennzahl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783080"/>
            <a:ext cx="2670048" cy="196596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95528" y="2039112"/>
            <a:ext cx="226771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600" b="1" i="0">
                <a:solidFill>
                  <a:srgbClr val="4472C4"/>
                </a:solidFill>
                <a:latin typeface="Calibri Light"/>
              </a:rPr>
              <a:t>~0,03–0,04 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5528" y="2807208"/>
            <a:ext cx="2267712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 i="0">
                <a:solidFill>
                  <a:srgbClr val="262626"/>
                </a:solidFill>
                <a:latin typeface="Calibri"/>
              </a:rPr>
              <a:t>Break-Even: nötige Auslastungs-steigerung, ab der sich die Investition trägt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38144" y="1783080"/>
            <a:ext cx="2670048" cy="196596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39312" y="2039112"/>
            <a:ext cx="226771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600" b="1" i="0">
                <a:solidFill>
                  <a:srgbClr val="70AD47"/>
                </a:solidFill>
                <a:latin typeface="Calibri Light"/>
              </a:rPr>
              <a:t>&lt; 1 Jahr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39312" y="2807208"/>
            <a:ext cx="2267712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 i="0">
                <a:solidFill>
                  <a:srgbClr val="262626"/>
                </a:solidFill>
                <a:latin typeface="Calibri"/>
              </a:rPr>
              <a:t>Amortisationsdauer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81928" y="1783080"/>
            <a:ext cx="2670048" cy="196596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83096" y="2039112"/>
            <a:ext cx="226771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600" b="1" i="0">
                <a:solidFill>
                  <a:srgbClr val="ED7D31"/>
                </a:solidFill>
                <a:latin typeface="Calibri Light"/>
              </a:rPr>
              <a:t>470–890 €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83096" y="2807208"/>
            <a:ext cx="2267712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 i="0">
                <a:solidFill>
                  <a:srgbClr val="262626"/>
                </a:solidFill>
                <a:latin typeface="Calibri"/>
              </a:rPr>
              <a:t>OPEX pro Jahr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25712" y="1783080"/>
            <a:ext cx="2670048" cy="196596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326880" y="2039112"/>
            <a:ext cx="226771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600" b="1" i="0">
                <a:solidFill>
                  <a:srgbClr val="44546A"/>
                </a:solidFill>
                <a:latin typeface="Calibri Light"/>
              </a:rPr>
              <a:t>9.958–18.241 €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0" y="2807208"/>
            <a:ext cx="2267712" cy="3767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 i="0" dirty="0">
                <a:solidFill>
                  <a:srgbClr val="262626"/>
                </a:solidFill>
                <a:latin typeface="Calibri"/>
              </a:rPr>
              <a:t>TCO </a:t>
            </a:r>
            <a:r>
              <a:rPr sz="1200" b="0" i="0" dirty="0" err="1">
                <a:solidFill>
                  <a:srgbClr val="262626"/>
                </a:solidFill>
                <a:latin typeface="Calibri"/>
              </a:rPr>
              <a:t>über</a:t>
            </a:r>
            <a:r>
              <a:rPr sz="1200" b="0" i="0" dirty="0">
                <a:solidFill>
                  <a:srgbClr val="262626"/>
                </a:solidFill>
                <a:latin typeface="Calibri"/>
              </a:rPr>
              <a:t> 5 Jahre</a:t>
            </a:r>
            <a:br>
              <a:rPr lang="de-AT" sz="1200" b="0" i="0" dirty="0">
                <a:solidFill>
                  <a:srgbClr val="262626"/>
                </a:solidFill>
                <a:latin typeface="Calibri"/>
              </a:rPr>
            </a:br>
            <a:r>
              <a:rPr sz="1200" b="0" i="0" dirty="0">
                <a:solidFill>
                  <a:srgbClr val="262626"/>
                </a:solidFill>
                <a:latin typeface="Calibri"/>
              </a:rPr>
              <a:t>(200</a:t>
            </a:r>
            <a:r>
              <a:rPr lang="de-AT" sz="1200" b="0" i="0" dirty="0">
                <a:solidFill>
                  <a:srgbClr val="262626"/>
                </a:solidFill>
                <a:latin typeface="Calibri"/>
              </a:rPr>
              <a:t> - </a:t>
            </a:r>
            <a:r>
              <a:rPr sz="1200" b="0" i="0" dirty="0">
                <a:solidFill>
                  <a:srgbClr val="262626"/>
                </a:solidFill>
                <a:latin typeface="Calibri"/>
              </a:rPr>
              <a:t>500 </a:t>
            </a:r>
            <a:r>
              <a:rPr sz="1200" b="0" i="0" dirty="0" err="1">
                <a:solidFill>
                  <a:srgbClr val="262626"/>
                </a:solidFill>
                <a:latin typeface="Calibri"/>
              </a:rPr>
              <a:t>Stellplätze</a:t>
            </a:r>
            <a:r>
              <a:rPr sz="1200" b="0" i="0" dirty="0">
                <a:solidFill>
                  <a:srgbClr val="262626"/>
                </a:solidFill>
                <a:latin typeface="Calibri"/>
              </a:rPr>
              <a:t>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4069080"/>
            <a:ext cx="11018520" cy="1783080"/>
          </a:xfrm>
          <a:prstGeom prst="roundRect">
            <a:avLst>
              <a:gd name="adj" fmla="val 6000"/>
            </a:avLst>
          </a:prstGeom>
          <a:solidFill>
            <a:srgbClr val="DAE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68680" y="4224528"/>
            <a:ext cx="10469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44546A"/>
                </a:solidFill>
                <a:latin typeface="Calibri"/>
              </a:rPr>
              <a:t>Einordnung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4617720"/>
            <a:ext cx="10469880" cy="462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 dirty="0">
                <a:solidFill>
                  <a:srgbClr val="262626"/>
                </a:solidFill>
                <a:latin typeface="Calibri"/>
              </a:rPr>
              <a:t>Break-Even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liegt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weit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unter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dem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konservativsten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Szenario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(+1 pp) und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unter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den in der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Literatur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berichteten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Effekten</a:t>
            </a:r>
            <a:br>
              <a:rPr lang="de-AT" sz="1400" b="0" i="0" dirty="0">
                <a:solidFill>
                  <a:srgbClr val="262626"/>
                </a:solidFill>
                <a:latin typeface="Calibri"/>
              </a:rPr>
            </a:br>
            <a:r>
              <a:rPr sz="1400" b="0" i="0" dirty="0">
                <a:solidFill>
                  <a:srgbClr val="262626"/>
                </a:solidFill>
                <a:latin typeface="Calibri"/>
              </a:rPr>
              <a:t>ROI und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Amortisation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sind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über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alle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Szenarien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deutlich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positiv</a:t>
            </a:r>
            <a:r>
              <a:rPr lang="de-AT" sz="1400" dirty="0">
                <a:solidFill>
                  <a:srgbClr val="262626"/>
                </a:solidFill>
                <a:latin typeface="Calibri"/>
              </a:rPr>
              <a:t>,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als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robuste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Kennzahl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wird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der Break-Even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berichtet</a:t>
            </a:r>
            <a:endParaRPr sz="1400" b="0" i="0" dirty="0">
              <a:solidFill>
                <a:srgbClr val="262626"/>
              </a:solidFill>
              <a:latin typeface="Calibri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548640" y="6437376"/>
            <a:ext cx="82296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900" b="0" i="0" dirty="0">
                <a:solidFill>
                  <a:srgbClr val="7F7F7F"/>
                </a:solidFill>
                <a:latin typeface="Calibri"/>
              </a:rPr>
              <a:t>Drive &amp; Decide · Seier &amp; Zankl · </a:t>
            </a:r>
            <a:r>
              <a:rPr lang="de-AT" sz="900" dirty="0">
                <a:solidFill>
                  <a:srgbClr val="7F7F7F"/>
                </a:solidFill>
              </a:rPr>
              <a:t>Hochschule</a:t>
            </a:r>
            <a:r>
              <a:rPr sz="900" b="0" i="0" dirty="0">
                <a:solidFill>
                  <a:srgbClr val="7F7F7F"/>
                </a:solidFill>
                <a:latin typeface="Calibri"/>
              </a:rPr>
              <a:t> Burgenland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37376"/>
            <a:ext cx="6400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7F7F7F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45720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4472C4"/>
                </a:solidFill>
                <a:latin typeface="Calibri"/>
              </a:rPr>
              <a:t>ERGEBNISSE · SENSITIVITÄT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86384"/>
            <a:ext cx="109728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 i="0">
                <a:solidFill>
                  <a:srgbClr val="262626"/>
                </a:solidFill>
                <a:latin typeface="Calibri Light"/>
              </a:rPr>
              <a:t>Das Ergebnis hängt an der Nutzenseite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94360" y="1783080"/>
          <a:ext cx="6766560" cy="4023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7680960" y="1783080"/>
            <a:ext cx="3931920" cy="402336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955280" y="1993392"/>
            <a:ext cx="3383279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4472C4"/>
                </a:solidFill>
                <a:latin typeface="Calibri"/>
              </a:rPr>
              <a:t>Lesart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55280" y="2450592"/>
            <a:ext cx="3364991" cy="1542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14000" indent="-214000" algn="l">
              <a:lnSpc>
                <a:spcPct val="106000"/>
              </a:lnSpc>
              <a:spcAft>
                <a:spcPts val="900"/>
              </a:spcAft>
              <a:buChar char="•"/>
            </a:pPr>
            <a:r>
              <a:rPr sz="1350" b="0" i="0" dirty="0" err="1">
                <a:solidFill>
                  <a:srgbClr val="262626"/>
                </a:solidFill>
                <a:latin typeface="Calibri"/>
              </a:rPr>
              <a:t>Parktarif</a:t>
            </a:r>
            <a:r>
              <a:rPr sz="1350" b="0" i="0" dirty="0">
                <a:solidFill>
                  <a:srgbClr val="262626"/>
                </a:solidFill>
                <a:latin typeface="Calibri"/>
              </a:rPr>
              <a:t> und </a:t>
            </a:r>
            <a:r>
              <a:rPr sz="1350" b="0" i="0" dirty="0" err="1">
                <a:solidFill>
                  <a:srgbClr val="262626"/>
                </a:solidFill>
                <a:latin typeface="Calibri"/>
              </a:rPr>
              <a:t>Auslastungssteigerung</a:t>
            </a:r>
            <a:r>
              <a:rPr sz="135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262626"/>
                </a:solidFill>
                <a:latin typeface="Calibri"/>
              </a:rPr>
              <a:t>bestimmen</a:t>
            </a:r>
            <a:r>
              <a:rPr sz="1350" b="0" i="0" dirty="0">
                <a:solidFill>
                  <a:srgbClr val="262626"/>
                </a:solidFill>
                <a:latin typeface="Calibri"/>
              </a:rPr>
              <a:t> das </a:t>
            </a:r>
            <a:r>
              <a:rPr sz="1350" b="0" i="0" dirty="0" err="1">
                <a:solidFill>
                  <a:srgbClr val="262626"/>
                </a:solidFill>
                <a:latin typeface="Calibri"/>
              </a:rPr>
              <a:t>Ergebnis</a:t>
            </a:r>
            <a:r>
              <a:rPr sz="1350" b="0" i="0" dirty="0">
                <a:solidFill>
                  <a:srgbClr val="262626"/>
                </a:solidFill>
                <a:latin typeface="Calibri"/>
              </a:rPr>
              <a:t> fast </a:t>
            </a:r>
            <a:r>
              <a:rPr sz="1350" b="0" i="0" dirty="0" err="1">
                <a:solidFill>
                  <a:srgbClr val="262626"/>
                </a:solidFill>
                <a:latin typeface="Calibri"/>
              </a:rPr>
              <a:t>vollständig</a:t>
            </a:r>
            <a:endParaRPr sz="1350" b="0" i="0" dirty="0">
              <a:solidFill>
                <a:srgbClr val="262626"/>
              </a:solidFill>
              <a:latin typeface="Calibri"/>
            </a:endParaRPr>
          </a:p>
          <a:p>
            <a:pPr marL="214000" indent="-214000" algn="l">
              <a:lnSpc>
                <a:spcPct val="106000"/>
              </a:lnSpc>
              <a:spcAft>
                <a:spcPts val="900"/>
              </a:spcAft>
              <a:buChar char="•"/>
            </a:pPr>
            <a:r>
              <a:rPr sz="1350" b="0" i="0" dirty="0" err="1">
                <a:solidFill>
                  <a:srgbClr val="262626"/>
                </a:solidFill>
                <a:latin typeface="Calibri"/>
              </a:rPr>
              <a:t>Sensorkosten</a:t>
            </a:r>
            <a:r>
              <a:rPr sz="1350" b="0" i="0" dirty="0">
                <a:solidFill>
                  <a:srgbClr val="262626"/>
                </a:solidFill>
                <a:latin typeface="Calibri"/>
              </a:rPr>
              <a:t> und Cloud-</a:t>
            </a:r>
            <a:r>
              <a:rPr sz="1350" b="0" i="0" dirty="0" err="1">
                <a:solidFill>
                  <a:srgbClr val="262626"/>
                </a:solidFill>
                <a:latin typeface="Calibri"/>
              </a:rPr>
              <a:t>Ereignisrate</a:t>
            </a:r>
            <a:r>
              <a:rPr sz="135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262626"/>
                </a:solidFill>
                <a:latin typeface="Calibri"/>
              </a:rPr>
              <a:t>spielen</a:t>
            </a:r>
            <a:r>
              <a:rPr sz="135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262626"/>
                </a:solidFill>
                <a:latin typeface="Calibri"/>
              </a:rPr>
              <a:t>kaum</a:t>
            </a:r>
            <a:r>
              <a:rPr sz="135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262626"/>
                </a:solidFill>
                <a:latin typeface="Calibri"/>
              </a:rPr>
              <a:t>eine</a:t>
            </a:r>
            <a:r>
              <a:rPr sz="1350" b="0" i="0" dirty="0">
                <a:solidFill>
                  <a:srgbClr val="262626"/>
                </a:solidFill>
                <a:latin typeface="Calibri"/>
              </a:rPr>
              <a:t> Rolle</a:t>
            </a:r>
          </a:p>
          <a:p>
            <a:pPr marL="214000" indent="-214000" algn="l">
              <a:lnSpc>
                <a:spcPct val="106000"/>
              </a:lnSpc>
              <a:spcAft>
                <a:spcPts val="900"/>
              </a:spcAft>
              <a:buChar char="•"/>
            </a:pPr>
            <a:r>
              <a:rPr sz="1350" b="0" i="0" dirty="0" err="1">
                <a:solidFill>
                  <a:srgbClr val="262626"/>
                </a:solidFill>
                <a:latin typeface="Calibri"/>
              </a:rPr>
              <a:t>Deshalb</a:t>
            </a:r>
            <a:r>
              <a:rPr sz="135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262626"/>
                </a:solidFill>
                <a:latin typeface="Calibri"/>
              </a:rPr>
              <a:t>wird</a:t>
            </a:r>
            <a:r>
              <a:rPr sz="1350" b="0" i="0" dirty="0">
                <a:solidFill>
                  <a:srgbClr val="262626"/>
                </a:solidFill>
                <a:latin typeface="Calibri"/>
              </a:rPr>
              <a:t> Break-Even </a:t>
            </a:r>
            <a:r>
              <a:rPr sz="1350" b="0" i="0" dirty="0" err="1">
                <a:solidFill>
                  <a:srgbClr val="262626"/>
                </a:solidFill>
                <a:latin typeface="Calibri"/>
              </a:rPr>
              <a:t>statt</a:t>
            </a:r>
            <a:r>
              <a:rPr sz="135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262626"/>
                </a:solidFill>
                <a:latin typeface="Calibri"/>
              </a:rPr>
              <a:t>eines</a:t>
            </a:r>
            <a:r>
              <a:rPr sz="135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262626"/>
                </a:solidFill>
                <a:latin typeface="Calibri"/>
              </a:rPr>
              <a:t>einzelnen</a:t>
            </a:r>
            <a:r>
              <a:rPr sz="1350" b="0" i="0" dirty="0">
                <a:solidFill>
                  <a:srgbClr val="262626"/>
                </a:solidFill>
                <a:latin typeface="Calibri"/>
              </a:rPr>
              <a:t> ROI-Werts </a:t>
            </a:r>
            <a:r>
              <a:rPr sz="1350" b="0" i="0" dirty="0" err="1">
                <a:solidFill>
                  <a:srgbClr val="262626"/>
                </a:solidFill>
                <a:latin typeface="Calibri"/>
              </a:rPr>
              <a:t>berichtet</a:t>
            </a:r>
            <a:endParaRPr sz="1350" b="0" i="0" dirty="0">
              <a:solidFill>
                <a:srgbClr val="262626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955280" y="5074920"/>
            <a:ext cx="3383279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1" dirty="0" err="1">
                <a:solidFill>
                  <a:srgbClr val="7F7F7F"/>
                </a:solidFill>
                <a:latin typeface="Calibri"/>
              </a:rPr>
              <a:t>Einfluss</a:t>
            </a:r>
            <a:r>
              <a:rPr sz="1100" b="0" i="1" dirty="0">
                <a:solidFill>
                  <a:srgbClr val="7F7F7F"/>
                </a:solidFill>
                <a:latin typeface="Calibri"/>
              </a:rPr>
              <a:t> je Parameter, </a:t>
            </a:r>
            <a:r>
              <a:rPr sz="1100" b="0" i="1" dirty="0" err="1">
                <a:solidFill>
                  <a:srgbClr val="7F7F7F"/>
                </a:solidFill>
                <a:latin typeface="Calibri"/>
              </a:rPr>
              <a:t>normiert</a:t>
            </a:r>
            <a:r>
              <a:rPr sz="1100" b="0" i="1" dirty="0">
                <a:solidFill>
                  <a:srgbClr val="7F7F7F"/>
                </a:solidFill>
                <a:latin typeface="Calibri"/>
              </a:rPr>
              <a:t> auf den </a:t>
            </a:r>
            <a:r>
              <a:rPr sz="1100" b="0" i="1" dirty="0" err="1">
                <a:solidFill>
                  <a:srgbClr val="7F7F7F"/>
                </a:solidFill>
                <a:latin typeface="Calibri"/>
              </a:rPr>
              <a:t>stärksten</a:t>
            </a:r>
            <a:r>
              <a:rPr sz="1100" b="0" i="1" dirty="0">
                <a:solidFill>
                  <a:srgbClr val="7F7F7F"/>
                </a:solidFill>
                <a:latin typeface="Calibri"/>
              </a:rPr>
              <a:t> (±30 % Variation, Basis 400 </a:t>
            </a:r>
            <a:r>
              <a:rPr sz="1100" b="0" i="1" dirty="0" err="1">
                <a:solidFill>
                  <a:srgbClr val="7F7F7F"/>
                </a:solidFill>
                <a:latin typeface="Calibri"/>
              </a:rPr>
              <a:t>Stellplätze</a:t>
            </a:r>
            <a:r>
              <a:rPr sz="1100" b="0" i="1" dirty="0">
                <a:solidFill>
                  <a:srgbClr val="7F7F7F"/>
                </a:solidFill>
                <a:latin typeface="Calibri"/>
              </a:rPr>
              <a:t>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37376"/>
            <a:ext cx="82296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900" b="0" i="0" dirty="0">
                <a:solidFill>
                  <a:srgbClr val="7F7F7F"/>
                </a:solidFill>
                <a:latin typeface="Calibri"/>
              </a:rPr>
              <a:t>Drive &amp; Decide · Seier &amp; Zankl · </a:t>
            </a:r>
            <a:r>
              <a:rPr lang="de-AT" sz="900" dirty="0">
                <a:solidFill>
                  <a:srgbClr val="7F7F7F"/>
                </a:solidFill>
              </a:rPr>
              <a:t>Hochschule</a:t>
            </a:r>
            <a:r>
              <a:rPr sz="900" b="0" i="0" dirty="0">
                <a:solidFill>
                  <a:srgbClr val="7F7F7F"/>
                </a:solidFill>
                <a:latin typeface="Calibri"/>
              </a:rPr>
              <a:t> Burgenland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37376"/>
            <a:ext cx="6400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7F7F7F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45720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4472C4"/>
                </a:solidFill>
                <a:latin typeface="Calibri"/>
              </a:rPr>
              <a:t>DISKUSSION &amp; LIMITATIONEN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86384"/>
            <a:ext cx="1097280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 i="0" dirty="0">
                <a:solidFill>
                  <a:srgbClr val="262626"/>
                </a:solidFill>
                <a:latin typeface="Calibri Light"/>
              </a:rPr>
              <a:t>Wann es </a:t>
            </a:r>
            <a:r>
              <a:rPr sz="2800" b="0" i="0" dirty="0" err="1">
                <a:solidFill>
                  <a:srgbClr val="262626"/>
                </a:solidFill>
                <a:latin typeface="Calibri Light"/>
              </a:rPr>
              <a:t>sich</a:t>
            </a:r>
            <a:r>
              <a:rPr sz="2800" b="0" i="0" dirty="0">
                <a:solidFill>
                  <a:srgbClr val="262626"/>
                </a:solidFill>
                <a:latin typeface="Calibri Light"/>
              </a:rPr>
              <a:t> </a:t>
            </a:r>
            <a:r>
              <a:rPr sz="2800" b="0" i="0" dirty="0" err="1">
                <a:solidFill>
                  <a:srgbClr val="262626"/>
                </a:solidFill>
                <a:latin typeface="Calibri Light"/>
              </a:rPr>
              <a:t>trägt</a:t>
            </a:r>
            <a:r>
              <a:rPr sz="2800" b="0" i="0" dirty="0">
                <a:solidFill>
                  <a:srgbClr val="262626"/>
                </a:solidFill>
                <a:latin typeface="Calibri Light"/>
              </a:rPr>
              <a:t> und was </a:t>
            </a:r>
            <a:r>
              <a:rPr sz="2800" b="0" i="0" dirty="0" err="1">
                <a:solidFill>
                  <a:srgbClr val="262626"/>
                </a:solidFill>
                <a:latin typeface="Calibri Light"/>
              </a:rPr>
              <a:t>offen</a:t>
            </a:r>
            <a:r>
              <a:rPr sz="2800" b="0" i="0" dirty="0">
                <a:solidFill>
                  <a:srgbClr val="262626"/>
                </a:solidFill>
                <a:latin typeface="Calibri Light"/>
              </a:rPr>
              <a:t> </a:t>
            </a:r>
            <a:r>
              <a:rPr sz="2800" b="0" i="0" dirty="0" err="1">
                <a:solidFill>
                  <a:srgbClr val="262626"/>
                </a:solidFill>
                <a:latin typeface="Calibri Light"/>
              </a:rPr>
              <a:t>bleibt</a:t>
            </a:r>
            <a:endParaRPr sz="2800" b="0" i="0" dirty="0">
              <a:solidFill>
                <a:srgbClr val="262626"/>
              </a:solidFill>
              <a:latin typeface="Calibri Light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594360" y="1783080"/>
            <a:ext cx="5440680" cy="406908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86968" y="2011680"/>
            <a:ext cx="48920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70AD47"/>
                </a:solidFill>
                <a:latin typeface="Calibri"/>
              </a:rPr>
              <a:t>Interpretation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" y="2505456"/>
            <a:ext cx="4873752" cy="19248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14000" indent="-214000" algn="l">
              <a:lnSpc>
                <a:spcPct val="106000"/>
              </a:lnSpc>
              <a:spcAft>
                <a:spcPts val="1100"/>
              </a:spcAft>
              <a:buChar char="•"/>
            </a:pPr>
            <a:r>
              <a:rPr sz="1400" b="0" i="0" dirty="0">
                <a:solidFill>
                  <a:srgbClr val="262626"/>
                </a:solidFill>
                <a:latin typeface="Calibri"/>
              </a:rPr>
              <a:t>Unter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praktisch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allen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plausiblen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Annahmen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amortisiert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sich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die Investition</a:t>
            </a:r>
          </a:p>
          <a:p>
            <a:pPr marL="214000" indent="-214000" algn="l">
              <a:lnSpc>
                <a:spcPct val="106000"/>
              </a:lnSpc>
              <a:spcAft>
                <a:spcPts val="1100"/>
              </a:spcAft>
              <a:buChar char="•"/>
            </a:pPr>
            <a:r>
              <a:rPr sz="1400" b="0" i="0" dirty="0" err="1">
                <a:solidFill>
                  <a:srgbClr val="262626"/>
                </a:solidFill>
                <a:latin typeface="Calibri"/>
              </a:rPr>
              <a:t>Nutzenseite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(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Auslastung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, Tarif)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dominiert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das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Ergebnis</a:t>
            </a:r>
            <a:endParaRPr sz="1400" b="0" i="0" dirty="0">
              <a:solidFill>
                <a:srgbClr val="262626"/>
              </a:solidFill>
              <a:latin typeface="Calibri"/>
            </a:endParaRPr>
          </a:p>
          <a:p>
            <a:pPr marL="214000" indent="-214000" algn="l">
              <a:lnSpc>
                <a:spcPct val="106000"/>
              </a:lnSpc>
              <a:spcAft>
                <a:spcPts val="1100"/>
              </a:spcAft>
              <a:buChar char="•"/>
            </a:pPr>
            <a:r>
              <a:rPr sz="1400" b="0" i="0" dirty="0" err="1">
                <a:solidFill>
                  <a:srgbClr val="262626"/>
                </a:solidFill>
                <a:latin typeface="Calibri"/>
              </a:rPr>
              <a:t>Skaleneffekt</a:t>
            </a:r>
            <a:endParaRPr lang="de-AT" sz="1400" dirty="0">
              <a:solidFill>
                <a:srgbClr val="262626"/>
              </a:solidFill>
              <a:latin typeface="Calibri"/>
            </a:endParaRPr>
          </a:p>
          <a:p>
            <a:pPr marL="671200" lvl="1" indent="-214000">
              <a:lnSpc>
                <a:spcPct val="106000"/>
              </a:lnSpc>
              <a:spcAft>
                <a:spcPts val="1100"/>
              </a:spcAft>
              <a:buChar char="•"/>
            </a:pPr>
            <a:r>
              <a:rPr sz="1400" b="0" i="0" dirty="0">
                <a:solidFill>
                  <a:srgbClr val="262626"/>
                </a:solidFill>
                <a:latin typeface="Calibri"/>
              </a:rPr>
              <a:t>OPEX je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Stellplatz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sinkt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mit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der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Größe</a:t>
            </a:r>
            <a:endParaRPr sz="1400" b="0" i="0" dirty="0">
              <a:solidFill>
                <a:srgbClr val="262626"/>
              </a:solidFill>
              <a:latin typeface="Calibri"/>
            </a:endParaRPr>
          </a:p>
          <a:p>
            <a:pPr marL="214000" indent="-214000" algn="l">
              <a:lnSpc>
                <a:spcPct val="106000"/>
              </a:lnSpc>
              <a:spcAft>
                <a:spcPts val="1100"/>
              </a:spcAft>
              <a:buChar char="•"/>
            </a:pPr>
            <a:r>
              <a:rPr sz="1400" b="0" i="0" dirty="0">
                <a:solidFill>
                  <a:srgbClr val="262626"/>
                </a:solidFill>
                <a:latin typeface="Calibri"/>
              </a:rPr>
              <a:t>Serverless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macht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OPEX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überhaupt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erst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belastbar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erfassbar</a:t>
            </a:r>
            <a:endParaRPr sz="1400" b="0" i="0" dirty="0">
              <a:solidFill>
                <a:srgbClr val="262626"/>
              </a:solidFill>
              <a:latin typeface="Calibri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6172200" y="1783080"/>
            <a:ext cx="5440680" cy="406908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64808" y="2011680"/>
            <a:ext cx="48920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ED7D31"/>
                </a:solidFill>
                <a:latin typeface="Calibri"/>
              </a:rPr>
              <a:t>Limitationen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64808" y="2505456"/>
            <a:ext cx="4873752" cy="19248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14000" indent="-214000" algn="l">
              <a:lnSpc>
                <a:spcPct val="106000"/>
              </a:lnSpc>
              <a:spcAft>
                <a:spcPts val="1100"/>
              </a:spcAft>
              <a:buChar char="•"/>
            </a:pPr>
            <a:r>
              <a:rPr sz="1400" b="0" i="0" dirty="0" err="1">
                <a:solidFill>
                  <a:srgbClr val="262626"/>
                </a:solidFill>
                <a:latin typeface="Calibri"/>
              </a:rPr>
              <a:t>Modellierte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statt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langfristig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gemessene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Cloud-Kosten</a:t>
            </a:r>
          </a:p>
          <a:p>
            <a:pPr marL="214000" indent="-214000" algn="l">
              <a:lnSpc>
                <a:spcPct val="106000"/>
              </a:lnSpc>
              <a:spcAft>
                <a:spcPts val="1100"/>
              </a:spcAft>
              <a:buChar char="•"/>
            </a:pPr>
            <a:r>
              <a:rPr sz="1400" b="0" i="0" dirty="0" err="1">
                <a:solidFill>
                  <a:srgbClr val="262626"/>
                </a:solidFill>
                <a:latin typeface="Calibri"/>
              </a:rPr>
              <a:t>Nutzen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über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vollen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Tarif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angesetzt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→ ROI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überschätzt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; Break-Even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ist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die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belastbare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Aussage</a:t>
            </a:r>
            <a:endParaRPr sz="1400" b="0" i="0" dirty="0">
              <a:solidFill>
                <a:srgbClr val="262626"/>
              </a:solidFill>
              <a:latin typeface="Calibri"/>
            </a:endParaRPr>
          </a:p>
          <a:p>
            <a:pPr marL="214000" indent="-214000" algn="l">
              <a:lnSpc>
                <a:spcPct val="106000"/>
              </a:lnSpc>
              <a:spcAft>
                <a:spcPts val="1100"/>
              </a:spcAft>
              <a:buChar char="•"/>
            </a:pPr>
            <a:r>
              <a:rPr sz="1400" b="0" i="0" dirty="0">
                <a:solidFill>
                  <a:srgbClr val="262626"/>
                </a:solidFill>
                <a:latin typeface="Calibri"/>
              </a:rPr>
              <a:t>Kein Sensor-Benchmark,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keine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Endnutzerstudie</a:t>
            </a:r>
            <a:endParaRPr sz="1400" b="0" i="0" dirty="0">
              <a:solidFill>
                <a:srgbClr val="262626"/>
              </a:solidFill>
              <a:latin typeface="Calibri"/>
            </a:endParaRPr>
          </a:p>
          <a:p>
            <a:pPr marL="214000" indent="-214000" algn="l">
              <a:lnSpc>
                <a:spcPct val="106000"/>
              </a:lnSpc>
              <a:spcAft>
                <a:spcPts val="1100"/>
              </a:spcAft>
              <a:buChar char="•"/>
            </a:pPr>
            <a:r>
              <a:rPr sz="1400" b="0" i="0" dirty="0" err="1">
                <a:solidFill>
                  <a:srgbClr val="262626"/>
                </a:solidFill>
                <a:latin typeface="Calibri"/>
              </a:rPr>
              <a:t>Sicherheitseffekte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nur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qualitativ</a:t>
            </a:r>
            <a:r>
              <a:rPr lang="en-US" sz="1400" b="0" i="0" dirty="0">
                <a:solidFill>
                  <a:srgbClr val="262626"/>
                </a:solidFill>
                <a:latin typeface="Calibri"/>
              </a:rPr>
              <a:t>e</a:t>
            </a:r>
            <a:endParaRPr lang="de-AT" sz="1400" dirty="0">
              <a:solidFill>
                <a:srgbClr val="262626"/>
              </a:solidFill>
              <a:latin typeface="Calibri"/>
            </a:endParaRPr>
          </a:p>
          <a:p>
            <a:pPr marL="671200" lvl="1" indent="-214000">
              <a:lnSpc>
                <a:spcPct val="106000"/>
              </a:lnSpc>
              <a:spcAft>
                <a:spcPts val="1100"/>
              </a:spcAft>
              <a:buChar char="•"/>
            </a:pPr>
            <a:r>
              <a:rPr sz="1400" b="0" i="0" dirty="0" err="1">
                <a:solidFill>
                  <a:srgbClr val="262626"/>
                </a:solidFill>
                <a:latin typeface="Calibri"/>
              </a:rPr>
              <a:t>Ergebnis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hängt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an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offen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dokumentierten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Annahmen</a:t>
            </a:r>
            <a:endParaRPr sz="1400" b="0" i="0" dirty="0">
              <a:solidFill>
                <a:srgbClr val="262626"/>
              </a:solidFill>
              <a:latin typeface="Calibri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6437376"/>
            <a:ext cx="82296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900" b="0" i="0" dirty="0">
                <a:solidFill>
                  <a:srgbClr val="7F7F7F"/>
                </a:solidFill>
                <a:latin typeface="Calibri"/>
              </a:rPr>
              <a:t>Drive &amp; Decide · Seier &amp; Zankl · </a:t>
            </a:r>
            <a:r>
              <a:rPr lang="de-AT" sz="900" dirty="0">
                <a:solidFill>
                  <a:srgbClr val="7F7F7F"/>
                </a:solidFill>
              </a:rPr>
              <a:t>Hochschule</a:t>
            </a:r>
            <a:r>
              <a:rPr sz="900" b="0" i="0" dirty="0">
                <a:solidFill>
                  <a:srgbClr val="7F7F7F"/>
                </a:solidFill>
                <a:latin typeface="Calibri"/>
              </a:rPr>
              <a:t> Burgenland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37376"/>
            <a:ext cx="6400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7F7F7F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45720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4472C4"/>
                </a:solidFill>
                <a:latin typeface="Calibri"/>
              </a:rPr>
              <a:t>FAZIT &amp; AUSBLICK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86384"/>
            <a:ext cx="109728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 i="0">
                <a:solidFill>
                  <a:srgbClr val="262626"/>
                </a:solidFill>
                <a:latin typeface="Calibri Light"/>
              </a:rPr>
              <a:t>Investitionsentscheidung auf belastbarer Basis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783080"/>
            <a:ext cx="11018520" cy="1554480"/>
          </a:xfrm>
          <a:prstGeom prst="roundRect">
            <a:avLst>
              <a:gd name="adj" fmla="val 6000"/>
            </a:avLst>
          </a:prstGeom>
          <a:solidFill>
            <a:srgbClr val="447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fl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057400"/>
            <a:ext cx="1005840" cy="1005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148840" y="2318857"/>
            <a:ext cx="9189720" cy="51950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600" b="1" i="0" dirty="0" err="1">
                <a:solidFill>
                  <a:srgbClr val="FFFFFF"/>
                </a:solidFill>
                <a:latin typeface="Calibri"/>
              </a:rPr>
              <a:t>Investitionsentscheidungen</a:t>
            </a:r>
            <a:r>
              <a:rPr sz="1600" b="1" i="0" dirty="0">
                <a:solidFill>
                  <a:srgbClr val="FFFFFF"/>
                </a:solidFill>
                <a:latin typeface="Calibri"/>
              </a:rPr>
              <a:t> für </a:t>
            </a:r>
            <a:r>
              <a:rPr sz="1600" b="1" i="0" dirty="0" err="1">
                <a:solidFill>
                  <a:srgbClr val="FFFFFF"/>
                </a:solidFill>
                <a:latin typeface="Calibri"/>
              </a:rPr>
              <a:t>ein</a:t>
            </a:r>
            <a:r>
              <a:rPr sz="1600" b="1" i="0" dirty="0">
                <a:solidFill>
                  <a:srgbClr val="FFFFFF"/>
                </a:solidFill>
                <a:latin typeface="Calibri"/>
              </a:rPr>
              <a:t> Smart-Parking-System </a:t>
            </a:r>
            <a:r>
              <a:rPr sz="1600" b="1" i="0" dirty="0" err="1">
                <a:solidFill>
                  <a:srgbClr val="FFFFFF"/>
                </a:solidFill>
                <a:latin typeface="Calibri"/>
              </a:rPr>
              <a:t>sollten</a:t>
            </a:r>
            <a:r>
              <a:rPr sz="1600" b="1" i="0" dirty="0">
                <a:solidFill>
                  <a:srgbClr val="FFFFFF"/>
                </a:solidFill>
                <a:latin typeface="Calibri"/>
              </a:rPr>
              <a:t> auf TCO, ROI und Break-Even </a:t>
            </a:r>
            <a:r>
              <a:rPr sz="1600" b="1" i="0" dirty="0" err="1">
                <a:solidFill>
                  <a:srgbClr val="FFFFFF"/>
                </a:solidFill>
                <a:latin typeface="Calibri"/>
              </a:rPr>
              <a:t>beruhen</a:t>
            </a:r>
            <a:r>
              <a:rPr lang="de-AT" sz="1600" b="1" dirty="0">
                <a:solidFill>
                  <a:srgbClr val="FFFFFF"/>
                </a:solidFill>
                <a:latin typeface="Calibri"/>
              </a:rPr>
              <a:t>:</a:t>
            </a:r>
            <a:r>
              <a:rPr sz="1600"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lang="de-AT" sz="1600" b="1" i="0" dirty="0">
                <a:solidFill>
                  <a:srgbClr val="FFFFFF"/>
                </a:solidFill>
                <a:latin typeface="Calibri"/>
              </a:rPr>
              <a:t>S</a:t>
            </a:r>
            <a:r>
              <a:rPr sz="1600" b="1" i="0" dirty="0" err="1">
                <a:solidFill>
                  <a:srgbClr val="FFFFFF"/>
                </a:solidFill>
                <a:latin typeface="Calibri"/>
              </a:rPr>
              <a:t>erverless</a:t>
            </a:r>
            <a:r>
              <a:rPr sz="1600" b="1" i="0" dirty="0">
                <a:solidFill>
                  <a:srgbClr val="FFFFFF"/>
                </a:solidFill>
                <a:latin typeface="Calibri"/>
              </a:rPr>
              <a:t>, </a:t>
            </a:r>
            <a:r>
              <a:rPr sz="1600" b="1" i="0" dirty="0" err="1">
                <a:solidFill>
                  <a:srgbClr val="FFFFFF"/>
                </a:solidFill>
                <a:latin typeface="Calibri"/>
              </a:rPr>
              <a:t>ereignisgetriebenes</a:t>
            </a:r>
            <a:r>
              <a:rPr sz="1600" b="1" i="0" dirty="0">
                <a:solidFill>
                  <a:srgbClr val="FFFFFF"/>
                </a:solidFill>
                <a:latin typeface="Calibri"/>
              </a:rPr>
              <a:t> Design </a:t>
            </a:r>
            <a:r>
              <a:rPr sz="1600" b="1" i="0" dirty="0" err="1">
                <a:solidFill>
                  <a:srgbClr val="FFFFFF"/>
                </a:solidFill>
                <a:latin typeface="Calibri"/>
              </a:rPr>
              <a:t>ist</a:t>
            </a:r>
            <a:r>
              <a:rPr sz="1600" b="1" i="0" dirty="0">
                <a:solidFill>
                  <a:srgbClr val="FFFFFF"/>
                </a:solidFill>
                <a:latin typeface="Calibri"/>
              </a:rPr>
              <a:t> die </a:t>
            </a:r>
            <a:r>
              <a:rPr sz="1600" b="1" i="0" dirty="0" err="1">
                <a:solidFill>
                  <a:srgbClr val="FFFFFF"/>
                </a:solidFill>
                <a:latin typeface="Calibri"/>
              </a:rPr>
              <a:t>Voraussetzung</a:t>
            </a:r>
            <a:r>
              <a:rPr sz="1600" b="1" i="0" dirty="0">
                <a:solidFill>
                  <a:srgbClr val="FFFFFF"/>
                </a:solidFill>
                <a:latin typeface="Calibri"/>
              </a:rPr>
              <a:t> für </a:t>
            </a:r>
            <a:r>
              <a:rPr sz="1600" b="1" i="0" dirty="0" err="1">
                <a:solidFill>
                  <a:srgbClr val="FFFFFF"/>
                </a:solidFill>
                <a:latin typeface="Calibri"/>
              </a:rPr>
              <a:t>belastbare</a:t>
            </a:r>
            <a:r>
              <a:rPr sz="1600"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600" b="1" i="0" dirty="0" err="1">
                <a:solidFill>
                  <a:srgbClr val="FFFFFF"/>
                </a:solidFill>
                <a:latin typeface="Calibri"/>
              </a:rPr>
              <a:t>laufende</a:t>
            </a:r>
            <a:r>
              <a:rPr sz="1600" b="1" i="0" dirty="0">
                <a:solidFill>
                  <a:srgbClr val="FFFFFF"/>
                </a:solidFill>
                <a:latin typeface="Calibri"/>
              </a:rPr>
              <a:t> Kosten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611880"/>
            <a:ext cx="110185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44546A"/>
                </a:solidFill>
                <a:latin typeface="Calibri"/>
              </a:rPr>
              <a:t>Ausblick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4114800"/>
            <a:ext cx="5440680" cy="73152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758952" y="4279392"/>
            <a:ext cx="402336" cy="402336"/>
          </a:xfrm>
          <a:prstGeom prst="ellipse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 Light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07592" y="4206240"/>
            <a:ext cx="452628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62626"/>
                </a:solidFill>
                <a:latin typeface="Calibri"/>
              </a:rPr>
              <a:t>Reale Messreihen statt modellierter OPEX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4114800"/>
            <a:ext cx="5440680" cy="73152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6336792" y="4279392"/>
            <a:ext cx="402336" cy="402336"/>
          </a:xfrm>
          <a:prstGeom prst="ellipse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 Light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85432" y="4206240"/>
            <a:ext cx="452628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62626"/>
                </a:solidFill>
                <a:latin typeface="Calibri"/>
              </a:rPr>
              <a:t>Feldstudie zum tatsächlichen Auslastungseffekt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4983480"/>
            <a:ext cx="5440680" cy="73152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758952" y="5148072"/>
            <a:ext cx="402336" cy="402336"/>
          </a:xfrm>
          <a:prstGeom prst="ellipse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 Light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7592" y="5074920"/>
            <a:ext cx="452628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62626"/>
                </a:solidFill>
                <a:latin typeface="Calibri"/>
              </a:rPr>
              <a:t>Mehr Sensoren/Stellplätze, robustere Sensorik (ToF)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4983480"/>
            <a:ext cx="5440680" cy="73152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6336792" y="5148072"/>
            <a:ext cx="402336" cy="402336"/>
          </a:xfrm>
          <a:prstGeom prst="ellipse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 Light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85432" y="5074920"/>
            <a:ext cx="452628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62626"/>
                </a:solidFill>
                <a:latin typeface="Calibri"/>
              </a:rPr>
              <a:t>Navigations-Anbindung und dynamische Tarife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37376"/>
            <a:ext cx="82296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900" b="0" i="0" dirty="0">
                <a:solidFill>
                  <a:srgbClr val="7F7F7F"/>
                </a:solidFill>
                <a:latin typeface="Calibri"/>
              </a:rPr>
              <a:t>Drive &amp; Decide · Seier &amp; Zankl · </a:t>
            </a:r>
            <a:r>
              <a:rPr lang="de-AT" sz="900" dirty="0">
                <a:solidFill>
                  <a:srgbClr val="7F7F7F"/>
                </a:solidFill>
              </a:rPr>
              <a:t>Hochschule</a:t>
            </a:r>
            <a:r>
              <a:rPr sz="900" b="0" i="0" dirty="0">
                <a:solidFill>
                  <a:srgbClr val="7F7F7F"/>
                </a:solidFill>
                <a:latin typeface="Calibri"/>
              </a:rPr>
              <a:t> Burgenland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0" y="6437376"/>
            <a:ext cx="6400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7F7F7F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45720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4472C4"/>
                </a:solidFill>
                <a:latin typeface="Calibri"/>
              </a:rPr>
              <a:t>BACKUP &amp; QUELLEN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86384"/>
            <a:ext cx="109728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 i="0">
                <a:solidFill>
                  <a:srgbClr val="262626"/>
                </a:solidFill>
                <a:latin typeface="Calibri Light"/>
              </a:rPr>
              <a:t>Für Rückfragen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920240"/>
            <a:ext cx="4937760" cy="22138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28600" indent="-228600" algn="l">
              <a:lnSpc>
                <a:spcPct val="105000"/>
              </a:lnSpc>
              <a:spcAft>
                <a:spcPts val="1200"/>
              </a:spcAft>
              <a:buChar char="•"/>
            </a:pPr>
            <a:r>
              <a:rPr sz="1500" b="0" i="0" dirty="0">
                <a:solidFill>
                  <a:srgbClr val="262626"/>
                </a:solidFill>
                <a:latin typeface="Calibri"/>
              </a:rPr>
              <a:t>Ampel-</a:t>
            </a:r>
            <a:r>
              <a:rPr sz="1500" b="0" i="0" dirty="0" err="1">
                <a:solidFill>
                  <a:srgbClr val="262626"/>
                </a:solidFill>
                <a:latin typeface="Calibri"/>
              </a:rPr>
              <a:t>Schwellen</a:t>
            </a:r>
            <a:r>
              <a:rPr sz="1500" b="0" i="0" dirty="0">
                <a:solidFill>
                  <a:srgbClr val="262626"/>
                </a:solidFill>
                <a:latin typeface="Calibri"/>
              </a:rPr>
              <a:t> &amp; </a:t>
            </a:r>
            <a:r>
              <a:rPr sz="1500" b="0" i="0" dirty="0" err="1">
                <a:solidFill>
                  <a:srgbClr val="262626"/>
                </a:solidFill>
                <a:latin typeface="Calibri"/>
              </a:rPr>
              <a:t>Aggregationslogik</a:t>
            </a:r>
            <a:endParaRPr sz="1500" b="0" i="0" dirty="0">
              <a:solidFill>
                <a:srgbClr val="262626"/>
              </a:solidFill>
              <a:latin typeface="Calibri"/>
            </a:endParaRPr>
          </a:p>
          <a:p>
            <a:pPr marL="228600" indent="-228600" algn="l">
              <a:lnSpc>
                <a:spcPct val="105000"/>
              </a:lnSpc>
              <a:spcAft>
                <a:spcPts val="1200"/>
              </a:spcAft>
              <a:buChar char="•"/>
            </a:pPr>
            <a:r>
              <a:rPr sz="1500" b="0" i="0" dirty="0">
                <a:solidFill>
                  <a:srgbClr val="262626"/>
                </a:solidFill>
                <a:latin typeface="Calibri"/>
              </a:rPr>
              <a:t>Contract</a:t>
            </a:r>
            <a:endParaRPr lang="de-AT" sz="1500" dirty="0">
              <a:solidFill>
                <a:srgbClr val="262626"/>
              </a:solidFill>
              <a:latin typeface="Calibri"/>
            </a:endParaRPr>
          </a:p>
          <a:p>
            <a:pPr marL="685800" lvl="1" indent="-228600">
              <a:lnSpc>
                <a:spcPct val="105000"/>
              </a:lnSpc>
              <a:spcAft>
                <a:spcPts val="1200"/>
              </a:spcAft>
              <a:buChar char="•"/>
            </a:pPr>
            <a:r>
              <a:rPr sz="1500" b="0" i="0" dirty="0">
                <a:solidFill>
                  <a:srgbClr val="262626"/>
                </a:solidFill>
                <a:latin typeface="Calibri"/>
              </a:rPr>
              <a:t>Topic-Schema + JSON-</a:t>
            </a:r>
            <a:r>
              <a:rPr sz="1500" b="0" i="0" dirty="0" err="1">
                <a:solidFill>
                  <a:srgbClr val="262626"/>
                </a:solidFill>
                <a:latin typeface="Calibri"/>
              </a:rPr>
              <a:t>Nachricht</a:t>
            </a:r>
            <a:endParaRPr sz="1500" b="0" i="0" dirty="0">
              <a:solidFill>
                <a:srgbClr val="262626"/>
              </a:solidFill>
              <a:latin typeface="Calibri"/>
            </a:endParaRPr>
          </a:p>
          <a:p>
            <a:pPr marL="228600" indent="-228600" algn="l">
              <a:lnSpc>
                <a:spcPct val="105000"/>
              </a:lnSpc>
              <a:spcAft>
                <a:spcPts val="1200"/>
              </a:spcAft>
              <a:buChar char="•"/>
            </a:pPr>
            <a:r>
              <a:rPr sz="1500" b="0" i="0" dirty="0">
                <a:solidFill>
                  <a:srgbClr val="262626"/>
                </a:solidFill>
                <a:latin typeface="Calibri"/>
              </a:rPr>
              <a:t>IoT-Policy (</a:t>
            </a:r>
            <a:r>
              <a:rPr sz="1500" b="0" i="0" dirty="0" err="1">
                <a:solidFill>
                  <a:srgbClr val="262626"/>
                </a:solidFill>
                <a:latin typeface="Calibri"/>
              </a:rPr>
              <a:t>nur</a:t>
            </a:r>
            <a:r>
              <a:rPr sz="1500" b="0" i="0" dirty="0">
                <a:solidFill>
                  <a:srgbClr val="262626"/>
                </a:solidFill>
                <a:latin typeface="Calibri"/>
              </a:rPr>
              <a:t> Connect + Publish)</a:t>
            </a:r>
          </a:p>
          <a:p>
            <a:pPr marL="228600" indent="-228600" algn="l">
              <a:lnSpc>
                <a:spcPct val="105000"/>
              </a:lnSpc>
              <a:spcAft>
                <a:spcPts val="1200"/>
              </a:spcAft>
              <a:buChar char="•"/>
            </a:pPr>
            <a:r>
              <a:rPr sz="1500" b="0" i="0" dirty="0" err="1">
                <a:solidFill>
                  <a:srgbClr val="262626"/>
                </a:solidFill>
                <a:latin typeface="Calibri"/>
              </a:rPr>
              <a:t>Lastprofile</a:t>
            </a:r>
            <a:r>
              <a:rPr sz="1500" b="0" i="0" dirty="0">
                <a:solidFill>
                  <a:srgbClr val="262626"/>
                </a:solidFill>
                <a:latin typeface="Calibri"/>
              </a:rPr>
              <a:t> &amp; </a:t>
            </a:r>
            <a:r>
              <a:rPr sz="1500" b="0" i="0" dirty="0" err="1">
                <a:solidFill>
                  <a:srgbClr val="262626"/>
                </a:solidFill>
                <a:latin typeface="Calibri"/>
              </a:rPr>
              <a:t>awsUsageEstimate</a:t>
            </a:r>
            <a:r>
              <a:rPr sz="1500" b="0" i="0" dirty="0">
                <a:solidFill>
                  <a:srgbClr val="262626"/>
                </a:solidFill>
                <a:latin typeface="Calibri"/>
              </a:rPr>
              <a:t>-Manifest</a:t>
            </a:r>
          </a:p>
          <a:p>
            <a:pPr marL="228600" indent="-228600" algn="l">
              <a:lnSpc>
                <a:spcPct val="105000"/>
              </a:lnSpc>
              <a:spcAft>
                <a:spcPts val="1200"/>
              </a:spcAft>
              <a:buChar char="•"/>
            </a:pPr>
            <a:r>
              <a:rPr sz="1500" b="0" i="0" dirty="0" err="1">
                <a:solidFill>
                  <a:srgbClr val="262626"/>
                </a:solidFill>
                <a:latin typeface="Calibri"/>
              </a:rPr>
              <a:t>Quellenverzeichnis</a:t>
            </a:r>
            <a:r>
              <a:rPr sz="1500" b="0" i="0" dirty="0">
                <a:solidFill>
                  <a:srgbClr val="262626"/>
                </a:solidFill>
                <a:latin typeface="Calibri"/>
              </a:rPr>
              <a:t> (</a:t>
            </a:r>
            <a:r>
              <a:rPr sz="1500" b="0" i="0" dirty="0" err="1">
                <a:solidFill>
                  <a:srgbClr val="262626"/>
                </a:solidFill>
                <a:latin typeface="Calibri"/>
              </a:rPr>
              <a:t>references.bib</a:t>
            </a:r>
            <a:r>
              <a:rPr sz="1500" b="0" i="0" dirty="0">
                <a:solidFill>
                  <a:srgbClr val="262626"/>
                </a:solidFill>
                <a:latin typeface="Calibri"/>
              </a:rPr>
              <a:t>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42746041"/>
              </p:ext>
            </p:extLst>
          </p:nvPr>
        </p:nvGraphicFramePr>
        <p:xfrm>
          <a:off x="5806440" y="1920240"/>
          <a:ext cx="5806436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44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7441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7441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7441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Szenario</a:t>
                      </a:r>
                    </a:p>
                  </a:txBody>
                  <a:tcPr marL="73152" marR="54864" marT="36576" marB="36576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CAPEX</a:t>
                      </a:r>
                    </a:p>
                  </a:txBody>
                  <a:tcPr marL="73152" marR="54864" marT="36576" marB="36576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OPEX/J.</a:t>
                      </a:r>
                    </a:p>
                  </a:txBody>
                  <a:tcPr marL="73152" marR="54864" marT="36576" marB="36576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TCO 5J.</a:t>
                      </a:r>
                    </a:p>
                  </a:txBody>
                  <a:tcPr marL="73152" marR="54864" marT="36576" marB="36576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Break-Even</a:t>
                      </a:r>
                    </a:p>
                  </a:txBody>
                  <a:tcPr marL="73152" marR="54864" marT="36576" marB="36576" anchor="ctr">
                    <a:solidFill>
                      <a:srgbClr val="4472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200" dirty="0">
                          <a:solidFill>
                            <a:srgbClr val="262626"/>
                          </a:solidFill>
                          <a:latin typeface="Calibri"/>
                        </a:rPr>
                        <a:t>200 </a:t>
                      </a:r>
                      <a:r>
                        <a:rPr sz="1200" dirty="0" err="1">
                          <a:solidFill>
                            <a:srgbClr val="262626"/>
                          </a:solidFill>
                          <a:latin typeface="Calibri"/>
                        </a:rPr>
                        <a:t>Stellpl</a:t>
                      </a:r>
                      <a:r>
                        <a:rPr lang="de-AT" sz="1200" dirty="0">
                          <a:solidFill>
                            <a:srgbClr val="262626"/>
                          </a:solidFill>
                          <a:latin typeface="Calibri"/>
                        </a:rPr>
                        <a:t>ätze</a:t>
                      </a:r>
                      <a:endParaRPr sz="1200" dirty="0">
                        <a:solidFill>
                          <a:srgbClr val="262626"/>
                        </a:solidFill>
                        <a:latin typeface="Calibri"/>
                      </a:endParaRPr>
                    </a:p>
                  </a:txBody>
                  <a:tcPr marL="73152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62626"/>
                          </a:solidFill>
                          <a:latin typeface="Calibri"/>
                        </a:rPr>
                        <a:t>7.616 €</a:t>
                      </a:r>
                    </a:p>
                  </a:txBody>
                  <a:tcPr marL="73152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62626"/>
                          </a:solidFill>
                          <a:latin typeface="Calibri"/>
                        </a:rPr>
                        <a:t>468 €</a:t>
                      </a:r>
                    </a:p>
                  </a:txBody>
                  <a:tcPr marL="73152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62626"/>
                          </a:solidFill>
                          <a:latin typeface="Calibri"/>
                        </a:rPr>
                        <a:t>9.958 €</a:t>
                      </a:r>
                    </a:p>
                  </a:txBody>
                  <a:tcPr marL="73152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62626"/>
                          </a:solidFill>
                          <a:latin typeface="Calibri"/>
                        </a:rPr>
                        <a:t>0,04 pp</a:t>
                      </a:r>
                    </a:p>
                  </a:txBody>
                  <a:tcPr marL="73152" marR="54864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200" dirty="0">
                          <a:solidFill>
                            <a:srgbClr val="262626"/>
                          </a:solidFill>
                          <a:latin typeface="Calibri"/>
                        </a:rPr>
                        <a:t>400 </a:t>
                      </a:r>
                      <a:r>
                        <a:rPr sz="1200" dirty="0" err="1">
                          <a:solidFill>
                            <a:srgbClr val="262626"/>
                          </a:solidFill>
                          <a:latin typeface="Calibri"/>
                        </a:rPr>
                        <a:t>Stellpl</a:t>
                      </a:r>
                      <a:r>
                        <a:rPr lang="de-AT" sz="1200" dirty="0">
                          <a:solidFill>
                            <a:srgbClr val="262626"/>
                          </a:solidFill>
                          <a:latin typeface="Calibri"/>
                        </a:rPr>
                        <a:t>ätze</a:t>
                      </a:r>
                      <a:endParaRPr sz="1200" dirty="0">
                        <a:solidFill>
                          <a:srgbClr val="262626"/>
                        </a:solidFill>
                        <a:latin typeface="Calibri"/>
                      </a:endParaRPr>
                    </a:p>
                  </a:txBody>
                  <a:tcPr marL="73152" marR="54864" marT="36576" marB="36576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62626"/>
                          </a:solidFill>
                          <a:latin typeface="Calibri"/>
                        </a:rPr>
                        <a:t>11.720 €</a:t>
                      </a:r>
                    </a:p>
                  </a:txBody>
                  <a:tcPr marL="73152" marR="54864" marT="36576" marB="36576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62626"/>
                          </a:solidFill>
                          <a:latin typeface="Calibri"/>
                        </a:rPr>
                        <a:t>748 €</a:t>
                      </a:r>
                    </a:p>
                  </a:txBody>
                  <a:tcPr marL="73152" marR="54864" marT="36576" marB="36576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62626"/>
                          </a:solidFill>
                          <a:latin typeface="Calibri"/>
                        </a:rPr>
                        <a:t>15.461 €</a:t>
                      </a:r>
                    </a:p>
                  </a:txBody>
                  <a:tcPr marL="73152" marR="54864" marT="36576" marB="36576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62626"/>
                          </a:solidFill>
                          <a:latin typeface="Calibri"/>
                        </a:rPr>
                        <a:t>0,03 pp</a:t>
                      </a:r>
                    </a:p>
                  </a:txBody>
                  <a:tcPr marL="73152" marR="54864" marT="36576" marB="36576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200" dirty="0">
                          <a:solidFill>
                            <a:srgbClr val="262626"/>
                          </a:solidFill>
                          <a:latin typeface="Calibri"/>
                        </a:rPr>
                        <a:t>500 </a:t>
                      </a:r>
                      <a:r>
                        <a:rPr sz="1200" dirty="0" err="1">
                          <a:solidFill>
                            <a:srgbClr val="262626"/>
                          </a:solidFill>
                          <a:latin typeface="Calibri"/>
                        </a:rPr>
                        <a:t>Stellpl</a:t>
                      </a:r>
                      <a:r>
                        <a:rPr lang="de-AT" sz="1200" dirty="0">
                          <a:solidFill>
                            <a:srgbClr val="262626"/>
                          </a:solidFill>
                          <a:latin typeface="Calibri"/>
                        </a:rPr>
                        <a:t>ätze</a:t>
                      </a:r>
                      <a:endParaRPr sz="1200" dirty="0">
                        <a:solidFill>
                          <a:srgbClr val="262626"/>
                        </a:solidFill>
                        <a:latin typeface="Calibri"/>
                      </a:endParaRPr>
                    </a:p>
                  </a:txBody>
                  <a:tcPr marL="73152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62626"/>
                          </a:solidFill>
                          <a:latin typeface="Calibri"/>
                        </a:rPr>
                        <a:t>13.784 €</a:t>
                      </a:r>
                    </a:p>
                  </a:txBody>
                  <a:tcPr marL="73152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62626"/>
                          </a:solidFill>
                          <a:latin typeface="Calibri"/>
                        </a:rPr>
                        <a:t>891 €</a:t>
                      </a:r>
                    </a:p>
                  </a:txBody>
                  <a:tcPr marL="73152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62626"/>
                          </a:solidFill>
                          <a:latin typeface="Calibri"/>
                        </a:rPr>
                        <a:t>18.241 €</a:t>
                      </a:r>
                    </a:p>
                  </a:txBody>
                  <a:tcPr marL="73152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262626"/>
                          </a:solidFill>
                          <a:latin typeface="Calibri"/>
                        </a:rPr>
                        <a:t>0,03 pp</a:t>
                      </a:r>
                    </a:p>
                  </a:txBody>
                  <a:tcPr marL="73152" marR="54864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806440" y="4389120"/>
            <a:ext cx="5806440" cy="1769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1" dirty="0" err="1">
                <a:solidFill>
                  <a:srgbClr val="7F7F7F"/>
                </a:solidFill>
                <a:latin typeface="Calibri"/>
              </a:rPr>
              <a:t>Kennzahlen</a:t>
            </a:r>
            <a:r>
              <a:rPr sz="1150" b="0" i="1" dirty="0">
                <a:solidFill>
                  <a:srgbClr val="7F7F7F"/>
                </a:solidFill>
                <a:latin typeface="Calibri"/>
              </a:rPr>
              <a:t> je </a:t>
            </a:r>
            <a:r>
              <a:rPr sz="1150" b="0" i="1" dirty="0" err="1">
                <a:solidFill>
                  <a:srgbClr val="7F7F7F"/>
                </a:solidFill>
                <a:latin typeface="Calibri"/>
              </a:rPr>
              <a:t>Garagengröße</a:t>
            </a:r>
            <a:endParaRPr sz="1150" b="0" i="1" dirty="0">
              <a:solidFill>
                <a:srgbClr val="7F7F7F"/>
              </a:solidFill>
              <a:latin typeface="Calibr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6437376"/>
            <a:ext cx="82296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900" b="0" i="0" dirty="0">
                <a:solidFill>
                  <a:srgbClr val="7F7F7F"/>
                </a:solidFill>
                <a:latin typeface="Calibri"/>
              </a:rPr>
              <a:t>Drive &amp; Decide · Seier &amp; Zankl · </a:t>
            </a:r>
            <a:r>
              <a:rPr lang="de-AT" sz="900" dirty="0">
                <a:solidFill>
                  <a:srgbClr val="7F7F7F"/>
                </a:solidFill>
              </a:rPr>
              <a:t>Hochschule</a:t>
            </a:r>
            <a:r>
              <a:rPr sz="900" b="0" i="0" dirty="0">
                <a:solidFill>
                  <a:srgbClr val="7F7F7F"/>
                </a:solidFill>
                <a:latin typeface="Calibri"/>
              </a:rPr>
              <a:t> Burgenland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37376"/>
            <a:ext cx="6400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7F7F7F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-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1154803_TF33787325_Win32" id="{A05DB3F5-BA6F-4664-A3B9-681B10D2394A}" vid="{175BBC83-BB1E-424A-B9B3-703D6939672C}"/>
    </a:ext>
  </a:extLst>
</a:theme>
</file>

<file path=ppt/theme/theme2.xml><?xml version="1.0" encoding="utf-8"?>
<a:theme xmlns:a="http://schemas.openxmlformats.org/drawingml/2006/main" name="Office-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-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Sicherheit für Testlabors</Template>
  <TotalTime>0</TotalTime>
  <Words>1147</Words>
  <Application>Microsoft Office PowerPoint</Application>
  <PresentationFormat>Breitbild</PresentationFormat>
  <Paragraphs>233</Paragraphs>
  <Slides>16</Slides>
  <Notes>9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16</vt:i4>
      </vt:variant>
    </vt:vector>
  </HeadingPairs>
  <TitlesOfParts>
    <vt:vector size="20" baseType="lpstr">
      <vt:lpstr>Arial</vt:lpstr>
      <vt:lpstr>Calibri</vt:lpstr>
      <vt:lpstr>Calibri Light</vt:lpstr>
      <vt:lpstr>Office-Design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Seier Maximilian</dc:creator>
  <cp:lastModifiedBy>Max Seier</cp:lastModifiedBy>
  <cp:revision>20</cp:revision>
  <dcterms:created xsi:type="dcterms:W3CDTF">2026-06-19T07:20:18Z</dcterms:created>
  <dcterms:modified xsi:type="dcterms:W3CDTF">2026-06-19T09:31:17Z</dcterms:modified>
</cp:coreProperties>
</file>