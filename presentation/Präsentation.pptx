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46" autoAdjust="0"/>
    <p:restoredTop sz="84939" autoAdjust="0"/>
  </p:normalViewPr>
  <p:slideViewPr>
    <p:cSldViewPr snapToGrid="0">
      <p:cViewPr varScale="1">
        <p:scale>
          <a:sx n="130" d="100"/>
          <a:sy n="130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CAPEX (einmalig)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200 Stellplätze</c:v>
                </c:pt>
                <c:pt idx="1">
                  <c:v>400 Stellplätze</c:v>
                </c:pt>
                <c:pt idx="2">
                  <c:v>500 Stellplätze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7616</c:v>
                </c:pt>
                <c:pt idx="1">
                  <c:v>11720</c:v>
                </c:pt>
                <c:pt idx="2">
                  <c:v>13784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8A5-6040-A939-A1EF9B7752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 (5 Jahre)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200 Stellplätze</c:v>
                </c:pt>
                <c:pt idx="1">
                  <c:v>400 Stellplätze</c:v>
                </c:pt>
                <c:pt idx="2">
                  <c:v>500 Stellplätze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2342</c:v>
                </c:pt>
                <c:pt idx="1">
                  <c:v>3741</c:v>
                </c:pt>
                <c:pt idx="2">
                  <c:v>4457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8A5-6040-A939-A1EF9B7752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Relativer Einfluss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A5A5A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EC2-B443-9671-A44E6E2F32A8}"/>
              </c:ext>
            </c:extLst>
          </c:dPt>
          <c:dPt>
            <c:idx val="1"/>
            <c:invertIfNegative val="1"/>
            <c:bubble3D val="0"/>
            <c:spPr>
              <a:solidFill>
                <a:srgbClr val="A5A5A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EC2-B443-9671-A44E6E2F32A8}"/>
              </c:ext>
            </c:extLst>
          </c:dPt>
          <c:dPt>
            <c:idx val="2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CEC2-B443-9671-A44E6E2F32A8}"/>
              </c:ext>
            </c:extLst>
          </c:dPt>
          <c:dPt>
            <c:idx val="3"/>
            <c:invertIfNegative val="1"/>
            <c:bubble3D val="0"/>
            <c:spPr>
              <a:solidFill>
                <a:srgbClr val="4472C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CEC2-B443-9671-A44E6E2F32A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Cloud-Ereignisrate</c:v>
                </c:pt>
                <c:pt idx="1">
                  <c:v>Sensor-Stückkosten</c:v>
                </c:pt>
                <c:pt idx="2">
                  <c:v>Auslastungssteigerung</c:v>
                </c:pt>
                <c:pt idx="3">
                  <c:v>Parktarif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</c:v>
                </c:pt>
                <c:pt idx="1">
                  <c:v>3.6</c:v>
                </c:pt>
                <c:pt idx="2">
                  <c:v>67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EC2-B443-9671-A44E6E2F32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0"/>
          <c:min val="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659A35A-B45A-471D-8798-A1F6346609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6CDBCFF-DB1C-4148-AE10-0009F0ABF6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762065D-B45E-4BF4-A742-865B9EF86310}" type="datetime1">
              <a:rPr lang="de-DE" smtClean="0"/>
              <a:t>19.06.26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624F19-BD09-4F8A-BEC3-5B4EC46FBB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6897F4-4C0C-4FAD-84FC-2E65224389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D4D6EF6-E2EF-452B-A550-B4BEBF67A7A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24847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7F2CF3-43BB-44F7-9FDD-3BD266557B3B}" type="datetime1">
              <a:rPr lang="de-DE" smtClean="0"/>
              <a:pPr/>
              <a:t>19.06.26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853816F-A1CF-4485-B308-1B9F14B36EAD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7268391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853816F-A1CF-4485-B308-1B9F14B36EAD}" type="slidenum">
              <a:rPr lang="de-DE" noProof="0" smtClean="0"/>
              <a:t>3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645077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853816F-A1CF-4485-B308-1B9F14B36EAD}" type="slidenum">
              <a:rPr lang="de-DE" noProof="0" smtClean="0"/>
              <a:t>5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592733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853816F-A1CF-4485-B308-1B9F14B36EAD}" type="slidenum">
              <a:rPr lang="de-DE" noProof="0" smtClean="0"/>
              <a:t>6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237744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853816F-A1CF-4485-B308-1B9F14B36EAD}" type="slidenum">
              <a:rPr lang="de-DE" noProof="0" smtClean="0"/>
              <a:t>7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652727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853816F-A1CF-4485-B308-1B9F14B36EAD}" type="slidenum">
              <a:rPr lang="de-DE" noProof="0" smtClean="0"/>
              <a:t>10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642800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853816F-A1CF-4485-B308-1B9F14B36EAD}" type="slidenum">
              <a:rPr lang="de-DE" noProof="0" smtClean="0"/>
              <a:t>11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823565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853816F-A1CF-4485-B308-1B9F14B36EAD}" type="slidenum">
              <a:rPr lang="de-DE" noProof="0" smtClean="0"/>
              <a:t>12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103493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853816F-A1CF-4485-B308-1B9F14B36EAD}" type="slidenum">
              <a:rPr lang="de-DE" noProof="0" smtClean="0"/>
              <a:t>13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46480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853816F-A1CF-4485-B308-1B9F14B36EAD}" type="slidenum">
              <a:rPr lang="de-DE" noProof="0" smtClean="0"/>
              <a:t>16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099910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80C5E7-B1A1-4648-89D2-17B0F1E7F5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D140298-3E00-4E73-B947-697E692828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Formatvorlage des Untertitelmasters durch Klicken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BB99EB-0E86-4FEA-A9C4-501D4E755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22773E7-C9D4-4F74-957D-E044B2801EEA}" type="datetime1">
              <a:rPr lang="de-DE" noProof="0" smtClean="0"/>
              <a:t>19.06.26</a:t>
            </a:fld>
            <a:endParaRPr lang="de-DE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31F536-58DF-4935-AE3B-7A08C0312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995127-BE30-42B7-9BE5-B83CC6A2E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00975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103746-779A-435F-995A-5BF82C86C297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84E866-B322-455F-AC32-8C164B8CD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93DE410-A4A9-42F3-B0F5-E18F24795FB9}" type="datetime1">
              <a:rPr lang="de-DE" noProof="0" smtClean="0"/>
              <a:t>19.06.26</a:t>
            </a:fld>
            <a:endParaRPr lang="de-DE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0D61E0-F80F-48E7-A817-F1CECBEE9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F34AFC-4299-43F1-A312-79EF0102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55274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1E1D3E-E4B6-4EAA-BFB4-25A0557A6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7E0856-45A8-4EAD-A9D6-8A993968A1A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0EEBE1-2BAF-4C94-8403-6E8454F9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0B2B71-0084-4E14-A09F-350691EE64E7}" type="datetime1">
              <a:rPr lang="de-DE" noProof="0" smtClean="0"/>
              <a:t>19.06.26</a:t>
            </a:fld>
            <a:endParaRPr lang="de-DE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358F46-E931-4D79-94A5-037AFD073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130D95-EF5F-4A0A-93BD-73AEE2C2F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601256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BABEC0-6253-4360-B586-B9D20933DE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46E20B-8661-4C60-84FB-4892E8B4860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132BE45-79E4-479B-BD2F-46CCB0BEE62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89105E-DF25-4F38-BDE2-9B00C2C44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92AC67-DC35-452C-AEEE-7B11672D1355}" type="datetime1">
              <a:rPr lang="de-DE" noProof="0" smtClean="0"/>
              <a:t>19.06.26</a:t>
            </a:fld>
            <a:endParaRPr lang="de-DE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D9C4A8-7467-4BAD-98A2-0B63CAC1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BC5C5C0-08E4-4F7B-9E80-8925539D2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43840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FF641-A5CC-4263-A394-2112D623A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4D6865-C632-473C-AEC8-8D3F71562BE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9FDBD19-4D33-4F6A-9938-6A04B3888EC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1697E46-CE4D-480E-A997-2B53B2DF55B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B8B7E36-823F-4FD4-B826-E450A124800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DBB3B14-C886-4F84-9FD5-11C8320E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DB00D4-7C83-497D-9871-C4A5B4F00465}" type="datetime1">
              <a:rPr lang="de-DE" noProof="0" smtClean="0"/>
              <a:t>19.06.26</a:t>
            </a:fld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F9AF591-4BBF-4BF2-9EF7-F8B114DF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52B1A04-B244-4AE3-8997-9B075B10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1104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5408F1-BB29-4C6F-91C9-653A730BEC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F54FEF9-8D09-4091-BE99-B6264EBD3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241CF0-587E-437A-B21F-38049A7914AF}" type="datetime1">
              <a:rPr lang="de-DE" noProof="0" smtClean="0"/>
              <a:t>19.06.26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B5F49AA-83D5-4063-9CDE-AA7763048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2A2B27C-3C99-4208-B425-775413C5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6140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42A62B2-A6D1-4A6F-8B20-80606F47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67E767-1E22-4940-B5CA-781C46D69496}" type="datetime1">
              <a:rPr lang="de-DE" noProof="0" smtClean="0"/>
              <a:t>19.06.26</a:t>
            </a:fld>
            <a:endParaRPr lang="de-DE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02E4958-7A46-4331-B2D8-2C31D8FC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C8548B-339B-46B2-BF01-1EE3DDC7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91466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EF408F-8083-4F07-9628-074C7AFE4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0477E0-A333-439D-A531-30B39A8134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D59501-D187-414C-AACE-F838720036C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235F890-BB8A-49E1-880A-924FD6FE4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ED94C3-2D45-4889-939C-DCCC0E20F8E3}" type="datetime1">
              <a:rPr lang="de-DE" noProof="0" smtClean="0"/>
              <a:t>19.06.26</a:t>
            </a:fld>
            <a:endParaRPr lang="de-DE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CA38FE-429A-41E7-942D-ECCE639D3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401D9BC-0038-4041-AE2C-657BF99D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287561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956CFD-7F35-482C-A50F-B3D43ACB0A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FD7F3EF-0FE9-46C4-A116-5DA6E26B0D5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0B4041-0F17-42D8-AF16-AB099A39FFB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AF67FF-F8F1-4B22-A471-9317ED3A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EEED7C-AB99-46BA-A7E4-ED553DD733AB}" type="datetime1">
              <a:rPr lang="de-DE" noProof="0" smtClean="0"/>
              <a:t>19.06.26</a:t>
            </a:fld>
            <a:endParaRPr lang="de-DE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3D6993-98F8-4234-B24A-02D4DB41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A34037-0E7D-4379-ACA0-98611B2F7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CEC5C30-0B3A-4B13-ADDD-7C63C8AA921B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939197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645B175-C851-453B-B2A0-9A5CFCAD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65F4A2-0E4F-4E49-A0BF-BEEC72203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28AA27-3F13-4BFD-B949-21CF31910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5DFCFCF-CF53-4F22-B1AE-6A848FB177B5}" type="datetime1">
              <a:rPr lang="de-DE" noProof="0" smtClean="0"/>
              <a:t>19.06.26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EE99A2-0FED-42D4-9FBD-08CC1C3F8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2468D4-5440-4CE2-BAB3-61D83F628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CEC5C30-0B3A-4B13-ADDD-7C63C8AA921B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12203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1325880" cy="1325880"/>
          </a:xfrm>
          <a:prstGeom prst="rect">
            <a:avLst/>
          </a:prstGeom>
        </p:spPr>
      </p:pic>
      <p:pic>
        <p:nvPicPr>
          <p:cNvPr id="3" name="Picture 2" descr="wi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57400"/>
            <a:ext cx="1143000" cy="1143000"/>
          </a:xfrm>
          <a:prstGeom prst="rect">
            <a:avLst/>
          </a:prstGeom>
        </p:spPr>
      </p:pic>
      <p:pic>
        <p:nvPicPr>
          <p:cNvPr id="4" name="Picture 3" descr="b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411480"/>
            <a:ext cx="1417320" cy="1417320"/>
          </a:xfrm>
          <a:prstGeom prst="rect">
            <a:avLst/>
          </a:prstGeom>
        </p:spPr>
      </p:pic>
      <p:pic>
        <p:nvPicPr>
          <p:cNvPr id="5" name="Picture 4" descr="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1645920"/>
            <a:ext cx="914400" cy="914400"/>
          </a:xfrm>
          <a:prstGeom prst="rect">
            <a:avLst/>
          </a:prstGeom>
        </p:spPr>
      </p:pic>
      <p:pic>
        <p:nvPicPr>
          <p:cNvPr id="6" name="Picture 5" descr="eu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2377440"/>
            <a:ext cx="960120" cy="960120"/>
          </a:xfrm>
          <a:prstGeom prst="rect">
            <a:avLst/>
          </a:prstGeom>
        </p:spPr>
      </p:pic>
      <p:pic>
        <p:nvPicPr>
          <p:cNvPr id="7" name="Picture 6" descr="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40" y="5349240"/>
            <a:ext cx="1097280" cy="1097280"/>
          </a:xfrm>
          <a:prstGeom prst="rect">
            <a:avLst/>
          </a:prstGeom>
        </p:spPr>
      </p:pic>
      <p:pic>
        <p:nvPicPr>
          <p:cNvPr id="8" name="Picture 7" descr="c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3240" y="5074920"/>
            <a:ext cx="1188720" cy="1188720"/>
          </a:xfrm>
          <a:prstGeom prst="rect">
            <a:avLst/>
          </a:prstGeom>
        </p:spPr>
      </p:pic>
      <p:pic>
        <p:nvPicPr>
          <p:cNvPr id="9" name="Picture 8" descr="park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5257800"/>
            <a:ext cx="1417320" cy="1417320"/>
          </a:xfrm>
          <a:prstGeom prst="rect">
            <a:avLst/>
          </a:prstGeom>
        </p:spPr>
      </p:pic>
      <p:pic>
        <p:nvPicPr>
          <p:cNvPr id="10" name="Picture 9" descr="trafficl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5303520"/>
            <a:ext cx="1097280" cy="1097280"/>
          </a:xfrm>
          <a:prstGeom prst="rect">
            <a:avLst/>
          </a:prstGeom>
        </p:spPr>
      </p:pic>
      <p:pic>
        <p:nvPicPr>
          <p:cNvPr id="11" name="Picture 10" descr="pi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5400" y="5212080"/>
            <a:ext cx="1051560" cy="1051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00" y="960120"/>
            <a:ext cx="8531352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600" b="0" i="0">
                <a:solidFill>
                  <a:srgbClr val="262626"/>
                </a:solidFill>
                <a:latin typeface="Calibri Light"/>
              </a:rPr>
              <a:t>Drive &amp; Decide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395728"/>
            <a:ext cx="3657600" cy="0"/>
          </a:xfrm>
          <a:prstGeom prst="bentConnector3">
            <a:avLst/>
          </a:prstGeom>
          <a:ln w="19050">
            <a:solidFill>
              <a:srgbClr val="445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45920" y="2542032"/>
            <a:ext cx="88971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 dirty="0" err="1">
                <a:solidFill>
                  <a:srgbClr val="44546A"/>
                </a:solidFill>
                <a:latin typeface="Calibri Light"/>
              </a:rPr>
              <a:t>Wirtschaftlichkeit</a:t>
            </a:r>
            <a:r>
              <a:rPr sz="2000" b="0" i="0" dirty="0">
                <a:solidFill>
                  <a:srgbClr val="44546A"/>
                </a:solidFill>
                <a:latin typeface="Calibri Light"/>
              </a:rPr>
              <a:t> </a:t>
            </a:r>
            <a:r>
              <a:rPr sz="2000" b="0" i="0" dirty="0" err="1">
                <a:solidFill>
                  <a:srgbClr val="44546A"/>
                </a:solidFill>
                <a:latin typeface="Calibri Light"/>
              </a:rPr>
              <a:t>eines</a:t>
            </a:r>
            <a:r>
              <a:rPr sz="2000" b="0" i="0" dirty="0">
                <a:solidFill>
                  <a:srgbClr val="44546A"/>
                </a:solidFill>
                <a:latin typeface="Calibri Light"/>
              </a:rPr>
              <a:t> IoT-</a:t>
            </a:r>
            <a:r>
              <a:rPr sz="2000" b="0" i="0" dirty="0" err="1">
                <a:solidFill>
                  <a:srgbClr val="44546A"/>
                </a:solidFill>
                <a:latin typeface="Calibri Light"/>
              </a:rPr>
              <a:t>basierten</a:t>
            </a:r>
            <a:r>
              <a:rPr sz="2000" b="0" i="0" dirty="0">
                <a:solidFill>
                  <a:srgbClr val="44546A"/>
                </a:solidFill>
                <a:latin typeface="Calibri Light"/>
              </a:rPr>
              <a:t> Smart-Parking-Systems auf serverless AWS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11880"/>
            <a:ext cx="8531352" cy="4565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dirty="0">
                <a:solidFill>
                  <a:srgbClr val="262626"/>
                </a:solidFill>
                <a:latin typeface="Calibri"/>
              </a:rPr>
              <a:t>Maximilian Seier · Julian Zankl</a:t>
            </a:r>
          </a:p>
          <a:p>
            <a:pPr algn="ctr">
              <a:spcBef>
                <a:spcPts val="200"/>
              </a:spcBef>
            </a:pPr>
            <a:r>
              <a:rPr lang="de-AT" sz="1300" dirty="0">
                <a:solidFill>
                  <a:srgbClr val="7F7F7F"/>
                </a:solidFill>
                <a:latin typeface="Calibri"/>
              </a:rPr>
              <a:t>Hochschule</a:t>
            </a:r>
            <a:r>
              <a:rPr sz="1300" b="0" i="0" dirty="0">
                <a:solidFill>
                  <a:srgbClr val="7F7F7F"/>
                </a:solidFill>
                <a:latin typeface="Calibri"/>
              </a:rPr>
              <a:t> Burgenland · </a:t>
            </a:r>
            <a:r>
              <a:rPr lang="de-AT" sz="1300" b="0" i="0" dirty="0">
                <a:solidFill>
                  <a:srgbClr val="7F7F7F"/>
                </a:solidFill>
                <a:latin typeface="Calibri"/>
              </a:rPr>
              <a:t>Infrastructure Engineering</a:t>
            </a:r>
            <a:endParaRPr sz="1300" b="0" i="0" dirty="0">
              <a:solidFill>
                <a:srgbClr val="7F7F7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262626"/>
                </a:solidFill>
                <a:latin typeface="Calibri Light"/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65960"/>
            <a:ext cx="566928" cy="566928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 Ligh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47672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62626"/>
                </a:solidFill>
                <a:latin typeface="Calibri"/>
              </a:rPr>
              <a:t>Problemstellung &amp; Motivation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990088"/>
            <a:ext cx="566928" cy="56692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 Light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97180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62626"/>
                </a:solidFill>
                <a:latin typeface="Calibri"/>
              </a:rPr>
              <a:t>Forschungsfrage &amp; Stand des Wissens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4014216"/>
            <a:ext cx="566928" cy="566928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995928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62626"/>
                </a:solidFill>
                <a:latin typeface="Calibri"/>
              </a:rPr>
              <a:t>Lösungsansatz &amp; Use Case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5038344"/>
            <a:ext cx="566928" cy="566928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 Light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5020056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62626"/>
                </a:solidFill>
                <a:latin typeface="Calibri"/>
              </a:rPr>
              <a:t>Systemarchitektur &amp; Datenfluss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1965960"/>
            <a:ext cx="566928" cy="56692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 Light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947672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62626"/>
                </a:solidFill>
                <a:latin typeface="Calibri"/>
              </a:rPr>
              <a:t>Prototyp &amp; Live-Demo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990088"/>
            <a:ext cx="566928" cy="566928"/>
          </a:xfrm>
          <a:prstGeom prst="ellipse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 Light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97180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62626"/>
                </a:solidFill>
                <a:latin typeface="Calibri"/>
              </a:rPr>
              <a:t>Kosten-Nutzen-Modell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4014216"/>
            <a:ext cx="566928" cy="566928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 Light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995928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62626"/>
                </a:solidFill>
                <a:latin typeface="Calibri"/>
              </a:rPr>
              <a:t>Ergebnisse &amp; Sensitivität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5038344"/>
            <a:ext cx="566928" cy="56692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 Light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020056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62626"/>
                </a:solidFill>
                <a:latin typeface="Calibri"/>
              </a:rPr>
              <a:t>Diskussion &amp; Fazit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37376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dirty="0">
                <a:solidFill>
                  <a:srgbClr val="7F7F7F"/>
                </a:solidFill>
                <a:latin typeface="Calibri"/>
              </a:rPr>
              <a:t>Drive &amp; Decide · Seier &amp; Zankl · </a:t>
            </a:r>
            <a:r>
              <a:rPr lang="de-AT" sz="900" dirty="0">
                <a:solidFill>
                  <a:srgbClr val="7F7F7F"/>
                </a:solidFill>
              </a:rPr>
              <a:t>Hochschule</a:t>
            </a:r>
            <a:r>
              <a:rPr sz="900" b="0" i="0" dirty="0">
                <a:solidFill>
                  <a:srgbClr val="7F7F7F"/>
                </a:solidFill>
                <a:latin typeface="Calibri"/>
              </a:rPr>
              <a:t> Burgenland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373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PROBLEMSTELLUNG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262626"/>
                </a:solidFill>
                <a:latin typeface="Calibri Light"/>
              </a:rPr>
              <a:t>Mehr Verkehr, teure Parkplatzsuche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3529584" cy="15544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84248"/>
            <a:ext cx="307238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4472C4"/>
                </a:solidFill>
                <a:latin typeface="Calibri Light"/>
              </a:rPr>
              <a:t>+54.208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15768"/>
            <a:ext cx="30723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62626"/>
                </a:solidFill>
                <a:latin typeface="Calibri"/>
              </a:rPr>
              <a:t>Pkw-Zuwachs in Österreich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1783080"/>
            <a:ext cx="3529584" cy="15544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26864" y="1984248"/>
            <a:ext cx="307238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ED7D31"/>
                </a:solidFill>
                <a:latin typeface="Calibri Light"/>
              </a:rPr>
              <a:t>&gt;7,5 Mio.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864" y="2715768"/>
            <a:ext cx="30723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62626"/>
                </a:solidFill>
                <a:latin typeface="Calibri"/>
              </a:rPr>
              <a:t>zugelassene Kfz – Höchststand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2168" y="1783080"/>
            <a:ext cx="3529584" cy="15544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0768" y="1984248"/>
            <a:ext cx="307238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70AD47"/>
                </a:solidFill>
                <a:latin typeface="Calibri Light"/>
              </a:rPr>
              <a:t>~⅓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715768"/>
            <a:ext cx="30723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62626"/>
                </a:solidFill>
                <a:latin typeface="Calibri"/>
              </a:rPr>
              <a:t>Verkehrstote durch Ablenkung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57600"/>
            <a:ext cx="11018520" cy="1997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500" b="0" i="0" dirty="0" err="1">
                <a:solidFill>
                  <a:srgbClr val="262626"/>
                </a:solidFill>
                <a:latin typeface="Calibri"/>
              </a:rPr>
              <a:t>Pendlerverkehr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nach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Wien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endet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in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Parkhäusern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mit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nur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statischer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Anzeige</a:t>
            </a:r>
            <a:endParaRPr lang="de-AT" sz="1500" dirty="0">
              <a:solidFill>
                <a:srgbClr val="262626"/>
              </a:solidFill>
              <a:latin typeface="Calibri"/>
            </a:endParaRPr>
          </a:p>
          <a:p>
            <a:pPr marL="685800" lvl="1" indent="-228600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500" b="0" i="0" dirty="0" err="1">
                <a:solidFill>
                  <a:srgbClr val="262626"/>
                </a:solidFill>
                <a:latin typeface="Calibri"/>
              </a:rPr>
              <a:t>wiederholtes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Anfahren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Zeitverlust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Suchverkehr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Emissionen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und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Lärm</a:t>
            </a:r>
            <a:endParaRPr sz="1500" b="0" i="0" dirty="0">
              <a:solidFill>
                <a:srgbClr val="262626"/>
              </a:solidFill>
              <a:latin typeface="Calibri"/>
            </a:endParaRPr>
          </a:p>
          <a:p>
            <a:pPr marL="228600" indent="-228600" algn="l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500" b="0" i="0" dirty="0" err="1">
                <a:solidFill>
                  <a:srgbClr val="262626"/>
                </a:solidFill>
                <a:latin typeface="Calibri"/>
              </a:rPr>
              <a:t>Betreibersicht</a:t>
            </a:r>
            <a:endParaRPr lang="de-AT" sz="1500" dirty="0">
              <a:solidFill>
                <a:srgbClr val="262626"/>
              </a:solidFill>
              <a:latin typeface="Calibri"/>
            </a:endParaRPr>
          </a:p>
          <a:p>
            <a:pPr marL="685800" lvl="1" indent="-228600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500" b="0" i="0" dirty="0">
                <a:solidFill>
                  <a:srgbClr val="262626"/>
                </a:solidFill>
                <a:latin typeface="Calibri"/>
              </a:rPr>
              <a:t>Druck,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Stellplätze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effizient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auszulasten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–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Wirtschaftlichkeit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eines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Smart-Parking-Systems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bleibt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unklar</a:t>
            </a:r>
            <a:endParaRPr sz="1500" b="0" i="0" dirty="0">
              <a:solidFill>
                <a:srgbClr val="262626"/>
              </a:solidFill>
              <a:latin typeface="Calibri"/>
            </a:endParaRPr>
          </a:p>
          <a:p>
            <a:pPr marL="228600" indent="-228600" algn="l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500" b="0" i="0" dirty="0">
                <a:solidFill>
                  <a:srgbClr val="262626"/>
                </a:solidFill>
                <a:latin typeface="Calibri"/>
              </a:rPr>
              <a:t>Sicherheit</a:t>
            </a:r>
            <a:endParaRPr lang="de-AT" sz="1500" dirty="0">
              <a:solidFill>
                <a:srgbClr val="262626"/>
              </a:solidFill>
              <a:latin typeface="Calibri"/>
            </a:endParaRPr>
          </a:p>
          <a:p>
            <a:pPr marL="685800" lvl="1" indent="-228600">
              <a:lnSpc>
                <a:spcPct val="108000"/>
              </a:lnSpc>
              <a:spcAft>
                <a:spcPts val="800"/>
              </a:spcAft>
              <a:buChar char="•"/>
            </a:pPr>
            <a:r>
              <a:rPr sz="1500" b="0" i="0" dirty="0" err="1">
                <a:solidFill>
                  <a:srgbClr val="262626"/>
                </a:solidFill>
                <a:latin typeface="Calibri"/>
              </a:rPr>
              <a:t>Parkinfo-Suche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während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der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Fahrt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erhöht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das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Ablenkungspotenzial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mobiler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Geräte</a:t>
            </a:r>
            <a:endParaRPr sz="1500" b="0" i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6437376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dirty="0">
                <a:solidFill>
                  <a:srgbClr val="7F7F7F"/>
                </a:solidFill>
                <a:latin typeface="Calibri"/>
              </a:rPr>
              <a:t>Drive &amp; Decide · Seier &amp; Zankl · </a:t>
            </a:r>
            <a:r>
              <a:rPr lang="de-AT" sz="900" dirty="0">
                <a:solidFill>
                  <a:srgbClr val="7F7F7F"/>
                </a:solidFill>
              </a:rPr>
              <a:t>Hochschule</a:t>
            </a:r>
            <a:r>
              <a:rPr sz="900" b="0" i="0" dirty="0">
                <a:solidFill>
                  <a:srgbClr val="7F7F7F"/>
                </a:solidFill>
                <a:latin typeface="Calibri"/>
              </a:rPr>
              <a:t> Burgenland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373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FORSCHUNGSFRAGE &amp; STAND DES WISSENS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262626"/>
                </a:solidFill>
                <a:latin typeface="Calibri Light"/>
              </a:rPr>
              <a:t>Die Lücke: nicht Machbarkeit, sondern Wirtschaftlichkeit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44546A"/>
                </a:solidFill>
                <a:latin typeface="Calibri"/>
              </a:rPr>
              <a:t>Stand des Wissens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507492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lnSpc>
                <a:spcPct val="105000"/>
              </a:lnSpc>
              <a:spcAft>
                <a:spcPts val="900"/>
              </a:spcAft>
              <a:buChar char="•"/>
            </a:pPr>
            <a:r>
              <a:rPr sz="1500" b="0" i="0" dirty="0" err="1">
                <a:solidFill>
                  <a:srgbClr val="262626"/>
                </a:solidFill>
                <a:latin typeface="Calibri"/>
              </a:rPr>
              <a:t>Sensorik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: IR, Kamera,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Induktion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Ultraschall</a:t>
            </a:r>
            <a:endParaRPr sz="1500" b="0" i="0" dirty="0">
              <a:solidFill>
                <a:srgbClr val="262626"/>
              </a:solidFill>
              <a:latin typeface="Calibri"/>
            </a:endParaRPr>
          </a:p>
          <a:p>
            <a:pPr marL="228600" indent="-228600" algn="l">
              <a:lnSpc>
                <a:spcPct val="105000"/>
              </a:lnSpc>
              <a:spcAft>
                <a:spcPts val="900"/>
              </a:spcAft>
              <a:buChar char="•"/>
            </a:pPr>
            <a:r>
              <a:rPr sz="1500" b="0" i="0" dirty="0">
                <a:solidFill>
                  <a:srgbClr val="262626"/>
                </a:solidFill>
                <a:latin typeface="Calibri"/>
              </a:rPr>
              <a:t>Edge-, Fog- und Cloud-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Architekturen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für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Echtzeitdaten</a:t>
            </a:r>
            <a:endParaRPr sz="1500" b="0" i="0" dirty="0">
              <a:solidFill>
                <a:srgbClr val="262626"/>
              </a:solidFill>
              <a:latin typeface="Calibri"/>
            </a:endParaRPr>
          </a:p>
          <a:p>
            <a:pPr marL="228600" indent="-228600" algn="l">
              <a:lnSpc>
                <a:spcPct val="105000"/>
              </a:lnSpc>
              <a:spcAft>
                <a:spcPts val="900"/>
              </a:spcAft>
              <a:buChar char="•"/>
            </a:pPr>
            <a:r>
              <a:rPr sz="1500" b="0" i="0" dirty="0" err="1">
                <a:solidFill>
                  <a:srgbClr val="262626"/>
                </a:solidFill>
                <a:latin typeface="Calibri"/>
              </a:rPr>
              <a:t>Dynamische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Preis- und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Routingansätze</a:t>
            </a:r>
            <a:endParaRPr sz="1500" b="0" i="0" dirty="0">
              <a:solidFill>
                <a:srgbClr val="262626"/>
              </a:solidFill>
              <a:latin typeface="Calibri"/>
            </a:endParaRPr>
          </a:p>
          <a:p>
            <a:pPr marL="228600" indent="-228600" algn="l">
              <a:lnSpc>
                <a:spcPct val="105000"/>
              </a:lnSpc>
              <a:spcAft>
                <a:spcPts val="900"/>
              </a:spcAft>
              <a:buChar char="•"/>
            </a:pPr>
            <a:r>
              <a:rPr sz="1500" b="0" i="0" dirty="0">
                <a:solidFill>
                  <a:srgbClr val="262626"/>
                </a:solidFill>
                <a:latin typeface="Calibri"/>
              </a:rPr>
              <a:t>Forschung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zu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Fahrerablenkung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und Sicherheit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783080"/>
            <a:ext cx="5623560" cy="16916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1938528"/>
            <a:ext cx="5074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D31"/>
                </a:solidFill>
                <a:latin typeface="Calibri"/>
              </a:rPr>
              <a:t>Forschungslücke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331720"/>
            <a:ext cx="5074920" cy="447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 dirty="0">
                <a:solidFill>
                  <a:srgbClr val="262626"/>
                </a:solidFill>
                <a:latin typeface="Calibri"/>
              </a:rPr>
              <a:t>Es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fehlt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ein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reproduzierbarer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Bewertungsrahmen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aus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Sicht des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Betreibers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lang="de-AT" sz="1400" dirty="0">
                <a:solidFill>
                  <a:srgbClr val="262626"/>
                </a:solidFill>
                <a:latin typeface="Calibri"/>
                <a:sym typeface="Wingdings" pitchFamily="2" charset="2"/>
              </a:rPr>
              <a:t>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technische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Machbarkeit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ist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längst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gezeig</a:t>
            </a:r>
            <a:r>
              <a:rPr lang="de-AT" sz="1400" dirty="0">
                <a:solidFill>
                  <a:srgbClr val="262626"/>
                </a:solidFill>
                <a:latin typeface="Calibri"/>
              </a:rPr>
              <a:t>t</a:t>
            </a:r>
            <a:endParaRPr sz="1400" b="0" i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89320" y="3657600"/>
            <a:ext cx="5623560" cy="1965960"/>
          </a:xfrm>
          <a:prstGeom prst="roundRect">
            <a:avLst>
              <a:gd name="adj" fmla="val 6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3840480"/>
            <a:ext cx="5074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Forschungsfrage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251960"/>
            <a:ext cx="5074920" cy="736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 dirty="0" err="1">
                <a:solidFill>
                  <a:srgbClr val="FFFFFF"/>
                </a:solidFill>
                <a:latin typeface="Calibri"/>
              </a:rPr>
              <a:t>Rechtfertigt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der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erwartete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Nutzen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die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Investitions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- und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Betriebskosten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eines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IoT-Smart-Parking-Systems und ab </a:t>
            </a:r>
            <a:r>
              <a:rPr sz="1500" b="0" i="0" dirty="0" err="1">
                <a:solidFill>
                  <a:srgbClr val="FFFFFF"/>
                </a:solidFill>
                <a:latin typeface="Calibri"/>
              </a:rPr>
              <a:t>wann</a:t>
            </a:r>
            <a:r>
              <a:rPr lang="de-AT" sz="1500" b="0" i="0" dirty="0">
                <a:solidFill>
                  <a:srgbClr val="FFFFFF"/>
                </a:solidFill>
                <a:latin typeface="Calibri"/>
              </a:rPr>
              <a:t> ist dies der Fall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(Break-Even)?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>
                <a:solidFill>
                  <a:srgbClr val="7F7F7F"/>
                </a:solidFill>
                <a:latin typeface="Calibri"/>
              </a:rPr>
              <a:t>Drive &amp; Decide · Seier &amp; Zankl · </a:t>
            </a:r>
            <a:r>
              <a:rPr lang="de-AT" sz="900" dirty="0">
                <a:solidFill>
                  <a:srgbClr val="7F7F7F"/>
                </a:solidFill>
                <a:latin typeface="Calibri"/>
              </a:rPr>
              <a:t>Hochschule</a:t>
            </a:r>
            <a:r>
              <a:rPr sz="900" b="0" i="0" dirty="0">
                <a:solidFill>
                  <a:srgbClr val="7F7F7F"/>
                </a:solidFill>
                <a:latin typeface="Calibri"/>
              </a:rPr>
              <a:t> Burgenland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373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LÖSUNGSANSATZ &amp;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262626"/>
                </a:solidFill>
                <a:latin typeface="Calibri Light"/>
              </a:rPr>
              <a:t>Prototyp trifft Kosten-Nutzen-Modell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18520" cy="960120"/>
          </a:xfrm>
          <a:prstGeom prst="roundRect">
            <a:avLst>
              <a:gd name="adj" fmla="val 6000"/>
            </a:avLst>
          </a:prstGeom>
          <a:solidFill>
            <a:srgbClr val="DA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180279"/>
            <a:ext cx="10469880" cy="2480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 dirty="0">
                <a:solidFill>
                  <a:srgbClr val="44546A"/>
                </a:solidFill>
                <a:latin typeface="Calibri"/>
              </a:rPr>
              <a:t>Drive &amp; Decide = </a:t>
            </a:r>
            <a:r>
              <a:rPr sz="1600" b="1" i="0" dirty="0" err="1">
                <a:solidFill>
                  <a:srgbClr val="44546A"/>
                </a:solidFill>
                <a:latin typeface="Calibri"/>
              </a:rPr>
              <a:t>realitätsnaher</a:t>
            </a:r>
            <a:r>
              <a:rPr sz="1600" b="1" i="0" dirty="0">
                <a:solidFill>
                  <a:srgbClr val="44546A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4546A"/>
                </a:solidFill>
                <a:latin typeface="Calibri"/>
              </a:rPr>
              <a:t>Prototyp</a:t>
            </a:r>
            <a:r>
              <a:rPr sz="1600" b="1" i="0" dirty="0">
                <a:solidFill>
                  <a:srgbClr val="44546A"/>
                </a:solidFill>
                <a:latin typeface="Calibri"/>
              </a:rPr>
              <a:t> (</a:t>
            </a:r>
            <a:r>
              <a:rPr sz="1600" b="1" i="0" dirty="0" err="1">
                <a:solidFill>
                  <a:srgbClr val="44546A"/>
                </a:solidFill>
                <a:latin typeface="Calibri"/>
              </a:rPr>
              <a:t>physisch</a:t>
            </a:r>
            <a:r>
              <a:rPr sz="1600" b="1" i="0" dirty="0">
                <a:solidFill>
                  <a:srgbClr val="44546A"/>
                </a:solidFill>
                <a:latin typeface="Calibri"/>
              </a:rPr>
              <a:t> + </a:t>
            </a:r>
            <a:r>
              <a:rPr sz="1600" b="1" i="0" dirty="0" err="1">
                <a:solidFill>
                  <a:srgbClr val="44546A"/>
                </a:solidFill>
                <a:latin typeface="Calibri"/>
              </a:rPr>
              <a:t>virtuell</a:t>
            </a:r>
            <a:r>
              <a:rPr sz="1600" b="1" i="0" dirty="0">
                <a:solidFill>
                  <a:srgbClr val="44546A"/>
                </a:solidFill>
                <a:latin typeface="Calibri"/>
              </a:rPr>
              <a:t>) + Kosten-</a:t>
            </a:r>
            <a:r>
              <a:rPr sz="1600" b="1" i="0" dirty="0" err="1">
                <a:solidFill>
                  <a:srgbClr val="44546A"/>
                </a:solidFill>
                <a:latin typeface="Calibri"/>
              </a:rPr>
              <a:t>Nutzen</a:t>
            </a:r>
            <a:r>
              <a:rPr sz="1600" b="1" i="0" dirty="0">
                <a:solidFill>
                  <a:srgbClr val="44546A"/>
                </a:solidFill>
                <a:latin typeface="Calibri"/>
              </a:rPr>
              <a:t>-Modell </a:t>
            </a:r>
            <a:r>
              <a:rPr sz="1600" b="1" i="0" dirty="0" err="1">
                <a:solidFill>
                  <a:srgbClr val="44546A"/>
                </a:solidFill>
                <a:latin typeface="Calibri"/>
              </a:rPr>
              <a:t>aus</a:t>
            </a:r>
            <a:r>
              <a:rPr sz="1600" b="1" i="0" dirty="0">
                <a:solidFill>
                  <a:srgbClr val="44546A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4546A"/>
                </a:solidFill>
                <a:latin typeface="Calibri"/>
              </a:rPr>
              <a:t>Betreibersicht</a:t>
            </a:r>
            <a:endParaRPr sz="1600" b="1" i="0" dirty="0">
              <a:solidFill>
                <a:srgbClr val="44546A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2971800"/>
            <a:ext cx="5440680" cy="274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3182112"/>
            <a:ext cx="4892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70AD47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639312"/>
            <a:ext cx="4855464" cy="8985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4000" indent="-214000" algn="l">
              <a:lnSpc>
                <a:spcPct val="105000"/>
              </a:lnSpc>
              <a:spcAft>
                <a:spcPts val="800"/>
              </a:spcAft>
              <a:buChar char="•"/>
            </a:pPr>
            <a:r>
              <a:rPr sz="1450" b="0" i="0" dirty="0" err="1">
                <a:solidFill>
                  <a:srgbClr val="262626"/>
                </a:solidFill>
                <a:latin typeface="Calibri"/>
              </a:rPr>
              <a:t>Mittelgroßer</a:t>
            </a:r>
            <a:r>
              <a:rPr sz="1450" b="0" i="0" dirty="0">
                <a:solidFill>
                  <a:srgbClr val="262626"/>
                </a:solidFill>
                <a:latin typeface="Calibri"/>
              </a:rPr>
              <a:t> Wiener </a:t>
            </a:r>
            <a:r>
              <a:rPr sz="1450" b="0" i="0" dirty="0" err="1">
                <a:solidFill>
                  <a:srgbClr val="262626"/>
                </a:solidFill>
                <a:latin typeface="Calibri"/>
              </a:rPr>
              <a:t>Parkhausbetreiber</a:t>
            </a:r>
            <a:endParaRPr sz="1450" b="0" i="0" dirty="0">
              <a:solidFill>
                <a:srgbClr val="262626"/>
              </a:solidFill>
              <a:latin typeface="Calibri"/>
            </a:endParaRPr>
          </a:p>
          <a:p>
            <a:pPr marL="214000" indent="-214000" algn="l">
              <a:lnSpc>
                <a:spcPct val="105000"/>
              </a:lnSpc>
              <a:spcAft>
                <a:spcPts val="800"/>
              </a:spcAft>
              <a:buChar char="•"/>
            </a:pPr>
            <a:r>
              <a:rPr sz="1450" b="0" i="0" dirty="0">
                <a:solidFill>
                  <a:srgbClr val="262626"/>
                </a:solidFill>
                <a:latin typeface="Calibri"/>
              </a:rPr>
              <a:t>200</a:t>
            </a:r>
            <a:r>
              <a:rPr lang="de-AT" sz="1450" b="0" i="0" dirty="0">
                <a:solidFill>
                  <a:srgbClr val="262626"/>
                </a:solidFill>
                <a:latin typeface="Calibri"/>
              </a:rPr>
              <a:t> - </a:t>
            </a:r>
            <a:r>
              <a:rPr sz="1450" b="0" i="0" dirty="0">
                <a:solidFill>
                  <a:srgbClr val="262626"/>
                </a:solidFill>
                <a:latin typeface="Calibri"/>
              </a:rPr>
              <a:t>500 </a:t>
            </a:r>
            <a:r>
              <a:rPr sz="1450" b="0" i="0" dirty="0" err="1">
                <a:solidFill>
                  <a:srgbClr val="262626"/>
                </a:solidFill>
                <a:latin typeface="Calibri"/>
              </a:rPr>
              <a:t>Stellplätze</a:t>
            </a:r>
            <a:r>
              <a:rPr sz="1450" b="0" i="0" dirty="0">
                <a:solidFill>
                  <a:srgbClr val="262626"/>
                </a:solidFill>
                <a:latin typeface="Calibri"/>
              </a:rPr>
              <a:t>, </a:t>
            </a:r>
            <a:r>
              <a:rPr sz="1450" b="0" i="0" dirty="0" err="1">
                <a:solidFill>
                  <a:srgbClr val="262626"/>
                </a:solidFill>
                <a:latin typeface="Calibri"/>
              </a:rPr>
              <a:t>innerstädtisch</a:t>
            </a:r>
            <a:endParaRPr sz="1450" b="0" i="0" dirty="0">
              <a:solidFill>
                <a:srgbClr val="262626"/>
              </a:solidFill>
              <a:latin typeface="Calibri"/>
            </a:endParaRPr>
          </a:p>
          <a:p>
            <a:pPr marL="214000" indent="-214000" algn="l">
              <a:lnSpc>
                <a:spcPct val="105000"/>
              </a:lnSpc>
              <a:spcAft>
                <a:spcPts val="800"/>
              </a:spcAft>
              <a:buChar char="•"/>
            </a:pPr>
            <a:r>
              <a:rPr sz="1450" b="0" i="0" dirty="0" err="1">
                <a:solidFill>
                  <a:srgbClr val="262626"/>
                </a:solidFill>
                <a:latin typeface="Calibri"/>
              </a:rPr>
              <a:t>Schwankende</a:t>
            </a:r>
            <a:r>
              <a:rPr sz="14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262626"/>
                </a:solidFill>
                <a:latin typeface="Calibri"/>
              </a:rPr>
              <a:t>Auslastung</a:t>
            </a:r>
            <a:r>
              <a:rPr sz="14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262626"/>
                </a:solidFill>
                <a:latin typeface="Calibri"/>
              </a:rPr>
              <a:t>über</a:t>
            </a:r>
            <a:r>
              <a:rPr sz="1450" b="0" i="0" dirty="0">
                <a:solidFill>
                  <a:srgbClr val="262626"/>
                </a:solidFill>
                <a:latin typeface="Calibri"/>
              </a:rPr>
              <a:t> den Tag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971800"/>
            <a:ext cx="5440680" cy="2743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8" y="3182112"/>
            <a:ext cx="4892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D7D31"/>
                </a:solidFill>
                <a:latin typeface="Calibri"/>
              </a:rPr>
              <a:t>Bewertungslogik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3639312"/>
            <a:ext cx="4855464" cy="113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4000" indent="-214000" algn="l">
              <a:lnSpc>
                <a:spcPct val="105000"/>
              </a:lnSpc>
              <a:spcAft>
                <a:spcPts val="800"/>
              </a:spcAft>
              <a:buChar char="•"/>
            </a:pPr>
            <a:r>
              <a:rPr sz="1450" b="0" i="0" dirty="0" err="1">
                <a:solidFill>
                  <a:srgbClr val="262626"/>
                </a:solidFill>
                <a:latin typeface="Calibri"/>
              </a:rPr>
              <a:t>Betreiber</a:t>
            </a:r>
            <a:r>
              <a:rPr sz="1450" b="0" i="0" dirty="0">
                <a:solidFill>
                  <a:srgbClr val="262626"/>
                </a:solidFill>
                <a:latin typeface="Calibri"/>
              </a:rPr>
              <a:t> = </a:t>
            </a:r>
            <a:r>
              <a:rPr sz="1450" b="0" i="0" dirty="0" err="1">
                <a:solidFill>
                  <a:srgbClr val="262626"/>
                </a:solidFill>
                <a:latin typeface="Calibri"/>
              </a:rPr>
              <a:t>Entscheidungsträger</a:t>
            </a:r>
            <a:endParaRPr sz="1450" b="0" i="0" dirty="0">
              <a:solidFill>
                <a:srgbClr val="262626"/>
              </a:solidFill>
              <a:latin typeface="Calibri"/>
            </a:endParaRPr>
          </a:p>
          <a:p>
            <a:pPr marL="214000" indent="-214000" algn="l">
              <a:lnSpc>
                <a:spcPct val="105000"/>
              </a:lnSpc>
              <a:spcAft>
                <a:spcPts val="800"/>
              </a:spcAft>
              <a:buChar char="•"/>
            </a:pPr>
            <a:r>
              <a:rPr sz="1450" b="0" i="0" dirty="0">
                <a:solidFill>
                  <a:srgbClr val="262626"/>
                </a:solidFill>
                <a:latin typeface="Calibri"/>
              </a:rPr>
              <a:t>Investition in </a:t>
            </a:r>
            <a:r>
              <a:rPr sz="1450" b="0" i="0" dirty="0" err="1">
                <a:solidFill>
                  <a:srgbClr val="262626"/>
                </a:solidFill>
                <a:latin typeface="Calibri"/>
              </a:rPr>
              <a:t>Sensorik</a:t>
            </a:r>
            <a:r>
              <a:rPr sz="1450" b="0" i="0" dirty="0">
                <a:solidFill>
                  <a:srgbClr val="262626"/>
                </a:solidFill>
                <a:latin typeface="Calibri"/>
              </a:rPr>
              <a:t> + </a:t>
            </a:r>
            <a:r>
              <a:rPr sz="1450" b="0" i="0" dirty="0" err="1">
                <a:solidFill>
                  <a:srgbClr val="262626"/>
                </a:solidFill>
                <a:latin typeface="Calibri"/>
              </a:rPr>
              <a:t>Konnektivität</a:t>
            </a:r>
            <a:r>
              <a:rPr sz="1450" b="0" i="0" dirty="0">
                <a:solidFill>
                  <a:srgbClr val="262626"/>
                </a:solidFill>
                <a:latin typeface="Calibri"/>
              </a:rPr>
              <a:t> + Cloud = </a:t>
            </a:r>
            <a:r>
              <a:rPr sz="1450" b="0" i="0" dirty="0" err="1">
                <a:solidFill>
                  <a:srgbClr val="262626"/>
                </a:solidFill>
                <a:latin typeface="Calibri"/>
              </a:rPr>
              <a:t>zu</a:t>
            </a:r>
            <a:r>
              <a:rPr sz="14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262626"/>
                </a:solidFill>
                <a:latin typeface="Calibri"/>
              </a:rPr>
              <a:t>bewertende</a:t>
            </a:r>
            <a:r>
              <a:rPr sz="14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262626"/>
                </a:solidFill>
                <a:latin typeface="Calibri"/>
              </a:rPr>
              <a:t>Maßnahme</a:t>
            </a:r>
            <a:endParaRPr sz="1450" b="0" i="0" dirty="0">
              <a:solidFill>
                <a:srgbClr val="262626"/>
              </a:solidFill>
              <a:latin typeface="Calibri"/>
            </a:endParaRPr>
          </a:p>
          <a:p>
            <a:pPr marL="214000" indent="-214000" algn="l">
              <a:lnSpc>
                <a:spcPct val="105000"/>
              </a:lnSpc>
              <a:spcAft>
                <a:spcPts val="800"/>
              </a:spcAft>
              <a:buChar char="•"/>
            </a:pPr>
            <a:r>
              <a:rPr sz="1450" b="0" i="0" dirty="0" err="1">
                <a:solidFill>
                  <a:srgbClr val="262626"/>
                </a:solidFill>
                <a:latin typeface="Calibri"/>
              </a:rPr>
              <a:t>Endnutzer</a:t>
            </a:r>
            <a:r>
              <a:rPr sz="14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262626"/>
                </a:solidFill>
                <a:latin typeface="Calibri"/>
              </a:rPr>
              <a:t>wirken</a:t>
            </a:r>
            <a:r>
              <a:rPr sz="14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262626"/>
                </a:solidFill>
                <a:latin typeface="Calibri"/>
              </a:rPr>
              <a:t>indirekt</a:t>
            </a:r>
            <a:r>
              <a:rPr sz="14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262626"/>
                </a:solidFill>
                <a:latin typeface="Calibri"/>
              </a:rPr>
              <a:t>über</a:t>
            </a:r>
            <a:r>
              <a:rPr sz="1450" b="0" i="0" dirty="0">
                <a:solidFill>
                  <a:srgbClr val="262626"/>
                </a:solidFill>
                <a:latin typeface="Calibri"/>
              </a:rPr>
              <a:t> das </a:t>
            </a:r>
            <a:r>
              <a:rPr sz="1450" b="0" i="0" dirty="0" err="1">
                <a:solidFill>
                  <a:srgbClr val="262626"/>
                </a:solidFill>
                <a:latin typeface="Calibri"/>
              </a:rPr>
              <a:t>Verhalten</a:t>
            </a:r>
            <a:endParaRPr sz="1450" b="0" i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dirty="0">
                <a:solidFill>
                  <a:srgbClr val="7F7F7F"/>
                </a:solidFill>
                <a:latin typeface="Calibri"/>
              </a:rPr>
              <a:t>Drive &amp; Decide · Seier &amp; Zankl · </a:t>
            </a:r>
            <a:r>
              <a:rPr lang="de-AT" sz="900" dirty="0">
                <a:solidFill>
                  <a:srgbClr val="7F7F7F"/>
                </a:solidFill>
              </a:rPr>
              <a:t>Hochschule</a:t>
            </a:r>
            <a:r>
              <a:rPr sz="900" b="0" i="0" dirty="0">
                <a:solidFill>
                  <a:srgbClr val="7F7F7F"/>
                </a:solidFill>
                <a:latin typeface="Calibri"/>
              </a:rPr>
              <a:t> Burgenland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373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SYSTEMARCHITEKTUR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 dirty="0">
                <a:solidFill>
                  <a:srgbClr val="262626"/>
                </a:solidFill>
                <a:latin typeface="Calibri Light"/>
              </a:rPr>
              <a:t>Serverless auf AWS </a:t>
            </a:r>
            <a:r>
              <a:rPr lang="de-AT" sz="2800" dirty="0">
                <a:solidFill>
                  <a:srgbClr val="262626"/>
                </a:solidFill>
                <a:latin typeface="Calibri Light"/>
              </a:rPr>
              <a:t>- </a:t>
            </a:r>
            <a:r>
              <a:rPr sz="2800" b="0" i="0" dirty="0" err="1">
                <a:solidFill>
                  <a:srgbClr val="262626"/>
                </a:solidFill>
                <a:latin typeface="Calibri Light"/>
              </a:rPr>
              <a:t>Voraussetzung</a:t>
            </a:r>
            <a:r>
              <a:rPr sz="2800" b="0" i="0" dirty="0">
                <a:solidFill>
                  <a:srgbClr val="262626"/>
                </a:solidFill>
                <a:latin typeface="Calibri Light"/>
              </a:rPr>
              <a:t> für </a:t>
            </a:r>
            <a:r>
              <a:rPr sz="2800" b="0" i="0" dirty="0" err="1">
                <a:solidFill>
                  <a:srgbClr val="262626"/>
                </a:solidFill>
                <a:latin typeface="Calibri Light"/>
              </a:rPr>
              <a:t>messbare</a:t>
            </a:r>
            <a:r>
              <a:rPr sz="2800" b="0" i="0" dirty="0">
                <a:solidFill>
                  <a:srgbClr val="262626"/>
                </a:solidFill>
                <a:latin typeface="Calibri Light"/>
              </a:rPr>
              <a:t> Kosten</a:t>
            </a:r>
          </a:p>
        </p:txBody>
      </p:sp>
      <p:pic>
        <p:nvPicPr>
          <p:cNvPr id="4" name="Picture 3" descr="architec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7040880" cy="3932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17830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4546A"/>
                </a:solidFill>
                <a:latin typeface="Calibri"/>
              </a:rPr>
              <a:t>Datenpfad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0" y="2286000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57031" y="2267712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262626"/>
                </a:solidFill>
                <a:latin typeface="Calibri"/>
              </a:rPr>
              <a:t>AWS IoT Core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150" b="0" i="0" dirty="0" err="1">
                <a:solidFill>
                  <a:srgbClr val="7F7F7F"/>
                </a:solidFill>
                <a:latin typeface="Calibri"/>
              </a:rPr>
              <a:t>Geräteanbindung</a:t>
            </a:r>
            <a:r>
              <a:rPr sz="1150" b="0" i="0" dirty="0">
                <a:solidFill>
                  <a:srgbClr val="7F7F7F"/>
                </a:solidFill>
                <a:latin typeface="Calibri"/>
              </a:rPr>
              <a:t> + MQTT-Routing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2999232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57031" y="2980944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62626"/>
                </a:solidFill>
                <a:latin typeface="Calibri"/>
              </a:rPr>
              <a:t>AWS Lambda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150" b="0" i="0">
                <a:solidFill>
                  <a:srgbClr val="7F7F7F"/>
                </a:solidFill>
                <a:latin typeface="Calibri"/>
              </a:rPr>
              <a:t>ereignisgetriebene Verarbeitung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3712464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57031" y="3694176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62626"/>
                </a:solidFill>
                <a:latin typeface="Calibri"/>
              </a:rPr>
              <a:t>Amazon DynamoDB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150" b="0" i="0">
                <a:solidFill>
                  <a:srgbClr val="7F7F7F"/>
                </a:solidFill>
                <a:latin typeface="Calibri"/>
              </a:rPr>
              <a:t>aktueller Belegungsstatus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4425696"/>
            <a:ext cx="109728" cy="566928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7031" y="4407408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62626"/>
                </a:solidFill>
                <a:latin typeface="Calibri"/>
              </a:rPr>
              <a:t>API Gateway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150" b="0" i="0">
                <a:solidFill>
                  <a:srgbClr val="7F7F7F"/>
                </a:solidFill>
                <a:latin typeface="Calibri"/>
              </a:rPr>
              <a:t>Ausgabe an Web / Navigation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806440"/>
            <a:ext cx="7040880" cy="566928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6003592"/>
            <a:ext cx="65836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>
                <a:solidFill>
                  <a:srgbClr val="375A28"/>
                </a:solidFill>
                <a:latin typeface="Calibri"/>
              </a:rPr>
              <a:t>Keine </a:t>
            </a:r>
            <a:r>
              <a:rPr sz="1300" b="1" i="0" dirty="0" err="1">
                <a:solidFill>
                  <a:srgbClr val="375A28"/>
                </a:solidFill>
                <a:latin typeface="Calibri"/>
              </a:rPr>
              <a:t>dauerhaft</a:t>
            </a:r>
            <a:r>
              <a:rPr sz="1300" b="1" i="0" dirty="0">
                <a:solidFill>
                  <a:srgbClr val="375A28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375A28"/>
                </a:solidFill>
                <a:latin typeface="Calibri"/>
              </a:rPr>
              <a:t>laufenden</a:t>
            </a:r>
            <a:r>
              <a:rPr sz="1300" b="1" i="0" dirty="0">
                <a:solidFill>
                  <a:srgbClr val="375A28"/>
                </a:solidFill>
                <a:latin typeface="Calibri"/>
              </a:rPr>
              <a:t> Server </a:t>
            </a:r>
            <a:r>
              <a:rPr lang="de-AT" sz="1300" b="1" dirty="0">
                <a:solidFill>
                  <a:srgbClr val="375A28"/>
                </a:solidFill>
                <a:latin typeface="Calibri"/>
                <a:sym typeface="Wingdings" pitchFamily="2" charset="2"/>
              </a:rPr>
              <a:t> </a:t>
            </a:r>
            <a:r>
              <a:rPr sz="1300" b="1" i="0" dirty="0">
                <a:solidFill>
                  <a:srgbClr val="375A28"/>
                </a:solidFill>
                <a:latin typeface="Calibri"/>
              </a:rPr>
              <a:t>Kosten fallen </a:t>
            </a:r>
            <a:r>
              <a:rPr sz="1300" b="1" i="0" dirty="0" err="1">
                <a:solidFill>
                  <a:srgbClr val="375A28"/>
                </a:solidFill>
                <a:latin typeface="Calibri"/>
              </a:rPr>
              <a:t>nur</a:t>
            </a:r>
            <a:r>
              <a:rPr sz="1300" b="1" i="0" dirty="0">
                <a:solidFill>
                  <a:srgbClr val="375A28"/>
                </a:solidFill>
                <a:latin typeface="Calibri"/>
              </a:rPr>
              <a:t> pro </a:t>
            </a:r>
            <a:r>
              <a:rPr sz="1300" b="1" i="0" dirty="0" err="1">
                <a:solidFill>
                  <a:srgbClr val="375A28"/>
                </a:solidFill>
                <a:latin typeface="Calibri"/>
              </a:rPr>
              <a:t>Ereignis</a:t>
            </a:r>
            <a:r>
              <a:rPr sz="1300" b="1" i="0" dirty="0">
                <a:solidFill>
                  <a:srgbClr val="375A28"/>
                </a:solidFill>
                <a:latin typeface="Calibri"/>
              </a:rPr>
              <a:t> 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62055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dirty="0">
                <a:solidFill>
                  <a:srgbClr val="7F7F7F"/>
                </a:solidFill>
                <a:latin typeface="Calibri"/>
              </a:rPr>
              <a:t>Drive &amp; Decide · Seier &amp; Zankl · </a:t>
            </a:r>
            <a:r>
              <a:rPr lang="de-AT" sz="900" dirty="0">
                <a:solidFill>
                  <a:srgbClr val="7F7F7F"/>
                </a:solidFill>
              </a:rPr>
              <a:t>Hochschule</a:t>
            </a:r>
            <a:r>
              <a:rPr sz="900" b="0" i="0" dirty="0">
                <a:solidFill>
                  <a:srgbClr val="7F7F7F"/>
                </a:solidFill>
                <a:latin typeface="Calibri"/>
              </a:rPr>
              <a:t> Burgenland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373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DATENFLUSS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 dirty="0">
                <a:solidFill>
                  <a:srgbClr val="262626"/>
                </a:solidFill>
                <a:latin typeface="Calibri Light"/>
              </a:rPr>
              <a:t>Von der </a:t>
            </a:r>
            <a:r>
              <a:rPr sz="2800" b="0" i="0" dirty="0" err="1">
                <a:solidFill>
                  <a:srgbClr val="262626"/>
                </a:solidFill>
                <a:latin typeface="Calibri Light"/>
              </a:rPr>
              <a:t>Sensorkante</a:t>
            </a:r>
            <a:r>
              <a:rPr sz="2800" b="0" i="0" dirty="0">
                <a:solidFill>
                  <a:srgbClr val="262626"/>
                </a:solidFill>
                <a:latin typeface="Calibri Light"/>
              </a:rPr>
              <a:t> </a:t>
            </a:r>
            <a:r>
              <a:rPr sz="2800" b="0" i="0" dirty="0" err="1">
                <a:solidFill>
                  <a:srgbClr val="262626"/>
                </a:solidFill>
                <a:latin typeface="Calibri Light"/>
              </a:rPr>
              <a:t>zur</a:t>
            </a:r>
            <a:r>
              <a:rPr sz="2800" b="0" i="0" dirty="0">
                <a:solidFill>
                  <a:srgbClr val="262626"/>
                </a:solidFill>
                <a:latin typeface="Calibri Light"/>
              </a:rPr>
              <a:t> </a:t>
            </a:r>
            <a:r>
              <a:rPr sz="2800" b="0" i="0" dirty="0" err="1">
                <a:solidFill>
                  <a:srgbClr val="262626"/>
                </a:solidFill>
                <a:latin typeface="Calibri Light"/>
              </a:rPr>
              <a:t>Anzeige</a:t>
            </a:r>
            <a:r>
              <a:rPr sz="2800" b="0" i="0" dirty="0">
                <a:solidFill>
                  <a:srgbClr val="262626"/>
                </a:solidFill>
                <a:latin typeface="Calibri Light"/>
              </a:rPr>
              <a:t> in 6 </a:t>
            </a:r>
            <a:r>
              <a:rPr sz="2800" b="0" i="0" dirty="0" err="1">
                <a:solidFill>
                  <a:srgbClr val="262626"/>
                </a:solidFill>
                <a:latin typeface="Calibri Light"/>
              </a:rPr>
              <a:t>Schritten</a:t>
            </a:r>
            <a:endParaRPr sz="2800" b="0" i="0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3529584" cy="1325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95528" y="1984248"/>
            <a:ext cx="457200" cy="45720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 Ligh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65960"/>
            <a:ext cx="2569463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262626"/>
                </a:solidFill>
                <a:latin typeface="Calibri"/>
              </a:rPr>
              <a:t>Sensor erkennt Statuswechsel (TCRT5000)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1783080"/>
            <a:ext cx="3529584" cy="1325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99432" y="1984248"/>
            <a:ext cx="457200" cy="4572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 Ligh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504" y="1965960"/>
            <a:ext cx="2569463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262626"/>
                </a:solidFill>
                <a:latin typeface="Calibri"/>
              </a:rPr>
              <a:t>ESP32 baut MQTT-Nachricht: sensorId, spotId, ts, raw,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2168" y="1783080"/>
            <a:ext cx="3529584" cy="1325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03336" y="1984248"/>
            <a:ext cx="457200" cy="4572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1965960"/>
            <a:ext cx="2569463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262626"/>
                </a:solidFill>
                <a:latin typeface="Calibri"/>
              </a:rPr>
              <a:t>Publish auf parking/garage1/spot/&lt;id&gt;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383280"/>
            <a:ext cx="3529584" cy="1325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95528" y="3584448"/>
            <a:ext cx="457200" cy="457200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 Light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66160"/>
            <a:ext cx="2569463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262626"/>
                </a:solidFill>
                <a:latin typeface="Calibri"/>
              </a:rPr>
              <a:t>IoT-Rule → Validierungs-Lambda → DynamoDB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8264" y="3383280"/>
            <a:ext cx="3529584" cy="1325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99432" y="3584448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 Light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3566160"/>
            <a:ext cx="2569463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262626"/>
                </a:solidFill>
                <a:latin typeface="Calibri"/>
              </a:rPr>
              <a:t>Aggregations-Lambda: Auslastung + Ampel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8" y="3383280"/>
            <a:ext cx="3529584" cy="1325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03336" y="3584448"/>
            <a:ext cx="457200" cy="457200"/>
          </a:xfrm>
          <a:prstGeom prst="ellipse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 Light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3566160"/>
            <a:ext cx="2569463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262626"/>
                </a:solidFill>
                <a:latin typeface="Calibri"/>
              </a:rPr>
              <a:t>API Gateway → Web / Navigation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11018520" cy="477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 i="0" dirty="0" err="1">
                <a:solidFill>
                  <a:srgbClr val="44546A"/>
                </a:solidFill>
                <a:latin typeface="Calibri"/>
              </a:rPr>
              <a:t>Jede</a:t>
            </a:r>
            <a:r>
              <a:rPr sz="1350" b="1" i="0" dirty="0">
                <a:solidFill>
                  <a:srgbClr val="44546A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44546A"/>
                </a:solidFill>
                <a:latin typeface="Calibri"/>
              </a:rPr>
              <a:t>Nachricht</a:t>
            </a:r>
            <a:r>
              <a:rPr sz="1350" b="1" i="0" dirty="0">
                <a:solidFill>
                  <a:srgbClr val="44546A"/>
                </a:solidFill>
                <a:latin typeface="Calibri"/>
              </a:rPr>
              <a:t> = 1 IoT-</a:t>
            </a:r>
            <a:r>
              <a:rPr sz="1350" b="1" i="0" dirty="0" err="1">
                <a:solidFill>
                  <a:srgbClr val="44546A"/>
                </a:solidFill>
                <a:latin typeface="Calibri"/>
              </a:rPr>
              <a:t>Nachricht</a:t>
            </a:r>
            <a:r>
              <a:rPr sz="1350" b="1" i="0" dirty="0">
                <a:solidFill>
                  <a:srgbClr val="44546A"/>
                </a:solidFill>
                <a:latin typeface="Calibri"/>
              </a:rPr>
              <a:t> = 1 Lambda-</a:t>
            </a:r>
            <a:r>
              <a:rPr sz="1350" b="1" i="0" dirty="0" err="1">
                <a:solidFill>
                  <a:srgbClr val="44546A"/>
                </a:solidFill>
                <a:latin typeface="Calibri"/>
              </a:rPr>
              <a:t>Aufruf</a:t>
            </a:r>
            <a:r>
              <a:rPr sz="1350" b="1" i="0" dirty="0">
                <a:solidFill>
                  <a:srgbClr val="44546A"/>
                </a:solidFill>
                <a:latin typeface="Calibri"/>
              </a:rPr>
              <a:t> = 1 DynamoDB-Write → </a:t>
            </a:r>
            <a:r>
              <a:rPr sz="1350" b="1" i="0" dirty="0" err="1">
                <a:solidFill>
                  <a:srgbClr val="44546A"/>
                </a:solidFill>
                <a:latin typeface="Calibri"/>
              </a:rPr>
              <a:t>macht</a:t>
            </a:r>
            <a:r>
              <a:rPr sz="1350" b="1" i="0" dirty="0">
                <a:solidFill>
                  <a:srgbClr val="44546A"/>
                </a:solidFill>
                <a:latin typeface="Calibri"/>
              </a:rPr>
              <a:t> die </a:t>
            </a:r>
            <a:r>
              <a:rPr sz="1350" b="1" i="0" dirty="0" err="1">
                <a:solidFill>
                  <a:srgbClr val="44546A"/>
                </a:solidFill>
                <a:latin typeface="Calibri"/>
              </a:rPr>
              <a:t>laufenden</a:t>
            </a:r>
            <a:r>
              <a:rPr sz="1350" b="1" i="0" dirty="0">
                <a:solidFill>
                  <a:srgbClr val="44546A"/>
                </a:solidFill>
                <a:latin typeface="Calibri"/>
              </a:rPr>
              <a:t> Cloud-Kosten (OPEX) </a:t>
            </a:r>
            <a:r>
              <a:rPr sz="1350" b="1" i="0" dirty="0" err="1">
                <a:solidFill>
                  <a:srgbClr val="44546A"/>
                </a:solidFill>
                <a:latin typeface="Calibri"/>
              </a:rPr>
              <a:t>messbar</a:t>
            </a:r>
            <a:endParaRPr sz="1350" b="1" i="0" dirty="0">
              <a:solidFill>
                <a:srgbClr val="44546A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sz="1350" b="1" dirty="0">
                <a:solidFill>
                  <a:srgbClr val="70AD47"/>
                </a:solidFill>
                <a:latin typeface="Calibri"/>
              </a:rPr>
              <a:t>● </a:t>
            </a:r>
            <a:r>
              <a:rPr sz="1350" b="0" dirty="0">
                <a:solidFill>
                  <a:srgbClr val="262626"/>
                </a:solidFill>
                <a:latin typeface="Calibri"/>
              </a:rPr>
              <a:t>&lt;0,70    </a:t>
            </a:r>
            <a:r>
              <a:rPr sz="1350" b="1" dirty="0">
                <a:solidFill>
                  <a:srgbClr val="FFC000"/>
                </a:solidFill>
                <a:latin typeface="Calibri"/>
              </a:rPr>
              <a:t>● </a:t>
            </a:r>
            <a:r>
              <a:rPr sz="1350" b="0" dirty="0">
                <a:solidFill>
                  <a:srgbClr val="262626"/>
                </a:solidFill>
                <a:latin typeface="Calibri"/>
              </a:rPr>
              <a:t>0,70–0,90    </a:t>
            </a:r>
            <a:r>
              <a:rPr sz="1350" b="1" dirty="0">
                <a:solidFill>
                  <a:srgbClr val="ED7D31"/>
                </a:solidFill>
                <a:latin typeface="Calibri"/>
              </a:rPr>
              <a:t>● </a:t>
            </a:r>
            <a:r>
              <a:rPr sz="1350" b="0" dirty="0">
                <a:solidFill>
                  <a:srgbClr val="262626"/>
                </a:solidFill>
                <a:latin typeface="Calibri"/>
              </a:rPr>
              <a:t>&gt;0,90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37376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dirty="0">
                <a:solidFill>
                  <a:srgbClr val="7F7F7F"/>
                </a:solidFill>
                <a:latin typeface="Calibri"/>
              </a:rPr>
              <a:t>Drive &amp; Decide · Seier &amp; Zankl · </a:t>
            </a:r>
            <a:r>
              <a:rPr lang="de-AT" sz="900" dirty="0">
                <a:solidFill>
                  <a:srgbClr val="7F7F7F"/>
                </a:solidFill>
              </a:rPr>
              <a:t>Hochschule</a:t>
            </a:r>
            <a:r>
              <a:rPr sz="900" b="0" i="0" dirty="0">
                <a:solidFill>
                  <a:srgbClr val="7F7F7F"/>
                </a:solidFill>
                <a:latin typeface="Calibri"/>
              </a:rPr>
              <a:t> Burgenland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373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PROTOTYP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262626"/>
                </a:solidFill>
                <a:latin typeface="Calibri Light"/>
              </a:rPr>
              <a:t>Physisch für Realismus, virtuell für Skalierung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3931920" cy="32461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800600" y="1828800"/>
            <a:ext cx="6812280" cy="157276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74920" y="1956816"/>
            <a:ext cx="6263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70AD47"/>
                </a:solidFill>
                <a:latin typeface="Calibri"/>
              </a:rPr>
              <a:t>Physisch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2340864"/>
            <a:ext cx="626364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0000" indent="-200000" algn="l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Modellgarage mit 4 markierten Stellplätzen</a:t>
            </a:r>
          </a:p>
          <a:p>
            <a:pPr marL="200000" indent="-200000" algn="l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Je ein TCRT5000-IR-Sensor, ausgelesen vom ESP32</a:t>
            </a:r>
          </a:p>
          <a:p>
            <a:pPr marL="200000" indent="-200000" algn="l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250" b="0" i="0">
                <a:solidFill>
                  <a:srgbClr val="262626"/>
                </a:solidFill>
                <a:latin typeface="Calibri"/>
              </a:rPr>
              <a:t>Belegung per Matchbox-Fahrzeugen, Publish via MQTT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3502152"/>
            <a:ext cx="6812280" cy="157276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74920" y="3630168"/>
            <a:ext cx="6263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5B9BD5"/>
                </a:solidFill>
                <a:latin typeface="Calibri"/>
              </a:rPr>
              <a:t>Virtuell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4014216"/>
            <a:ext cx="626364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0000" indent="-200000" algn="l">
              <a:lnSpc>
                <a:spcPct val="100000"/>
              </a:lnSpc>
              <a:spcAft>
                <a:spcPts val="400"/>
              </a:spcAft>
              <a:buChar char="•"/>
            </a:pPr>
            <a:r>
              <a:rPr lang="de-AT" sz="1250" b="0" i="0" dirty="0">
                <a:solidFill>
                  <a:srgbClr val="262626"/>
                </a:solidFill>
                <a:latin typeface="Calibri"/>
              </a:rPr>
              <a:t>Load Generator</a:t>
            </a:r>
            <a:r>
              <a:rPr sz="12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62626"/>
                </a:solidFill>
                <a:latin typeface="Calibri"/>
              </a:rPr>
              <a:t>simuliert</a:t>
            </a:r>
            <a:r>
              <a:rPr sz="12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62626"/>
                </a:solidFill>
                <a:latin typeface="Calibri"/>
              </a:rPr>
              <a:t>eine</a:t>
            </a:r>
            <a:r>
              <a:rPr sz="12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62626"/>
                </a:solidFill>
                <a:latin typeface="Calibri"/>
              </a:rPr>
              <a:t>ganze</a:t>
            </a:r>
            <a:r>
              <a:rPr sz="1250" b="0" i="0" dirty="0">
                <a:solidFill>
                  <a:srgbClr val="262626"/>
                </a:solidFill>
                <a:latin typeface="Calibri"/>
              </a:rPr>
              <a:t> Garage (200</a:t>
            </a:r>
            <a:r>
              <a:rPr lang="de-AT" sz="1250" b="0" i="0" dirty="0">
                <a:solidFill>
                  <a:srgbClr val="262626"/>
                </a:solidFill>
                <a:latin typeface="Calibri"/>
              </a:rPr>
              <a:t> - </a:t>
            </a:r>
            <a:r>
              <a:rPr sz="1250" b="0" i="0" dirty="0">
                <a:solidFill>
                  <a:srgbClr val="262626"/>
                </a:solidFill>
                <a:latin typeface="Calibri"/>
              </a:rPr>
              <a:t>500 </a:t>
            </a:r>
            <a:r>
              <a:rPr sz="1250" b="0" i="0" dirty="0" err="1">
                <a:solidFill>
                  <a:srgbClr val="262626"/>
                </a:solidFill>
                <a:latin typeface="Calibri"/>
              </a:rPr>
              <a:t>Stellplätze</a:t>
            </a:r>
            <a:r>
              <a:rPr sz="1250" b="0" i="0" dirty="0">
                <a:solidFill>
                  <a:srgbClr val="262626"/>
                </a:solidFill>
                <a:latin typeface="Calibri"/>
              </a:rPr>
              <a:t>; </a:t>
            </a:r>
            <a:r>
              <a:rPr sz="1250" b="0" i="0" dirty="0" err="1">
                <a:solidFill>
                  <a:srgbClr val="262626"/>
                </a:solidFill>
                <a:latin typeface="Calibri"/>
              </a:rPr>
              <a:t>Großgarage</a:t>
            </a:r>
            <a:r>
              <a:rPr sz="1250" b="0" i="0" dirty="0">
                <a:solidFill>
                  <a:srgbClr val="262626"/>
                </a:solidFill>
                <a:latin typeface="Calibri"/>
              </a:rPr>
              <a:t>: 400)</a:t>
            </a:r>
          </a:p>
          <a:p>
            <a:pPr marL="200000" indent="-200000" algn="l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250" b="0" i="0" dirty="0" err="1">
                <a:solidFill>
                  <a:srgbClr val="262626"/>
                </a:solidFill>
                <a:latin typeface="Calibri"/>
              </a:rPr>
              <a:t>Nutzt</a:t>
            </a:r>
            <a:r>
              <a:rPr sz="12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62626"/>
                </a:solidFill>
                <a:latin typeface="Calibri"/>
              </a:rPr>
              <a:t>denselben</a:t>
            </a:r>
            <a:r>
              <a:rPr sz="1250" b="0" i="0" dirty="0">
                <a:solidFill>
                  <a:srgbClr val="262626"/>
                </a:solidFill>
                <a:latin typeface="Calibri"/>
              </a:rPr>
              <a:t> MQTT-</a:t>
            </a:r>
            <a:r>
              <a:rPr sz="1250" b="0" i="0" dirty="0" err="1">
                <a:solidFill>
                  <a:srgbClr val="262626"/>
                </a:solidFill>
                <a:latin typeface="Calibri"/>
              </a:rPr>
              <a:t>Pfad</a:t>
            </a:r>
            <a:r>
              <a:rPr sz="1250" b="0" i="0" dirty="0">
                <a:solidFill>
                  <a:srgbClr val="262626"/>
                </a:solidFill>
                <a:latin typeface="Calibri"/>
              </a:rPr>
              <a:t> + </a:t>
            </a:r>
            <a:r>
              <a:rPr sz="1250" b="0" i="0" dirty="0" err="1">
                <a:solidFill>
                  <a:srgbClr val="262626"/>
                </a:solidFill>
                <a:latin typeface="Calibri"/>
              </a:rPr>
              <a:t>Einfahrts</a:t>
            </a:r>
            <a:r>
              <a:rPr sz="1250" b="0" i="0" dirty="0">
                <a:solidFill>
                  <a:srgbClr val="262626"/>
                </a:solidFill>
                <a:latin typeface="Calibri"/>
              </a:rPr>
              <a:t>-Ampel</a:t>
            </a:r>
          </a:p>
          <a:p>
            <a:pPr marL="200000" indent="-200000" algn="l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250" b="0" i="0" dirty="0" err="1">
                <a:solidFill>
                  <a:srgbClr val="262626"/>
                </a:solidFill>
                <a:latin typeface="Calibri"/>
              </a:rPr>
              <a:t>Realistische</a:t>
            </a:r>
            <a:r>
              <a:rPr sz="1250" b="0" i="0" dirty="0">
                <a:solidFill>
                  <a:srgbClr val="262626"/>
                </a:solidFill>
                <a:latin typeface="Calibri"/>
              </a:rPr>
              <a:t> Last und Cloud-Kosten </a:t>
            </a:r>
            <a:r>
              <a:rPr sz="1250" b="0" i="0" dirty="0" err="1">
                <a:solidFill>
                  <a:srgbClr val="262626"/>
                </a:solidFill>
                <a:latin typeface="Calibri"/>
              </a:rPr>
              <a:t>ohne</a:t>
            </a:r>
            <a:r>
              <a:rPr sz="1250" b="0" i="0" dirty="0">
                <a:solidFill>
                  <a:srgbClr val="262626"/>
                </a:solidFill>
                <a:latin typeface="Calibri"/>
              </a:rPr>
              <a:t> Hardware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212080"/>
            <a:ext cx="11018520" cy="658368"/>
          </a:xfrm>
          <a:prstGeom prst="roundRect">
            <a:avLst>
              <a:gd name="adj" fmla="val 6000"/>
            </a:avLst>
          </a:prstGeom>
          <a:solidFill>
            <a:srgbClr val="DA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428245"/>
            <a:ext cx="1046988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dirty="0" err="1">
                <a:solidFill>
                  <a:srgbClr val="44546A"/>
                </a:solidFill>
                <a:latin typeface="Calibri"/>
              </a:rPr>
              <a:t>Beide</a:t>
            </a:r>
            <a:r>
              <a:rPr sz="1350" b="1" i="0" dirty="0">
                <a:solidFill>
                  <a:srgbClr val="44546A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44546A"/>
                </a:solidFill>
                <a:latin typeface="Calibri"/>
              </a:rPr>
              <a:t>Prototypen</a:t>
            </a:r>
            <a:r>
              <a:rPr sz="1350" b="1" i="0" dirty="0">
                <a:solidFill>
                  <a:srgbClr val="44546A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44546A"/>
                </a:solidFill>
                <a:latin typeface="Calibri"/>
              </a:rPr>
              <a:t>nutzen</a:t>
            </a:r>
            <a:r>
              <a:rPr sz="1350" b="1" i="0" dirty="0">
                <a:solidFill>
                  <a:srgbClr val="44546A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44546A"/>
                </a:solidFill>
                <a:latin typeface="Calibri"/>
              </a:rPr>
              <a:t>identisches</a:t>
            </a:r>
            <a:r>
              <a:rPr sz="1350" b="1" i="0" dirty="0">
                <a:solidFill>
                  <a:srgbClr val="44546A"/>
                </a:solidFill>
                <a:latin typeface="Calibri"/>
              </a:rPr>
              <a:t> Topic und JSON-Schema </a:t>
            </a:r>
            <a:r>
              <a:rPr lang="de-AT" sz="1350" b="1" dirty="0">
                <a:solidFill>
                  <a:srgbClr val="44546A"/>
                </a:solidFill>
                <a:latin typeface="Calibri"/>
                <a:sym typeface="Wingdings" pitchFamily="2" charset="2"/>
              </a:rPr>
              <a:t> </a:t>
            </a:r>
            <a:r>
              <a:rPr sz="1350" b="1" i="0" dirty="0" err="1">
                <a:solidFill>
                  <a:srgbClr val="44546A"/>
                </a:solidFill>
                <a:latin typeface="Calibri"/>
              </a:rPr>
              <a:t>ein</a:t>
            </a:r>
            <a:r>
              <a:rPr sz="1350" b="1" i="0" dirty="0">
                <a:solidFill>
                  <a:srgbClr val="44546A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44546A"/>
                </a:solidFill>
                <a:latin typeface="Calibri"/>
              </a:rPr>
              <a:t>gemeinsame</a:t>
            </a:r>
            <a:r>
              <a:rPr lang="de-AT" sz="1350" b="1" i="0" dirty="0" err="1">
                <a:solidFill>
                  <a:srgbClr val="44546A"/>
                </a:solidFill>
                <a:latin typeface="Calibri"/>
              </a:rPr>
              <a:t>r</a:t>
            </a:r>
            <a:r>
              <a:rPr sz="1350" b="1" i="0" dirty="0">
                <a:solidFill>
                  <a:srgbClr val="44546A"/>
                </a:solidFill>
                <a:latin typeface="Calibri"/>
              </a:rPr>
              <a:t> „Contract“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37376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dirty="0">
                <a:solidFill>
                  <a:srgbClr val="7F7F7F"/>
                </a:solidFill>
                <a:latin typeface="Calibri"/>
              </a:rPr>
              <a:t>Drive &amp; Decide · Seier &amp; Zankl · </a:t>
            </a:r>
            <a:r>
              <a:rPr lang="de-AT" sz="900" dirty="0">
                <a:solidFill>
                  <a:srgbClr val="7F7F7F"/>
                </a:solidFill>
              </a:rPr>
              <a:t>Hochschule</a:t>
            </a:r>
            <a:r>
              <a:rPr sz="900" b="0" i="0" dirty="0">
                <a:solidFill>
                  <a:srgbClr val="7F7F7F"/>
                </a:solidFill>
                <a:latin typeface="Calibri"/>
              </a:rPr>
              <a:t> Burgenland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373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Calibri"/>
              </a:rPr>
              <a:t>8</a:t>
            </a:r>
          </a:p>
        </p:txBody>
      </p:sp>
      <p:pic>
        <p:nvPicPr>
          <p:cNvPr id="17" name="Picture 16" descr="A box with wires and wires&#10;&#10;AI-generated content may be incorrect.">
            <a:extLst>
              <a:ext uri="{FF2B5EF4-FFF2-40B4-BE49-F238E27FC236}">
                <a16:creationId xmlns:a16="http://schemas.microsoft.com/office/drawing/2014/main" id="{D18DBD1C-A9A6-BD14-8413-005DA0BF8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096" y="1919468"/>
            <a:ext cx="2806448" cy="31005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4600" y="214884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0" i="0">
                <a:solidFill>
                  <a:srgbClr val="262626"/>
                </a:solidFill>
                <a:latin typeface="Calibri Light"/>
              </a:rPr>
              <a:t>Live-Demo</a:t>
            </a:r>
          </a:p>
          <a:p>
            <a:pPr algn="l">
              <a:spcBef>
                <a:spcPts val="200"/>
              </a:spcBef>
            </a:pPr>
            <a:r>
              <a:rPr sz="2000" b="1" i="0">
                <a:solidFill>
                  <a:srgbClr val="ED7D31"/>
                </a:solidFill>
                <a:latin typeface="Calibri"/>
              </a:rPr>
              <a:t>mit Video-Fallback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2032" y="3703320"/>
            <a:ext cx="87782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lnSpc>
                <a:spcPct val="106000"/>
              </a:lnSpc>
              <a:spcAft>
                <a:spcPts val="1100"/>
              </a:spcAft>
              <a:buChar char="•"/>
            </a:pPr>
            <a:r>
              <a:rPr sz="1600" b="0" i="0" dirty="0" err="1">
                <a:solidFill>
                  <a:srgbClr val="262626"/>
                </a:solidFill>
                <a:latin typeface="Calibri"/>
              </a:rPr>
              <a:t>Physische</a:t>
            </a:r>
            <a:r>
              <a:rPr sz="16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Calibri"/>
              </a:rPr>
              <a:t>Belegung</a:t>
            </a:r>
            <a:r>
              <a:rPr sz="1600" b="0" i="0" dirty="0">
                <a:solidFill>
                  <a:srgbClr val="262626"/>
                </a:solidFill>
                <a:latin typeface="Calibri"/>
              </a:rPr>
              <a:t> (Modell) → Web-Update in 1–2 s</a:t>
            </a:r>
          </a:p>
          <a:p>
            <a:pPr marL="228600" indent="-228600" algn="l">
              <a:lnSpc>
                <a:spcPct val="106000"/>
              </a:lnSpc>
              <a:spcAft>
                <a:spcPts val="1100"/>
              </a:spcAft>
              <a:buChar char="•"/>
            </a:pPr>
            <a:r>
              <a:rPr sz="1600" b="0" i="0" dirty="0" err="1">
                <a:solidFill>
                  <a:srgbClr val="262626"/>
                </a:solidFill>
                <a:latin typeface="Calibri"/>
              </a:rPr>
              <a:t>Großgarage</a:t>
            </a:r>
            <a:r>
              <a:rPr sz="1600" b="0" i="0" dirty="0">
                <a:solidFill>
                  <a:srgbClr val="262626"/>
                </a:solidFill>
                <a:latin typeface="Calibri"/>
              </a:rPr>
              <a:t> → „</a:t>
            </a:r>
            <a:r>
              <a:rPr sz="1600" b="0" i="0" dirty="0" err="1">
                <a:solidFill>
                  <a:srgbClr val="262626"/>
                </a:solidFill>
                <a:latin typeface="Calibri"/>
              </a:rPr>
              <a:t>Andrang</a:t>
            </a:r>
            <a:r>
              <a:rPr sz="16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Calibri"/>
              </a:rPr>
              <a:t>simulieren</a:t>
            </a:r>
            <a:r>
              <a:rPr sz="1600" b="0" i="0" dirty="0">
                <a:solidFill>
                  <a:srgbClr val="262626"/>
                </a:solidFill>
                <a:latin typeface="Calibri"/>
              </a:rPr>
              <a:t>“ → Ampel </a:t>
            </a:r>
            <a:r>
              <a:rPr sz="1600" b="0" i="0" dirty="0" err="1">
                <a:solidFill>
                  <a:srgbClr val="262626"/>
                </a:solidFill>
                <a:latin typeface="Calibri"/>
              </a:rPr>
              <a:t>grün</a:t>
            </a:r>
            <a:r>
              <a:rPr sz="1600" b="0" i="0" dirty="0">
                <a:solidFill>
                  <a:srgbClr val="262626"/>
                </a:solidFill>
                <a:latin typeface="Calibri"/>
              </a:rPr>
              <a:t> → </a:t>
            </a:r>
            <a:r>
              <a:rPr sz="1600" b="0" i="0" dirty="0" err="1">
                <a:solidFill>
                  <a:srgbClr val="262626"/>
                </a:solidFill>
                <a:latin typeface="Calibri"/>
              </a:rPr>
              <a:t>gelb</a:t>
            </a:r>
            <a:r>
              <a:rPr sz="1600" b="0" i="0" dirty="0">
                <a:solidFill>
                  <a:srgbClr val="262626"/>
                </a:solidFill>
                <a:latin typeface="Calibri"/>
              </a:rPr>
              <a:t> → rot</a:t>
            </a:r>
          </a:p>
          <a:p>
            <a:pPr marL="228600" indent="-228600" algn="l">
              <a:lnSpc>
                <a:spcPct val="106000"/>
              </a:lnSpc>
              <a:spcAft>
                <a:spcPts val="1100"/>
              </a:spcAft>
              <a:buChar char="•"/>
            </a:pPr>
            <a:r>
              <a:rPr sz="1600" b="0" i="0" dirty="0">
                <a:solidFill>
                  <a:srgbClr val="262626"/>
                </a:solidFill>
                <a:latin typeface="Calibri"/>
              </a:rPr>
              <a:t>End-to-End-</a:t>
            </a:r>
            <a:r>
              <a:rPr sz="1600" b="0" i="0" dirty="0" err="1">
                <a:solidFill>
                  <a:srgbClr val="262626"/>
                </a:solidFill>
                <a:latin typeface="Calibri"/>
              </a:rPr>
              <a:t>Pfad</a:t>
            </a:r>
            <a:r>
              <a:rPr sz="1600" b="0" i="0" dirty="0">
                <a:solidFill>
                  <a:srgbClr val="262626"/>
                </a:solidFill>
                <a:latin typeface="Calibri"/>
              </a:rPr>
              <a:t> live: Sensor → MQTT → IoT Core → Lambda → DynamoDB → API →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dirty="0">
                <a:solidFill>
                  <a:srgbClr val="7F7F7F"/>
                </a:solidFill>
                <a:latin typeface="Calibri"/>
              </a:rPr>
              <a:t>Drive &amp; Decide · Seier &amp; Zankl · </a:t>
            </a:r>
            <a:r>
              <a:rPr lang="de-AT" sz="900" dirty="0">
                <a:solidFill>
                  <a:srgbClr val="7F7F7F"/>
                </a:solidFill>
              </a:rPr>
              <a:t>Hochschule</a:t>
            </a:r>
            <a:r>
              <a:rPr sz="900" b="0" i="0" dirty="0">
                <a:solidFill>
                  <a:srgbClr val="7F7F7F"/>
                </a:solidFill>
                <a:latin typeface="Calibri"/>
              </a:rPr>
              <a:t> Burgenland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KOSTEN-NUTZEN-MODELL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262626"/>
                </a:solidFill>
                <a:latin typeface="Calibri Light"/>
              </a:rPr>
              <a:t>Aufbau: Kosten gegen Nutzen über 5 Jahre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2670048" cy="3063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 Same Side Corner Rectangle 4"/>
          <p:cNvSpPr/>
          <p:nvPr/>
        </p:nvSpPr>
        <p:spPr>
          <a:xfrm>
            <a:off x="594360" y="1874519"/>
            <a:ext cx="2670048" cy="566928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230428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CAPEX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651760"/>
            <a:ext cx="2267712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62626"/>
                </a:solidFill>
                <a:latin typeface="Calibri"/>
              </a:rPr>
              <a:t>Sensoren, Mikrocontroller, Verkabelung, Installation, initiale Cloud-Konfiguration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874519"/>
            <a:ext cx="2670048" cy="3063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 Same Side Corner Rectangle 8"/>
          <p:cNvSpPr/>
          <p:nvPr/>
        </p:nvSpPr>
        <p:spPr>
          <a:xfrm>
            <a:off x="3438144" y="1874519"/>
            <a:ext cx="2670048" cy="566928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21024" y="1947672"/>
            <a:ext cx="230428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651760"/>
            <a:ext cx="2267712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62626"/>
                </a:solidFill>
                <a:latin typeface="Calibri"/>
              </a:rPr>
              <a:t>Nutzungsabhängige AWS-Kosten (IoT, Lambda, DynamoDB, Transfer, Speicher) + Wartung, Sensoraustausch, Strom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874519"/>
            <a:ext cx="2670048" cy="3063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>
            <a:off x="6281928" y="1874519"/>
            <a:ext cx="2670048" cy="566928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1947672"/>
            <a:ext cx="230428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Nutzen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651760"/>
            <a:ext cx="2267712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 dirty="0" err="1">
                <a:solidFill>
                  <a:srgbClr val="262626"/>
                </a:solidFill>
                <a:latin typeface="Calibri"/>
              </a:rPr>
              <a:t>Höhere</a:t>
            </a:r>
            <a:r>
              <a:rPr sz="13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Calibri"/>
              </a:rPr>
              <a:t>Auslastung</a:t>
            </a:r>
            <a:r>
              <a:rPr sz="1300" b="0" i="0" dirty="0">
                <a:solidFill>
                  <a:srgbClr val="262626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262626"/>
                </a:solidFill>
                <a:latin typeface="Calibri"/>
              </a:rPr>
              <a:t>dynamische</a:t>
            </a:r>
            <a:r>
              <a:rPr sz="13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Calibri"/>
              </a:rPr>
              <a:t>Preise</a:t>
            </a:r>
            <a:r>
              <a:rPr sz="1300" b="0" i="0" dirty="0">
                <a:solidFill>
                  <a:srgbClr val="262626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262626"/>
                </a:solidFill>
                <a:latin typeface="Calibri"/>
              </a:rPr>
              <a:t>weniger</a:t>
            </a:r>
            <a:r>
              <a:rPr sz="13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Calibri"/>
              </a:rPr>
              <a:t>Fehlfahrten</a:t>
            </a:r>
            <a:r>
              <a:rPr sz="1300" b="0" i="0" dirty="0">
                <a:solidFill>
                  <a:srgbClr val="262626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262626"/>
                </a:solidFill>
                <a:latin typeface="Calibri"/>
              </a:rPr>
              <a:t>Datenverwertung</a:t>
            </a:r>
            <a:endParaRPr sz="1300" b="0" i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25712" y="1874519"/>
            <a:ext cx="2670048" cy="3063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>
            <a:off x="9125712" y="1874519"/>
            <a:ext cx="2670048" cy="566928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08592" y="1947672"/>
            <a:ext cx="230428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Kennzahlen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651760"/>
            <a:ext cx="2267712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 dirty="0">
                <a:solidFill>
                  <a:srgbClr val="262626"/>
                </a:solidFill>
                <a:latin typeface="Calibri"/>
              </a:rPr>
              <a:t>TCO · ROI · </a:t>
            </a:r>
            <a:r>
              <a:rPr sz="1300" b="0" i="0" dirty="0" err="1">
                <a:solidFill>
                  <a:srgbClr val="262626"/>
                </a:solidFill>
                <a:latin typeface="Calibri"/>
              </a:rPr>
              <a:t>Amortisation</a:t>
            </a:r>
            <a:r>
              <a:rPr sz="1300" b="0" i="0" dirty="0">
                <a:solidFill>
                  <a:srgbClr val="262626"/>
                </a:solidFill>
                <a:latin typeface="Calibri"/>
              </a:rPr>
              <a:t> · Break-Even (</a:t>
            </a:r>
            <a:r>
              <a:rPr lang="el-GR" sz="1300" b="0" i="0" dirty="0">
                <a:solidFill>
                  <a:srgbClr val="262626"/>
                </a:solidFill>
                <a:latin typeface="Calibri"/>
              </a:rPr>
              <a:t>Δ</a:t>
            </a:r>
            <a:r>
              <a:rPr lang="en-US" sz="13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Calibri"/>
              </a:rPr>
              <a:t>Auslastung</a:t>
            </a:r>
            <a:r>
              <a:rPr sz="1300" b="0" i="0" dirty="0">
                <a:solidFill>
                  <a:srgbClr val="262626"/>
                </a:solidFill>
                <a:latin typeface="Calibri"/>
              </a:rPr>
              <a:t> in %-</a:t>
            </a:r>
            <a:r>
              <a:rPr sz="1300" b="0" i="0" dirty="0" err="1">
                <a:solidFill>
                  <a:srgbClr val="262626"/>
                </a:solidFill>
                <a:latin typeface="Calibri"/>
              </a:rPr>
              <a:t>Punkten</a:t>
            </a:r>
            <a:r>
              <a:rPr sz="1300" b="0" i="0" dirty="0">
                <a:solidFill>
                  <a:srgbClr val="262626"/>
                </a:solidFill>
                <a:latin typeface="Calibri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57800"/>
            <a:ext cx="11018520" cy="1938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1" dirty="0" err="1">
                <a:solidFill>
                  <a:srgbClr val="7F7F7F"/>
                </a:solidFill>
                <a:latin typeface="Calibri"/>
              </a:rPr>
              <a:t>Datenquellen</a:t>
            </a:r>
            <a:r>
              <a:rPr sz="1250" b="0" i="1" dirty="0">
                <a:solidFill>
                  <a:srgbClr val="7F7F7F"/>
                </a:solidFill>
                <a:latin typeface="Calibri"/>
              </a:rPr>
              <a:t>: </a:t>
            </a:r>
            <a:r>
              <a:rPr sz="1250" b="0" i="1" dirty="0" err="1">
                <a:solidFill>
                  <a:srgbClr val="7F7F7F"/>
                </a:solidFill>
                <a:latin typeface="Calibri"/>
              </a:rPr>
              <a:t>Herstellerpreise</a:t>
            </a:r>
            <a:r>
              <a:rPr sz="1250" b="0" i="1" dirty="0">
                <a:solidFill>
                  <a:srgbClr val="7F7F7F"/>
                </a:solidFill>
                <a:latin typeface="Calibri"/>
              </a:rPr>
              <a:t> · AWS-</a:t>
            </a:r>
            <a:r>
              <a:rPr sz="1250" b="0" i="1" dirty="0" err="1">
                <a:solidFill>
                  <a:srgbClr val="7F7F7F"/>
                </a:solidFill>
                <a:latin typeface="Calibri"/>
              </a:rPr>
              <a:t>Listenpreise</a:t>
            </a:r>
            <a:r>
              <a:rPr sz="1250" b="0" i="1" dirty="0">
                <a:solidFill>
                  <a:srgbClr val="7F7F7F"/>
                </a:solidFill>
                <a:latin typeface="Calibri"/>
              </a:rPr>
              <a:t> · </a:t>
            </a:r>
            <a:r>
              <a:rPr sz="1250" b="0" i="1" dirty="0" err="1">
                <a:solidFill>
                  <a:srgbClr val="7F7F7F"/>
                </a:solidFill>
                <a:latin typeface="Calibri"/>
              </a:rPr>
              <a:t>Literaturparameter</a:t>
            </a:r>
            <a:r>
              <a:rPr sz="1250" b="0" i="1" dirty="0">
                <a:solidFill>
                  <a:srgbClr val="7F7F7F"/>
                </a:solidFill>
                <a:latin typeface="Calibri"/>
              </a:rPr>
              <a:t> · </a:t>
            </a:r>
            <a:r>
              <a:rPr lang="de-AT" sz="1250" i="1" dirty="0">
                <a:solidFill>
                  <a:srgbClr val="7F7F7F"/>
                </a:solidFill>
                <a:latin typeface="Calibri"/>
              </a:rPr>
              <a:t>Run</a:t>
            </a:r>
            <a:r>
              <a:rPr sz="1250" b="0" i="1" dirty="0">
                <a:solidFill>
                  <a:srgbClr val="7F7F7F"/>
                </a:solidFill>
                <a:latin typeface="Calibri"/>
              </a:rPr>
              <a:t>-Manifest des </a:t>
            </a:r>
            <a:r>
              <a:rPr lang="de-AT" sz="1250" b="0" i="1" dirty="0">
                <a:solidFill>
                  <a:srgbClr val="7F7F7F"/>
                </a:solidFill>
                <a:latin typeface="Calibri"/>
              </a:rPr>
              <a:t>Load Generators</a:t>
            </a:r>
            <a:endParaRPr sz="1250" b="0" i="1" dirty="0">
              <a:solidFill>
                <a:srgbClr val="7F7F7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6437376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dirty="0">
                <a:solidFill>
                  <a:srgbClr val="7F7F7F"/>
                </a:solidFill>
                <a:latin typeface="Calibri"/>
              </a:rPr>
              <a:t>Drive &amp; Decide · Seier &amp; Zankl · </a:t>
            </a:r>
            <a:r>
              <a:rPr lang="de-AT" sz="900" dirty="0">
                <a:solidFill>
                  <a:srgbClr val="7F7F7F"/>
                </a:solidFill>
              </a:rPr>
              <a:t>Hochschule</a:t>
            </a:r>
            <a:r>
              <a:rPr sz="900" b="0" i="0" dirty="0">
                <a:solidFill>
                  <a:srgbClr val="7F7F7F"/>
                </a:solidFill>
                <a:latin typeface="Calibri"/>
              </a:rPr>
              <a:t> Burgenland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373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ERGEBNISSE · KOSTEN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262626"/>
                </a:solidFill>
                <a:latin typeface="Calibri Light"/>
              </a:rPr>
              <a:t>CAPEX dominiert, OPEX bleibt minimal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783080"/>
          <a:ext cx="67665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783080"/>
            <a:ext cx="3931920" cy="4206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0" y="1993392"/>
            <a:ext cx="3383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472C4"/>
                </a:solidFill>
                <a:latin typeface="Calibri"/>
              </a:rPr>
              <a:t>Das Wichtigste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2450592"/>
            <a:ext cx="3364991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4000" indent="-214000" algn="l">
              <a:lnSpc>
                <a:spcPct val="106000"/>
              </a:lnSpc>
              <a:spcAft>
                <a:spcPts val="900"/>
              </a:spcAft>
              <a:buChar char="•"/>
            </a:pPr>
            <a:r>
              <a:rPr sz="1400" b="0" i="0" dirty="0">
                <a:solidFill>
                  <a:srgbClr val="262626"/>
                </a:solidFill>
                <a:latin typeface="Calibri"/>
              </a:rPr>
              <a:t>OPEX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nur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rund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470–890 € pro Jahr</a:t>
            </a:r>
          </a:p>
          <a:p>
            <a:pPr marL="214000" indent="-214000" algn="l">
              <a:lnSpc>
                <a:spcPct val="106000"/>
              </a:lnSpc>
              <a:spcAft>
                <a:spcPts val="900"/>
              </a:spcAft>
              <a:buChar char="•"/>
            </a:pPr>
            <a:r>
              <a:rPr sz="1400" b="0" i="0" dirty="0" err="1">
                <a:solidFill>
                  <a:srgbClr val="262626"/>
                </a:solidFill>
                <a:latin typeface="Calibri"/>
              </a:rPr>
              <a:t>Gesamtkosten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klar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von den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einmaligen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CAPEX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dominiert</a:t>
            </a:r>
            <a:endParaRPr sz="1400" b="0" i="0" dirty="0">
              <a:solidFill>
                <a:srgbClr val="262626"/>
              </a:solidFill>
              <a:latin typeface="Calibri"/>
            </a:endParaRPr>
          </a:p>
          <a:p>
            <a:pPr marL="214000" indent="-214000" algn="l">
              <a:lnSpc>
                <a:spcPct val="106000"/>
              </a:lnSpc>
              <a:spcAft>
                <a:spcPts val="900"/>
              </a:spcAft>
              <a:buChar char="•"/>
            </a:pPr>
            <a:r>
              <a:rPr sz="1400" b="0" i="0" dirty="0">
                <a:solidFill>
                  <a:srgbClr val="262626"/>
                </a:solidFill>
                <a:latin typeface="Calibri"/>
              </a:rPr>
              <a:t>Serverless =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sehr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geringe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laufende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Cloud-Kosten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5074920"/>
            <a:ext cx="3383279" cy="713232"/>
          </a:xfrm>
          <a:prstGeom prst="roundRect">
            <a:avLst>
              <a:gd name="adj" fmla="val 6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5175504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TCO (5 J.): 9.958 € · 15.461 € · 18.241 €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dirty="0">
                <a:solidFill>
                  <a:srgbClr val="7F7F7F"/>
                </a:solidFill>
                <a:latin typeface="Calibri"/>
              </a:rPr>
              <a:t>Drive &amp; Decide · Seier &amp; Zankl · </a:t>
            </a:r>
            <a:r>
              <a:rPr lang="de-AT" sz="900" dirty="0">
                <a:solidFill>
                  <a:srgbClr val="7F7F7F"/>
                </a:solidFill>
              </a:rPr>
              <a:t>Hochschule</a:t>
            </a:r>
            <a:r>
              <a:rPr sz="900" b="0" i="0" dirty="0">
                <a:solidFill>
                  <a:srgbClr val="7F7F7F"/>
                </a:solidFill>
                <a:latin typeface="Calibri"/>
              </a:rPr>
              <a:t> Burgenland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373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ERGEBNISSE · KENNZAHLEN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262626"/>
                </a:solidFill>
                <a:latin typeface="Calibri Light"/>
              </a:rPr>
              <a:t>Break-Even als belastbare Kennzahl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670048" cy="1965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2039112"/>
            <a:ext cx="22677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4472C4"/>
                </a:solidFill>
                <a:latin typeface="Calibri Light"/>
              </a:rPr>
              <a:t>~0,03–0,04 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807208"/>
            <a:ext cx="226771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262626"/>
                </a:solidFill>
                <a:latin typeface="Calibri"/>
              </a:rPr>
              <a:t>Break-Even: nötige Auslastungs-steigerung, ab der sich die Investition trägt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8144" y="1783080"/>
            <a:ext cx="2670048" cy="1965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39312" y="2039112"/>
            <a:ext cx="22677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70AD47"/>
                </a:solidFill>
                <a:latin typeface="Calibri Light"/>
              </a:rPr>
              <a:t>&lt; 1 Jahr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807208"/>
            <a:ext cx="226771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262626"/>
                </a:solidFill>
                <a:latin typeface="Calibri"/>
              </a:rPr>
              <a:t>Amortisationsdauer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83080"/>
            <a:ext cx="2670048" cy="1965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6" y="2039112"/>
            <a:ext cx="22677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ED7D31"/>
                </a:solidFill>
                <a:latin typeface="Calibri Light"/>
              </a:rPr>
              <a:t>470–890 €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807208"/>
            <a:ext cx="226771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262626"/>
                </a:solidFill>
                <a:latin typeface="Calibri"/>
              </a:rPr>
              <a:t>OPEX pro Jahr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25712" y="1783080"/>
            <a:ext cx="2670048" cy="19659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2039112"/>
            <a:ext cx="22677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44546A"/>
                </a:solidFill>
                <a:latin typeface="Calibri Light"/>
              </a:rPr>
              <a:t>9.958–18.241 €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807208"/>
            <a:ext cx="2267712" cy="3767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 dirty="0">
                <a:solidFill>
                  <a:srgbClr val="262626"/>
                </a:solidFill>
                <a:latin typeface="Calibri"/>
              </a:rPr>
              <a:t>TCO </a:t>
            </a:r>
            <a:r>
              <a:rPr sz="1200" b="0" i="0" dirty="0" err="1">
                <a:solidFill>
                  <a:srgbClr val="262626"/>
                </a:solidFill>
                <a:latin typeface="Calibri"/>
              </a:rPr>
              <a:t>über</a:t>
            </a:r>
            <a:r>
              <a:rPr sz="1200" b="0" i="0" dirty="0">
                <a:solidFill>
                  <a:srgbClr val="262626"/>
                </a:solidFill>
                <a:latin typeface="Calibri"/>
              </a:rPr>
              <a:t> 5 Jahre</a:t>
            </a:r>
            <a:br>
              <a:rPr lang="de-AT" sz="1200" b="0" i="0" dirty="0">
                <a:solidFill>
                  <a:srgbClr val="262626"/>
                </a:solidFill>
                <a:latin typeface="Calibri"/>
              </a:rPr>
            </a:br>
            <a:r>
              <a:rPr sz="1200" b="0" i="0" dirty="0">
                <a:solidFill>
                  <a:srgbClr val="262626"/>
                </a:solidFill>
                <a:latin typeface="Calibri"/>
              </a:rPr>
              <a:t>(200</a:t>
            </a:r>
            <a:r>
              <a:rPr lang="de-AT" sz="1200" b="0" i="0" dirty="0">
                <a:solidFill>
                  <a:srgbClr val="262626"/>
                </a:solidFill>
                <a:latin typeface="Calibri"/>
              </a:rPr>
              <a:t> - </a:t>
            </a:r>
            <a:r>
              <a:rPr sz="1200" b="0" i="0" dirty="0">
                <a:solidFill>
                  <a:srgbClr val="262626"/>
                </a:solidFill>
                <a:latin typeface="Calibri"/>
              </a:rPr>
              <a:t>500 </a:t>
            </a:r>
            <a:r>
              <a:rPr sz="1200" b="0" i="0" dirty="0" err="1">
                <a:solidFill>
                  <a:srgbClr val="262626"/>
                </a:solidFill>
                <a:latin typeface="Calibri"/>
              </a:rPr>
              <a:t>Stellplätze</a:t>
            </a:r>
            <a:r>
              <a:rPr sz="1200" b="0" i="0" dirty="0">
                <a:solidFill>
                  <a:srgbClr val="262626"/>
                </a:solidFill>
                <a:latin typeface="Calibri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069080"/>
            <a:ext cx="11018520" cy="1783080"/>
          </a:xfrm>
          <a:prstGeom prst="roundRect">
            <a:avLst>
              <a:gd name="adj" fmla="val 6000"/>
            </a:avLst>
          </a:prstGeom>
          <a:solidFill>
            <a:srgbClr val="DA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224528"/>
            <a:ext cx="10469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4546A"/>
                </a:solidFill>
                <a:latin typeface="Calibri"/>
              </a:rPr>
              <a:t>Einordnung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17720"/>
            <a:ext cx="10469880" cy="462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 dirty="0">
                <a:solidFill>
                  <a:srgbClr val="262626"/>
                </a:solidFill>
                <a:latin typeface="Calibri"/>
              </a:rPr>
              <a:t>Break-Even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liegt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weit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unter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dem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konservativsten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Szenario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(+1 pp) und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unter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den in der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Literatur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berichteten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Effekten</a:t>
            </a:r>
            <a:br>
              <a:rPr lang="de-AT" sz="1400" b="0" i="0" dirty="0">
                <a:solidFill>
                  <a:srgbClr val="262626"/>
                </a:solidFill>
                <a:latin typeface="Calibri"/>
              </a:rPr>
            </a:br>
            <a:r>
              <a:rPr sz="1400" b="0" i="0" dirty="0">
                <a:solidFill>
                  <a:srgbClr val="262626"/>
                </a:solidFill>
                <a:latin typeface="Calibri"/>
              </a:rPr>
              <a:t>ROI und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Amortisation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sind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über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alle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Szenarien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deutlich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positiv</a:t>
            </a:r>
            <a:r>
              <a:rPr lang="de-AT" sz="1400" dirty="0">
                <a:solidFill>
                  <a:srgbClr val="262626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als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robuste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Kennzahl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wird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der Break-Even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berichtet</a:t>
            </a:r>
            <a:endParaRPr sz="1400" b="0" i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6437376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dirty="0">
                <a:solidFill>
                  <a:srgbClr val="7F7F7F"/>
                </a:solidFill>
                <a:latin typeface="Calibri"/>
              </a:rPr>
              <a:t>Drive &amp; Decide · Seier &amp; Zankl · </a:t>
            </a:r>
            <a:r>
              <a:rPr lang="de-AT" sz="900" dirty="0">
                <a:solidFill>
                  <a:srgbClr val="7F7F7F"/>
                </a:solidFill>
              </a:rPr>
              <a:t>Hochschule</a:t>
            </a:r>
            <a:r>
              <a:rPr sz="900" b="0" i="0" dirty="0">
                <a:solidFill>
                  <a:srgbClr val="7F7F7F"/>
                </a:solidFill>
                <a:latin typeface="Calibri"/>
              </a:rPr>
              <a:t> Burgenland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373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ERGEBNISSE · SENSITIVITÄT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262626"/>
                </a:solidFill>
                <a:latin typeface="Calibri Light"/>
              </a:rPr>
              <a:t>Das Ergebnis hängt an der Nutzenseite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783080"/>
          <a:ext cx="67665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78308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0" y="1993392"/>
            <a:ext cx="3383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472C4"/>
                </a:solidFill>
                <a:latin typeface="Calibri"/>
              </a:rPr>
              <a:t>Lesart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2450592"/>
            <a:ext cx="3364991" cy="154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4000" indent="-214000" algn="l">
              <a:lnSpc>
                <a:spcPct val="106000"/>
              </a:lnSpc>
              <a:spcAft>
                <a:spcPts val="900"/>
              </a:spcAft>
              <a:buChar char="•"/>
            </a:pPr>
            <a:r>
              <a:rPr sz="1350" b="0" i="0" dirty="0" err="1">
                <a:solidFill>
                  <a:srgbClr val="262626"/>
                </a:solidFill>
                <a:latin typeface="Calibri"/>
              </a:rPr>
              <a:t>Parktarif</a:t>
            </a:r>
            <a:r>
              <a:rPr sz="1350" b="0" i="0" dirty="0">
                <a:solidFill>
                  <a:srgbClr val="262626"/>
                </a:solidFill>
                <a:latin typeface="Calibri"/>
              </a:rPr>
              <a:t> und </a:t>
            </a:r>
            <a:r>
              <a:rPr sz="1350" b="0" i="0" dirty="0" err="1">
                <a:solidFill>
                  <a:srgbClr val="262626"/>
                </a:solidFill>
                <a:latin typeface="Calibri"/>
              </a:rPr>
              <a:t>Auslastungssteigerung</a:t>
            </a:r>
            <a:r>
              <a:rPr sz="13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262626"/>
                </a:solidFill>
                <a:latin typeface="Calibri"/>
              </a:rPr>
              <a:t>bestimmen</a:t>
            </a:r>
            <a:r>
              <a:rPr sz="1350" b="0" i="0" dirty="0">
                <a:solidFill>
                  <a:srgbClr val="262626"/>
                </a:solidFill>
                <a:latin typeface="Calibri"/>
              </a:rPr>
              <a:t> das </a:t>
            </a:r>
            <a:r>
              <a:rPr sz="1350" b="0" i="0" dirty="0" err="1">
                <a:solidFill>
                  <a:srgbClr val="262626"/>
                </a:solidFill>
                <a:latin typeface="Calibri"/>
              </a:rPr>
              <a:t>Ergebnis</a:t>
            </a:r>
            <a:r>
              <a:rPr sz="1350" b="0" i="0" dirty="0">
                <a:solidFill>
                  <a:srgbClr val="262626"/>
                </a:solidFill>
                <a:latin typeface="Calibri"/>
              </a:rPr>
              <a:t> fast </a:t>
            </a:r>
            <a:r>
              <a:rPr sz="1350" b="0" i="0" dirty="0" err="1">
                <a:solidFill>
                  <a:srgbClr val="262626"/>
                </a:solidFill>
                <a:latin typeface="Calibri"/>
              </a:rPr>
              <a:t>vollständig</a:t>
            </a:r>
            <a:endParaRPr sz="1350" b="0" i="0" dirty="0">
              <a:solidFill>
                <a:srgbClr val="262626"/>
              </a:solidFill>
              <a:latin typeface="Calibri"/>
            </a:endParaRPr>
          </a:p>
          <a:p>
            <a:pPr marL="214000" indent="-214000" algn="l">
              <a:lnSpc>
                <a:spcPct val="106000"/>
              </a:lnSpc>
              <a:spcAft>
                <a:spcPts val="900"/>
              </a:spcAft>
              <a:buChar char="•"/>
            </a:pPr>
            <a:r>
              <a:rPr sz="1350" b="0" i="0" dirty="0" err="1">
                <a:solidFill>
                  <a:srgbClr val="262626"/>
                </a:solidFill>
                <a:latin typeface="Calibri"/>
              </a:rPr>
              <a:t>Sensorkosten</a:t>
            </a:r>
            <a:r>
              <a:rPr sz="1350" b="0" i="0" dirty="0">
                <a:solidFill>
                  <a:srgbClr val="262626"/>
                </a:solidFill>
                <a:latin typeface="Calibri"/>
              </a:rPr>
              <a:t> und Cloud-</a:t>
            </a:r>
            <a:r>
              <a:rPr sz="1350" b="0" i="0" dirty="0" err="1">
                <a:solidFill>
                  <a:srgbClr val="262626"/>
                </a:solidFill>
                <a:latin typeface="Calibri"/>
              </a:rPr>
              <a:t>Ereignisrate</a:t>
            </a:r>
            <a:r>
              <a:rPr sz="13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262626"/>
                </a:solidFill>
                <a:latin typeface="Calibri"/>
              </a:rPr>
              <a:t>spielen</a:t>
            </a:r>
            <a:r>
              <a:rPr sz="13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262626"/>
                </a:solidFill>
                <a:latin typeface="Calibri"/>
              </a:rPr>
              <a:t>kaum</a:t>
            </a:r>
            <a:r>
              <a:rPr sz="13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262626"/>
                </a:solidFill>
                <a:latin typeface="Calibri"/>
              </a:rPr>
              <a:t>eine</a:t>
            </a:r>
            <a:r>
              <a:rPr sz="1350" b="0" i="0" dirty="0">
                <a:solidFill>
                  <a:srgbClr val="262626"/>
                </a:solidFill>
                <a:latin typeface="Calibri"/>
              </a:rPr>
              <a:t> Rolle</a:t>
            </a:r>
          </a:p>
          <a:p>
            <a:pPr marL="214000" indent="-214000" algn="l">
              <a:lnSpc>
                <a:spcPct val="106000"/>
              </a:lnSpc>
              <a:spcAft>
                <a:spcPts val="900"/>
              </a:spcAft>
              <a:buChar char="•"/>
            </a:pPr>
            <a:r>
              <a:rPr sz="1350" b="0" i="0" dirty="0" err="1">
                <a:solidFill>
                  <a:srgbClr val="262626"/>
                </a:solidFill>
                <a:latin typeface="Calibri"/>
              </a:rPr>
              <a:t>Deshalb</a:t>
            </a:r>
            <a:r>
              <a:rPr sz="13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262626"/>
                </a:solidFill>
                <a:latin typeface="Calibri"/>
              </a:rPr>
              <a:t>wird</a:t>
            </a:r>
            <a:r>
              <a:rPr sz="1350" b="0" i="0" dirty="0">
                <a:solidFill>
                  <a:srgbClr val="262626"/>
                </a:solidFill>
                <a:latin typeface="Calibri"/>
              </a:rPr>
              <a:t> Break-Even </a:t>
            </a:r>
            <a:r>
              <a:rPr sz="1350" b="0" i="0" dirty="0" err="1">
                <a:solidFill>
                  <a:srgbClr val="262626"/>
                </a:solidFill>
                <a:latin typeface="Calibri"/>
              </a:rPr>
              <a:t>statt</a:t>
            </a:r>
            <a:r>
              <a:rPr sz="13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262626"/>
                </a:solidFill>
                <a:latin typeface="Calibri"/>
              </a:rPr>
              <a:t>eines</a:t>
            </a:r>
            <a:r>
              <a:rPr sz="135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262626"/>
                </a:solidFill>
                <a:latin typeface="Calibri"/>
              </a:rPr>
              <a:t>einzelnen</a:t>
            </a:r>
            <a:r>
              <a:rPr sz="1350" b="0" i="0" dirty="0">
                <a:solidFill>
                  <a:srgbClr val="262626"/>
                </a:solidFill>
                <a:latin typeface="Calibri"/>
              </a:rPr>
              <a:t> ROI-Werts </a:t>
            </a:r>
            <a:r>
              <a:rPr sz="1350" b="0" i="0" dirty="0" err="1">
                <a:solidFill>
                  <a:srgbClr val="262626"/>
                </a:solidFill>
                <a:latin typeface="Calibri"/>
              </a:rPr>
              <a:t>berichtet</a:t>
            </a:r>
            <a:endParaRPr sz="1350" b="0" i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80" y="5074920"/>
            <a:ext cx="338327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 dirty="0" err="1">
                <a:solidFill>
                  <a:srgbClr val="7F7F7F"/>
                </a:solidFill>
                <a:latin typeface="Calibri"/>
              </a:rPr>
              <a:t>Einfluss</a:t>
            </a:r>
            <a:r>
              <a:rPr sz="1100" b="0" i="1" dirty="0">
                <a:solidFill>
                  <a:srgbClr val="7F7F7F"/>
                </a:solidFill>
                <a:latin typeface="Calibri"/>
              </a:rPr>
              <a:t> je Parameter, </a:t>
            </a:r>
            <a:r>
              <a:rPr sz="1100" b="0" i="1" dirty="0" err="1">
                <a:solidFill>
                  <a:srgbClr val="7F7F7F"/>
                </a:solidFill>
                <a:latin typeface="Calibri"/>
              </a:rPr>
              <a:t>normiert</a:t>
            </a:r>
            <a:r>
              <a:rPr sz="1100" b="0" i="1" dirty="0">
                <a:solidFill>
                  <a:srgbClr val="7F7F7F"/>
                </a:solidFill>
                <a:latin typeface="Calibri"/>
              </a:rPr>
              <a:t> auf den </a:t>
            </a:r>
            <a:r>
              <a:rPr sz="1100" b="0" i="1" dirty="0" err="1">
                <a:solidFill>
                  <a:srgbClr val="7F7F7F"/>
                </a:solidFill>
                <a:latin typeface="Calibri"/>
              </a:rPr>
              <a:t>stärksten</a:t>
            </a:r>
            <a:r>
              <a:rPr sz="1100" b="0" i="1" dirty="0">
                <a:solidFill>
                  <a:srgbClr val="7F7F7F"/>
                </a:solidFill>
                <a:latin typeface="Calibri"/>
              </a:rPr>
              <a:t> (±30 % Variation, Basis 400 </a:t>
            </a:r>
            <a:r>
              <a:rPr sz="1100" b="0" i="1" dirty="0" err="1">
                <a:solidFill>
                  <a:srgbClr val="7F7F7F"/>
                </a:solidFill>
                <a:latin typeface="Calibri"/>
              </a:rPr>
              <a:t>Stellplätze</a:t>
            </a:r>
            <a:r>
              <a:rPr sz="1100" b="0" i="1" dirty="0">
                <a:solidFill>
                  <a:srgbClr val="7F7F7F"/>
                </a:solidFill>
                <a:latin typeface="Calibri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dirty="0">
                <a:solidFill>
                  <a:srgbClr val="7F7F7F"/>
                </a:solidFill>
                <a:latin typeface="Calibri"/>
              </a:rPr>
              <a:t>Drive &amp; Decide · Seier &amp; Zankl · </a:t>
            </a:r>
            <a:r>
              <a:rPr lang="de-AT" sz="900" dirty="0">
                <a:solidFill>
                  <a:srgbClr val="7F7F7F"/>
                </a:solidFill>
              </a:rPr>
              <a:t>Hochschule</a:t>
            </a:r>
            <a:r>
              <a:rPr sz="900" b="0" i="0" dirty="0">
                <a:solidFill>
                  <a:srgbClr val="7F7F7F"/>
                </a:solidFill>
                <a:latin typeface="Calibri"/>
              </a:rPr>
              <a:t> Burgenland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373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DISKUSSION &amp; LIMITATIONEN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 dirty="0">
                <a:solidFill>
                  <a:srgbClr val="262626"/>
                </a:solidFill>
                <a:latin typeface="Calibri Light"/>
              </a:rPr>
              <a:t>Wann es </a:t>
            </a:r>
            <a:r>
              <a:rPr sz="2800" b="0" i="0" dirty="0" err="1">
                <a:solidFill>
                  <a:srgbClr val="262626"/>
                </a:solidFill>
                <a:latin typeface="Calibri Light"/>
              </a:rPr>
              <a:t>sich</a:t>
            </a:r>
            <a:r>
              <a:rPr sz="2800" b="0" i="0" dirty="0">
                <a:solidFill>
                  <a:srgbClr val="262626"/>
                </a:solidFill>
                <a:latin typeface="Calibri Light"/>
              </a:rPr>
              <a:t> </a:t>
            </a:r>
            <a:r>
              <a:rPr sz="2800" b="0" i="0" dirty="0" err="1">
                <a:solidFill>
                  <a:srgbClr val="262626"/>
                </a:solidFill>
                <a:latin typeface="Calibri Light"/>
              </a:rPr>
              <a:t>trägt</a:t>
            </a:r>
            <a:r>
              <a:rPr sz="2800" b="0" i="0" dirty="0">
                <a:solidFill>
                  <a:srgbClr val="262626"/>
                </a:solidFill>
                <a:latin typeface="Calibri Light"/>
              </a:rPr>
              <a:t> und was </a:t>
            </a:r>
            <a:r>
              <a:rPr sz="2800" b="0" i="0" dirty="0" err="1">
                <a:solidFill>
                  <a:srgbClr val="262626"/>
                </a:solidFill>
                <a:latin typeface="Calibri Light"/>
              </a:rPr>
              <a:t>offen</a:t>
            </a:r>
            <a:r>
              <a:rPr sz="2800" b="0" i="0" dirty="0">
                <a:solidFill>
                  <a:srgbClr val="262626"/>
                </a:solidFill>
                <a:latin typeface="Calibri Light"/>
              </a:rPr>
              <a:t> </a:t>
            </a:r>
            <a:r>
              <a:rPr sz="2800" b="0" i="0" dirty="0" err="1">
                <a:solidFill>
                  <a:srgbClr val="262626"/>
                </a:solidFill>
                <a:latin typeface="Calibri Light"/>
              </a:rPr>
              <a:t>bleibt</a:t>
            </a:r>
            <a:endParaRPr sz="2800" b="0" i="0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5440680" cy="4069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2011680"/>
            <a:ext cx="4892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70AD47"/>
                </a:solidFill>
                <a:latin typeface="Calibri"/>
              </a:rPr>
              <a:t>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505456"/>
            <a:ext cx="4873752" cy="1924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4000" indent="-214000" algn="l">
              <a:lnSpc>
                <a:spcPct val="106000"/>
              </a:lnSpc>
              <a:spcAft>
                <a:spcPts val="1100"/>
              </a:spcAft>
              <a:buChar char="•"/>
            </a:pPr>
            <a:r>
              <a:rPr sz="1400" b="0" i="0" dirty="0">
                <a:solidFill>
                  <a:srgbClr val="262626"/>
                </a:solidFill>
                <a:latin typeface="Calibri"/>
              </a:rPr>
              <a:t>Unter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praktisch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allen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plausiblen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Annahmen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amortisiert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sich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die Investition</a:t>
            </a:r>
          </a:p>
          <a:p>
            <a:pPr marL="214000" indent="-214000" algn="l">
              <a:lnSpc>
                <a:spcPct val="106000"/>
              </a:lnSpc>
              <a:spcAft>
                <a:spcPts val="1100"/>
              </a:spcAft>
              <a:buChar char="•"/>
            </a:pPr>
            <a:r>
              <a:rPr sz="1400" b="0" i="0" dirty="0" err="1">
                <a:solidFill>
                  <a:srgbClr val="262626"/>
                </a:solidFill>
                <a:latin typeface="Calibri"/>
              </a:rPr>
              <a:t>Nutzenseite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(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Auslastung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, Tarif)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dominiert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das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Ergebnis</a:t>
            </a:r>
            <a:endParaRPr sz="1400" b="0" i="0" dirty="0">
              <a:solidFill>
                <a:srgbClr val="262626"/>
              </a:solidFill>
              <a:latin typeface="Calibri"/>
            </a:endParaRPr>
          </a:p>
          <a:p>
            <a:pPr marL="214000" indent="-214000" algn="l">
              <a:lnSpc>
                <a:spcPct val="106000"/>
              </a:lnSpc>
              <a:spcAft>
                <a:spcPts val="1100"/>
              </a:spcAft>
              <a:buChar char="•"/>
            </a:pPr>
            <a:r>
              <a:rPr sz="1400" b="0" i="0" dirty="0" err="1">
                <a:solidFill>
                  <a:srgbClr val="262626"/>
                </a:solidFill>
                <a:latin typeface="Calibri"/>
              </a:rPr>
              <a:t>Skaleneffekt</a:t>
            </a:r>
            <a:endParaRPr lang="de-AT" sz="1400" dirty="0">
              <a:solidFill>
                <a:srgbClr val="262626"/>
              </a:solidFill>
              <a:latin typeface="Calibri"/>
            </a:endParaRPr>
          </a:p>
          <a:p>
            <a:pPr marL="671200" lvl="1" indent="-214000">
              <a:lnSpc>
                <a:spcPct val="106000"/>
              </a:lnSpc>
              <a:spcAft>
                <a:spcPts val="1100"/>
              </a:spcAft>
              <a:buChar char="•"/>
            </a:pPr>
            <a:r>
              <a:rPr sz="1400" b="0" i="0" dirty="0">
                <a:solidFill>
                  <a:srgbClr val="262626"/>
                </a:solidFill>
                <a:latin typeface="Calibri"/>
              </a:rPr>
              <a:t>OPEX je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Stellplatz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sinkt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mit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der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Größe</a:t>
            </a:r>
            <a:endParaRPr sz="1400" b="0" i="0" dirty="0">
              <a:solidFill>
                <a:srgbClr val="262626"/>
              </a:solidFill>
              <a:latin typeface="Calibri"/>
            </a:endParaRPr>
          </a:p>
          <a:p>
            <a:pPr marL="214000" indent="-214000" algn="l">
              <a:lnSpc>
                <a:spcPct val="106000"/>
              </a:lnSpc>
              <a:spcAft>
                <a:spcPts val="1100"/>
              </a:spcAft>
              <a:buChar char="•"/>
            </a:pPr>
            <a:r>
              <a:rPr sz="1400" b="0" i="0" dirty="0">
                <a:solidFill>
                  <a:srgbClr val="262626"/>
                </a:solidFill>
                <a:latin typeface="Calibri"/>
              </a:rPr>
              <a:t>Serverless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macht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OPEX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überhaupt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erst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belastbar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erfassbar</a:t>
            </a:r>
            <a:endParaRPr sz="1400" b="0" i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4069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64808" y="2011680"/>
            <a:ext cx="4892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D7D31"/>
                </a:solidFill>
                <a:latin typeface="Calibri"/>
              </a:rPr>
              <a:t>Limitationen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505456"/>
            <a:ext cx="4873752" cy="1924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4000" indent="-214000" algn="l">
              <a:lnSpc>
                <a:spcPct val="106000"/>
              </a:lnSpc>
              <a:spcAft>
                <a:spcPts val="1100"/>
              </a:spcAft>
              <a:buChar char="•"/>
            </a:pPr>
            <a:r>
              <a:rPr sz="1400" b="0" i="0" dirty="0" err="1">
                <a:solidFill>
                  <a:srgbClr val="262626"/>
                </a:solidFill>
                <a:latin typeface="Calibri"/>
              </a:rPr>
              <a:t>Modellierte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statt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langfristig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gemessene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Cloud-Kosten</a:t>
            </a:r>
          </a:p>
          <a:p>
            <a:pPr marL="214000" indent="-214000" algn="l">
              <a:lnSpc>
                <a:spcPct val="106000"/>
              </a:lnSpc>
              <a:spcAft>
                <a:spcPts val="1100"/>
              </a:spcAft>
              <a:buChar char="•"/>
            </a:pPr>
            <a:r>
              <a:rPr sz="1400" b="0" i="0" dirty="0" err="1">
                <a:solidFill>
                  <a:srgbClr val="262626"/>
                </a:solidFill>
                <a:latin typeface="Calibri"/>
              </a:rPr>
              <a:t>Nutzen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über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vollen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Tarif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angesetzt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→ ROI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überschätzt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; Break-Even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ist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die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belastbare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Aussage</a:t>
            </a:r>
            <a:endParaRPr sz="1400" b="0" i="0" dirty="0">
              <a:solidFill>
                <a:srgbClr val="262626"/>
              </a:solidFill>
              <a:latin typeface="Calibri"/>
            </a:endParaRPr>
          </a:p>
          <a:p>
            <a:pPr marL="214000" indent="-214000" algn="l">
              <a:lnSpc>
                <a:spcPct val="106000"/>
              </a:lnSpc>
              <a:spcAft>
                <a:spcPts val="1100"/>
              </a:spcAft>
              <a:buChar char="•"/>
            </a:pPr>
            <a:r>
              <a:rPr sz="1400" b="0" i="0" dirty="0">
                <a:solidFill>
                  <a:srgbClr val="262626"/>
                </a:solidFill>
                <a:latin typeface="Calibri"/>
              </a:rPr>
              <a:t>Kein Sensor-Benchmark,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keine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Endnutzerstudie</a:t>
            </a:r>
            <a:endParaRPr sz="1400" b="0" i="0" dirty="0">
              <a:solidFill>
                <a:srgbClr val="262626"/>
              </a:solidFill>
              <a:latin typeface="Calibri"/>
            </a:endParaRPr>
          </a:p>
          <a:p>
            <a:pPr marL="214000" indent="-214000" algn="l">
              <a:lnSpc>
                <a:spcPct val="106000"/>
              </a:lnSpc>
              <a:spcAft>
                <a:spcPts val="1100"/>
              </a:spcAft>
              <a:buChar char="•"/>
            </a:pPr>
            <a:r>
              <a:rPr sz="1400" b="0" i="0" dirty="0" err="1">
                <a:solidFill>
                  <a:srgbClr val="262626"/>
                </a:solidFill>
                <a:latin typeface="Calibri"/>
              </a:rPr>
              <a:t>Sicherheitseffekte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nur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qualitativ</a:t>
            </a:r>
            <a:r>
              <a:rPr lang="en-US" sz="1400" b="0" i="0" dirty="0">
                <a:solidFill>
                  <a:srgbClr val="262626"/>
                </a:solidFill>
                <a:latin typeface="Calibri"/>
              </a:rPr>
              <a:t>e</a:t>
            </a:r>
            <a:endParaRPr lang="de-AT" sz="1400" dirty="0">
              <a:solidFill>
                <a:srgbClr val="262626"/>
              </a:solidFill>
              <a:latin typeface="Calibri"/>
            </a:endParaRPr>
          </a:p>
          <a:p>
            <a:pPr marL="671200" lvl="1" indent="-214000">
              <a:lnSpc>
                <a:spcPct val="106000"/>
              </a:lnSpc>
              <a:spcAft>
                <a:spcPts val="1100"/>
              </a:spcAft>
              <a:buChar char="•"/>
            </a:pPr>
            <a:r>
              <a:rPr sz="1400" b="0" i="0" dirty="0" err="1">
                <a:solidFill>
                  <a:srgbClr val="262626"/>
                </a:solidFill>
                <a:latin typeface="Calibri"/>
              </a:rPr>
              <a:t>Ergebnis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hängt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an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offen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dokumentierten</a:t>
            </a:r>
            <a:r>
              <a:rPr sz="1400" b="0" i="0" dirty="0">
                <a:solidFill>
                  <a:srgbClr val="262626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Calibri"/>
              </a:rPr>
              <a:t>Annahmen</a:t>
            </a:r>
            <a:endParaRPr sz="1400" b="0" i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dirty="0">
                <a:solidFill>
                  <a:srgbClr val="7F7F7F"/>
                </a:solidFill>
                <a:latin typeface="Calibri"/>
              </a:rPr>
              <a:t>Drive &amp; Decide · Seier &amp; Zankl · </a:t>
            </a:r>
            <a:r>
              <a:rPr lang="de-AT" sz="900" dirty="0">
                <a:solidFill>
                  <a:srgbClr val="7F7F7F"/>
                </a:solidFill>
              </a:rPr>
              <a:t>Hochschule</a:t>
            </a:r>
            <a:r>
              <a:rPr sz="900" b="0" i="0" dirty="0">
                <a:solidFill>
                  <a:srgbClr val="7F7F7F"/>
                </a:solidFill>
                <a:latin typeface="Calibri"/>
              </a:rPr>
              <a:t> Burgenland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373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FAZIT &amp; AUSBLICK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262626"/>
                </a:solidFill>
                <a:latin typeface="Calibri Light"/>
              </a:rPr>
              <a:t>Investitionsentscheidung auf belastbarer Basis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11018520" cy="1554480"/>
          </a:xfrm>
          <a:prstGeom prst="roundRect">
            <a:avLst>
              <a:gd name="adj" fmla="val 6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57400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2318857"/>
            <a:ext cx="9189720" cy="5195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 dirty="0" err="1">
                <a:solidFill>
                  <a:srgbClr val="FFFFFF"/>
                </a:solidFill>
                <a:latin typeface="Calibri"/>
              </a:rPr>
              <a:t>Investitionsentscheidungen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für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ein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Smart-Parking-System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sollten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auf TCO, ROI und Break-Even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beruhen</a:t>
            </a:r>
            <a:r>
              <a:rPr lang="de-AT" sz="1600" b="1" dirty="0">
                <a:solidFill>
                  <a:srgbClr val="FFFFFF"/>
                </a:solidFill>
                <a:latin typeface="Calibri"/>
              </a:rPr>
              <a:t>: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AT" sz="1600" b="1" i="0" dirty="0">
                <a:solidFill>
                  <a:srgbClr val="FFFFFF"/>
                </a:solidFill>
                <a:latin typeface="Calibri"/>
              </a:rPr>
              <a:t>S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erverless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ereignisgetriebenes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Design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ist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die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Voraussetzung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für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belastbare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laufende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Kosten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11880"/>
            <a:ext cx="11018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44546A"/>
                </a:solidFill>
                <a:latin typeface="Calibri"/>
              </a:rPr>
              <a:t>Ausblick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0"/>
            <a:ext cx="5440680" cy="731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8952" y="4279392"/>
            <a:ext cx="402336" cy="402336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 Ligh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4206240"/>
            <a:ext cx="4526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62626"/>
                </a:solidFill>
                <a:latin typeface="Calibri"/>
              </a:rPr>
              <a:t>Reale Messreihen statt modellierter OPEX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114800"/>
            <a:ext cx="5440680" cy="731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36792" y="4279392"/>
            <a:ext cx="402336" cy="402336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 Ligh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2" y="4206240"/>
            <a:ext cx="4526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62626"/>
                </a:solidFill>
                <a:latin typeface="Calibri"/>
              </a:rPr>
              <a:t>Feldstudie zum tatsächlichen Auslastungseffekt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983480"/>
            <a:ext cx="5440680" cy="731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58952" y="5148072"/>
            <a:ext cx="402336" cy="40233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5074920"/>
            <a:ext cx="4526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62626"/>
                </a:solidFill>
                <a:latin typeface="Calibri"/>
              </a:rPr>
              <a:t>Mehr Sensoren/Stellplätze, robustere Sensorik (ToF)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983480"/>
            <a:ext cx="5440680" cy="731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36792" y="5148072"/>
            <a:ext cx="402336" cy="402336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 Ligh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2" y="5074920"/>
            <a:ext cx="4526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62626"/>
                </a:solidFill>
                <a:latin typeface="Calibri"/>
              </a:rPr>
              <a:t>Navigations-Anbindung und dynamische Tarife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37376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dirty="0">
                <a:solidFill>
                  <a:srgbClr val="7F7F7F"/>
                </a:solidFill>
                <a:latin typeface="Calibri"/>
              </a:rPr>
              <a:t>Drive &amp; Decide · Seier &amp; Zankl · </a:t>
            </a:r>
            <a:r>
              <a:rPr lang="de-AT" sz="900" dirty="0">
                <a:solidFill>
                  <a:srgbClr val="7F7F7F"/>
                </a:solidFill>
              </a:rPr>
              <a:t>Hochschule</a:t>
            </a:r>
            <a:r>
              <a:rPr sz="900" b="0" i="0" dirty="0">
                <a:solidFill>
                  <a:srgbClr val="7F7F7F"/>
                </a:solidFill>
                <a:latin typeface="Calibri"/>
              </a:rPr>
              <a:t> Burgenland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373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BACKUP &amp; QUELLEN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262626"/>
                </a:solidFill>
                <a:latin typeface="Calibri Light"/>
              </a:rPr>
              <a:t>Für Rückfragen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4937760" cy="2213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500" b="0" i="0" dirty="0">
                <a:solidFill>
                  <a:srgbClr val="262626"/>
                </a:solidFill>
                <a:latin typeface="Calibri"/>
              </a:rPr>
              <a:t>Ampel-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Schwellen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&amp;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Aggregationslogik</a:t>
            </a:r>
            <a:endParaRPr sz="1500" b="0" i="0" dirty="0">
              <a:solidFill>
                <a:srgbClr val="262626"/>
              </a:solidFill>
              <a:latin typeface="Calibri"/>
            </a:endParaRPr>
          </a:p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500" b="0" i="0" dirty="0">
                <a:solidFill>
                  <a:srgbClr val="262626"/>
                </a:solidFill>
                <a:latin typeface="Calibri"/>
              </a:rPr>
              <a:t>Contract</a:t>
            </a:r>
            <a:endParaRPr lang="de-AT" sz="1500" dirty="0">
              <a:solidFill>
                <a:srgbClr val="262626"/>
              </a:solidFill>
              <a:latin typeface="Calibri"/>
            </a:endParaRPr>
          </a:p>
          <a:p>
            <a:pPr marL="685800" lvl="1" indent="-228600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500" b="0" i="0" dirty="0">
                <a:solidFill>
                  <a:srgbClr val="262626"/>
                </a:solidFill>
                <a:latin typeface="Calibri"/>
              </a:rPr>
              <a:t>Topic-Schema + JSON-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Nachricht</a:t>
            </a:r>
            <a:endParaRPr sz="1500" b="0" i="0" dirty="0">
              <a:solidFill>
                <a:srgbClr val="262626"/>
              </a:solidFill>
              <a:latin typeface="Calibri"/>
            </a:endParaRPr>
          </a:p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500" b="0" i="0" dirty="0">
                <a:solidFill>
                  <a:srgbClr val="262626"/>
                </a:solidFill>
                <a:latin typeface="Calibri"/>
              </a:rPr>
              <a:t>IoT-Policy (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nur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Connect + Publish)</a:t>
            </a:r>
          </a:p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500" b="0" i="0" dirty="0" err="1">
                <a:solidFill>
                  <a:srgbClr val="262626"/>
                </a:solidFill>
                <a:latin typeface="Calibri"/>
              </a:rPr>
              <a:t>Lastprofile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&amp;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awsUsageEstimate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-Manifest</a:t>
            </a:r>
          </a:p>
          <a:p>
            <a:pPr marL="228600" indent="-228600" algn="l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500" b="0" i="0" dirty="0" err="1">
                <a:solidFill>
                  <a:srgbClr val="262626"/>
                </a:solidFill>
                <a:latin typeface="Calibri"/>
              </a:rPr>
              <a:t>Quellenverzeichnis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(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references.bib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746041"/>
              </p:ext>
            </p:extLst>
          </p:nvPr>
        </p:nvGraphicFramePr>
        <p:xfrm>
          <a:off x="5806440" y="1920240"/>
          <a:ext cx="580643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4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4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Szenario</a:t>
                      </a:r>
                    </a:p>
                  </a:txBody>
                  <a:tcPr marL="73152" marR="54864" marT="36576" marB="36576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CAPEX</a:t>
                      </a:r>
                    </a:p>
                  </a:txBody>
                  <a:tcPr marL="73152" marR="54864" marT="36576" marB="36576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OPEX/J.</a:t>
                      </a:r>
                    </a:p>
                  </a:txBody>
                  <a:tcPr marL="73152" marR="54864" marT="36576" marB="36576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TCO 5J.</a:t>
                      </a:r>
                    </a:p>
                  </a:txBody>
                  <a:tcPr marL="73152" marR="54864" marT="36576" marB="36576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Break-Even</a:t>
                      </a:r>
                    </a:p>
                  </a:txBody>
                  <a:tcPr marL="73152" marR="54864" marT="36576" marB="36576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262626"/>
                          </a:solidFill>
                          <a:latin typeface="Calibri"/>
                        </a:rPr>
                        <a:t>200 </a:t>
                      </a:r>
                      <a:r>
                        <a:rPr sz="1200" dirty="0" err="1">
                          <a:solidFill>
                            <a:srgbClr val="262626"/>
                          </a:solidFill>
                          <a:latin typeface="Calibri"/>
                        </a:rPr>
                        <a:t>Stellpl</a:t>
                      </a:r>
                      <a:r>
                        <a:rPr lang="de-AT" sz="1200" dirty="0">
                          <a:solidFill>
                            <a:srgbClr val="262626"/>
                          </a:solidFill>
                          <a:latin typeface="Calibri"/>
                        </a:rPr>
                        <a:t>ätze</a:t>
                      </a:r>
                      <a:endParaRPr sz="1200" dirty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7.616 €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468 €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9.958 €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0,04 pp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262626"/>
                          </a:solidFill>
                          <a:latin typeface="Calibri"/>
                        </a:rPr>
                        <a:t>400 </a:t>
                      </a:r>
                      <a:r>
                        <a:rPr sz="1200" dirty="0" err="1">
                          <a:solidFill>
                            <a:srgbClr val="262626"/>
                          </a:solidFill>
                          <a:latin typeface="Calibri"/>
                        </a:rPr>
                        <a:t>Stellpl</a:t>
                      </a:r>
                      <a:r>
                        <a:rPr lang="de-AT" sz="1200" dirty="0">
                          <a:solidFill>
                            <a:srgbClr val="262626"/>
                          </a:solidFill>
                          <a:latin typeface="Calibri"/>
                        </a:rPr>
                        <a:t>ätze</a:t>
                      </a:r>
                      <a:endParaRPr sz="1200" dirty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73152" marR="54864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11.720 €</a:t>
                      </a:r>
                    </a:p>
                  </a:txBody>
                  <a:tcPr marL="73152" marR="54864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748 €</a:t>
                      </a:r>
                    </a:p>
                  </a:txBody>
                  <a:tcPr marL="73152" marR="54864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15.461 €</a:t>
                      </a:r>
                    </a:p>
                  </a:txBody>
                  <a:tcPr marL="73152" marR="54864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0,03 pp</a:t>
                      </a:r>
                    </a:p>
                  </a:txBody>
                  <a:tcPr marL="73152" marR="54864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262626"/>
                          </a:solidFill>
                          <a:latin typeface="Calibri"/>
                        </a:rPr>
                        <a:t>500 </a:t>
                      </a:r>
                      <a:r>
                        <a:rPr sz="1200" dirty="0" err="1">
                          <a:solidFill>
                            <a:srgbClr val="262626"/>
                          </a:solidFill>
                          <a:latin typeface="Calibri"/>
                        </a:rPr>
                        <a:t>Stellpl</a:t>
                      </a:r>
                      <a:r>
                        <a:rPr lang="de-AT" sz="1200" dirty="0">
                          <a:solidFill>
                            <a:srgbClr val="262626"/>
                          </a:solidFill>
                          <a:latin typeface="Calibri"/>
                        </a:rPr>
                        <a:t>ätze</a:t>
                      </a:r>
                      <a:endParaRPr sz="1200" dirty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13.784 €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891 €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18.241 €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262626"/>
                          </a:solidFill>
                          <a:latin typeface="Calibri"/>
                        </a:rPr>
                        <a:t>0,03 pp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06440" y="4389120"/>
            <a:ext cx="58064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 dirty="0" err="1">
                <a:solidFill>
                  <a:srgbClr val="7F7F7F"/>
                </a:solidFill>
                <a:latin typeface="Calibri"/>
              </a:rPr>
              <a:t>Kennzahlen</a:t>
            </a:r>
            <a:r>
              <a:rPr sz="1150" b="0" i="1" dirty="0">
                <a:solidFill>
                  <a:srgbClr val="7F7F7F"/>
                </a:solidFill>
                <a:latin typeface="Calibri"/>
              </a:rPr>
              <a:t> je </a:t>
            </a:r>
            <a:r>
              <a:rPr sz="1150" b="0" i="1" dirty="0" err="1">
                <a:solidFill>
                  <a:srgbClr val="7F7F7F"/>
                </a:solidFill>
                <a:latin typeface="Calibri"/>
              </a:rPr>
              <a:t>Garagengröße</a:t>
            </a:r>
            <a:endParaRPr sz="1150" b="0" i="1" dirty="0">
              <a:solidFill>
                <a:srgbClr val="7F7F7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dirty="0">
                <a:solidFill>
                  <a:srgbClr val="7F7F7F"/>
                </a:solidFill>
                <a:latin typeface="Calibri"/>
              </a:rPr>
              <a:t>Drive &amp; Decide · Seier &amp; Zankl · </a:t>
            </a:r>
            <a:r>
              <a:rPr lang="de-AT" sz="900" dirty="0">
                <a:solidFill>
                  <a:srgbClr val="7F7F7F"/>
                </a:solidFill>
              </a:rPr>
              <a:t>Hochschule</a:t>
            </a:r>
            <a:r>
              <a:rPr sz="900" b="0" i="0" dirty="0">
                <a:solidFill>
                  <a:srgbClr val="7F7F7F"/>
                </a:solidFill>
                <a:latin typeface="Calibri"/>
              </a:rPr>
              <a:t> Burgenland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373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154803_TF33787325_Win32" id="{A05DB3F5-BA6F-4664-A3B9-681B10D2394A}" vid="{175BBC83-BB1E-424A-B9B3-703D6939672C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Sicherheit für Testlabors</Template>
  <TotalTime>11</TotalTime>
  <Words>1147</Words>
  <Application>Microsoft Macintosh PowerPoint</Application>
  <PresentationFormat>Widescreen</PresentationFormat>
  <Paragraphs>233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Office-Design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Seier Maximilian</dc:creator>
  <cp:lastModifiedBy>Zankl Julian</cp:lastModifiedBy>
  <cp:revision>19</cp:revision>
  <dcterms:created xsi:type="dcterms:W3CDTF">2026-06-19T07:20:18Z</dcterms:created>
  <dcterms:modified xsi:type="dcterms:W3CDTF">2026-06-19T08:48:49Z</dcterms:modified>
</cp:coreProperties>
</file>