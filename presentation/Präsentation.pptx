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x" id="{7FEBE35B-611F-9C41-A223-F7167F24FB4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Julian" id="{77BB5E07-5ACE-564C-82CB-171FEE6C022E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46" autoAdjust="0"/>
    <p:restoredTop sz="73419" autoAdjust="0"/>
  </p:normalViewPr>
  <p:slideViewPr>
    <p:cSldViewPr snapToGrid="0">
      <p:cViewPr varScale="1">
        <p:scale>
          <a:sx n="61" d="100"/>
          <a:sy n="61" d="100"/>
        </p:scale>
        <p:origin x="134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295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CAPEX (einmalig)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200 Stellplätze</c:v>
                </c:pt>
                <c:pt idx="1">
                  <c:v>400 Stellplätze</c:v>
                </c:pt>
                <c:pt idx="2">
                  <c:v>500 Stellplätze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7616</c:v>
                </c:pt>
                <c:pt idx="1">
                  <c:v>11720</c:v>
                </c:pt>
                <c:pt idx="2">
                  <c:v>13784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8A5-6040-A939-A1EF9B7752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OPEX (5 Jahre)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200 Stellplätze</c:v>
                </c:pt>
                <c:pt idx="1">
                  <c:v>400 Stellplätze</c:v>
                </c:pt>
                <c:pt idx="2">
                  <c:v>500 Stellplätze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2342</c:v>
                </c:pt>
                <c:pt idx="1">
                  <c:v>3741</c:v>
                </c:pt>
                <c:pt idx="2">
                  <c:v>4457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A5-6040-A939-A1EF9B7752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0E0E0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Relativer Einfluss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A5A5A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CEC2-B443-9671-A44E6E2F32A8}"/>
              </c:ext>
            </c:extLst>
          </c:dPt>
          <c:dPt>
            <c:idx val="1"/>
            <c:invertIfNegative val="1"/>
            <c:bubble3D val="0"/>
            <c:spPr>
              <a:solidFill>
                <a:srgbClr val="A5A5A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CEC2-B443-9671-A44E6E2F32A8}"/>
              </c:ext>
            </c:extLst>
          </c:dPt>
          <c:dPt>
            <c:idx val="2"/>
            <c:invertIfNegative val="1"/>
            <c:bubble3D val="0"/>
            <c:spPr>
              <a:solidFill>
                <a:srgbClr val="5B9BD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CEC2-B443-9671-A44E6E2F32A8}"/>
              </c:ext>
            </c:extLst>
          </c:dPt>
          <c:dPt>
            <c:idx val="3"/>
            <c:invertIfNegative val="1"/>
            <c:bubble3D val="0"/>
            <c:spPr>
              <a:solidFill>
                <a:srgbClr val="4472C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CEC2-B443-9671-A44E6E2F32A8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Cloud-Ereignisrate</c:v>
                </c:pt>
                <c:pt idx="1">
                  <c:v>Sensor-Stückkosten</c:v>
                </c:pt>
                <c:pt idx="2">
                  <c:v>Auslastungssteigerung</c:v>
                </c:pt>
                <c:pt idx="3">
                  <c:v>Parktarif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</c:v>
                </c:pt>
                <c:pt idx="1">
                  <c:v>3.6</c:v>
                </c:pt>
                <c:pt idx="2">
                  <c:v>67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C2-B443-9671-A44E6E2F32A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0"/>
        <c:axPos val="b"/>
        <c:majorGridlines>
          <c:spPr>
            <a:ln w="6350">
              <a:solidFill>
                <a:srgbClr val="E0E0E0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5659A35A-B45A-471D-8798-A1F6346609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6CDBCFF-DB1C-4148-AE10-0009F0ABF66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762065D-B45E-4BF4-A742-865B9EF86310}" type="datetime1">
              <a:rPr lang="de-DE" smtClean="0"/>
              <a:t>19.06.2026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624F19-BD09-4F8A-BEC3-5B4EC46FBB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6897F4-4C0C-4FAD-84FC-2E652243893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D4D6EF6-E2EF-452B-A550-B4BEBF67A7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24847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7F2CF3-43BB-44F7-9FDD-3BD266557B3B}" type="datetime1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853816F-A1CF-4485-B308-1B9F14B36EAD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7268391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6450770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927339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237744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7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527276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CAPEX vs. OPEX vs.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Jahre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Leitkennzahl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real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nicht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geschätzt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Auslastungssteigerung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l-G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Δ)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ausgedrückt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System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wirtschaftlich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tragen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AT" dirty="0"/>
              <a:t>-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Run-Manifest 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run.json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Protokoll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Load Generator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Simulationslauf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repräsentiert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Grundlage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OPEX-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Berechnung</a:t>
            </a:r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10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42800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CAPEX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dominiert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OPEX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~470–890 €/Jahr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Serverless =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minimale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laufende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TCO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wächst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Garagengröße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11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823565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0,03–0,04 pp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Parkhauses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0,03–0,04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steigen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gesamten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deckt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Amortisation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 1 Jahr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Robust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Szenarien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 pp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s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elbst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“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vorsichtigste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Literatur-Szenario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nimmt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+1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30-mal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12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1034937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Tarif +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treiben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Sensor-/Cloud-Kosten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relevant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Darum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einzelnem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ROI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Wirtschaftlichkeit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Frage des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(Tarif ×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Kosten der Technik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spielen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464805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Lohnt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Annahmen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modelliert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Feldtest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Annahmen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dokumentiert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14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836540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Entscheidung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basierend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TCO / ROI / Break-Even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Serverless =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Voraussetzung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Ausblick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</a:p>
          <a:p>
            <a:pPr marL="628650" lvl="1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Messreihen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längeren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Zeitraum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betreiben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Rechnung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CloudWatch-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Metriken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auslesen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628650" lvl="1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Feldstudie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 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erhöht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Literatur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übernommen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9910125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Nur für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Rückfragen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Kennzahlen-Tabelle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Quellen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references.bib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09991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80C5E7-B1A1-4648-89D2-17B0F1E7F5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rtlCol="0" anchor="b"/>
          <a:lstStyle>
            <a:lvl1pPr algn="ctr">
              <a:defRPr sz="60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D140298-3E00-4E73-B947-697E6928286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 rtlCol="0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de-DE" noProof="0"/>
              <a:t>Formatvorlage des Untertitelmasters durch Klicken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BB99EB-0E86-4FEA-A9C4-501D4E755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22773E7-C9D4-4F74-957D-E044B2801EEA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31F536-58DF-4935-AE3B-7A08C0312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95127-BE30-42B7-9BE5-B83CC6A2E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009751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AAE108-9C7F-4CDC-AD71-B576580A19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103746-779A-435F-995A-5BF82C86C29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84E866-B322-455F-AC32-8C164B8CD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93DE410-A4A9-42F3-B0F5-E18F24795FB9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0D61E0-F80F-48E7-A817-F1CECBEE9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F34AFC-4299-43F1-A312-79EF0102C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52746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1E1D3E-E4B6-4EAA-BFB4-25A0557A6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rtlCol="0" anchor="b"/>
          <a:lstStyle>
            <a:lvl1pPr>
              <a:defRPr sz="60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F7E0856-45A8-4EAD-A9D6-8A993968A1A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 rtlCol="0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0EEBE1-2BAF-4C94-8403-6E8454F9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E0B2B71-0084-4E14-A09F-350691EE64E7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358F46-E931-4D79-94A5-037AFD073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130D95-EF5F-4A0A-93BD-73AEE2C2F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01256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BABEC0-6253-4360-B586-B9D20933DE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46E20B-8661-4C60-84FB-4892E8B4860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32BE45-79E4-479B-BD2F-46CCB0BEE62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589105E-DF25-4F38-BDE2-9B00C2C44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92AC67-DC35-452C-AEEE-7B11672D1355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D9C4A8-7467-4BAD-98A2-0B63CAC19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BC5C5C0-08E4-4F7B-9E80-8925539D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438407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FF641-A5CC-4263-A394-2112D623A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4D6865-C632-473C-AEC8-8D3F71562BE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9FDBD19-4D33-4F6A-9938-6A04B3888E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1697E46-CE4D-480E-A997-2B53B2DF55B2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8B7E36-823F-4FD4-B826-E450A1248008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DBB3B14-C886-4F84-9FD5-11C8320E1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0DB00D4-7C83-497D-9871-C4A5B4F00465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9AF591-4BBF-4BF2-9EF7-F8B114DF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52B1A04-B244-4AE3-8997-9B075B105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1104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408F1-BB29-4C6F-91C9-653A730BEC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F54FEF9-8D09-4091-BE99-B6264EBD3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1241CF0-587E-437A-B21F-38049A7914AF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5F49AA-83D5-4063-9CDE-AA7763048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2A2B27C-3C99-4208-B425-775413C53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1403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42A62B2-A6D1-4A6F-8B20-80606F478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67E767-1E22-4940-B5CA-781C46D69496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02E4958-7A46-4331-B2D8-2C31D8FCB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C8548B-339B-46B2-BF01-1EE3DDC72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914661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EF408F-8083-4F07-9628-074C7AFE4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0477E0-A333-439D-A531-30B39A81346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D59501-D187-414C-AACE-F838720036C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235F890-BB8A-49E1-880A-924FD6FE4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ED94C3-2D45-4889-939C-DCCC0E20F8E3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1CA38FE-429A-41E7-942D-ECCE639D3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401D9BC-0038-4041-AE2C-657BF99D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87561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956CFD-7F35-482C-A50F-B3D43ACB0A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FD7F3EF-0FE9-46C4-A116-5DA6E26B0D5D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10B4041-0F17-42D8-AF16-AB099A39FFB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BAF67FF-F8F1-4B22-A471-9317ED3A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EEED7C-AB99-46BA-A7E4-ED553DD733AB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73D6993-98F8-4234-B24A-02D4DB41C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2A34037-0E7D-4379-ACA0-98611B2F7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3919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5B175-C851-453B-B2A0-9A5CFCADC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65F4A2-0E4F-4E49-A0BF-BEEC722033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28AA27-3F13-4BFD-B949-21CF3191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5DFCFCF-CF53-4F22-B1AE-6A848FB177B5}" type="datetime1">
              <a:rPr lang="de-DE" noProof="0" smtClean="0"/>
              <a:t>19.06.2026</a:t>
            </a:fld>
            <a:endParaRPr lang="de-DE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EE99A2-0FED-42D4-9FBD-08CC1C3F81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2468D4-5440-4CE2-BAB3-61D83F628C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12203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1325880" cy="1325880"/>
          </a:xfrm>
          <a:prstGeom prst="rect">
            <a:avLst/>
          </a:prstGeom>
        </p:spPr>
      </p:pic>
      <p:pic>
        <p:nvPicPr>
          <p:cNvPr id="3" name="Picture 2" descr="wi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057400"/>
            <a:ext cx="1143000" cy="1143000"/>
          </a:xfrm>
          <a:prstGeom prst="rect">
            <a:avLst/>
          </a:prstGeom>
        </p:spPr>
      </p:pic>
      <p:pic>
        <p:nvPicPr>
          <p:cNvPr id="4" name="Picture 3" descr="b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411480"/>
            <a:ext cx="1417320" cy="1417320"/>
          </a:xfrm>
          <a:prstGeom prst="rect">
            <a:avLst/>
          </a:prstGeom>
        </p:spPr>
      </p:pic>
      <p:pic>
        <p:nvPicPr>
          <p:cNvPr id="5" name="Picture 4" descr="ch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8520" y="1645920"/>
            <a:ext cx="914400" cy="914400"/>
          </a:xfrm>
          <a:prstGeom prst="rect">
            <a:avLst/>
          </a:prstGeom>
        </p:spPr>
      </p:pic>
      <p:pic>
        <p:nvPicPr>
          <p:cNvPr id="6" name="Picture 5" descr="eu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0" y="2377440"/>
            <a:ext cx="960120" cy="960120"/>
          </a:xfrm>
          <a:prstGeom prst="rect">
            <a:avLst/>
          </a:prstGeom>
        </p:spPr>
      </p:pic>
      <p:pic>
        <p:nvPicPr>
          <p:cNvPr id="7" name="Picture 6" descr="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5349240"/>
            <a:ext cx="1097280" cy="1097280"/>
          </a:xfrm>
          <a:prstGeom prst="rect">
            <a:avLst/>
          </a:prstGeom>
        </p:spPr>
      </p:pic>
      <p:pic>
        <p:nvPicPr>
          <p:cNvPr id="8" name="Picture 7" descr="c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63240" y="5074920"/>
            <a:ext cx="1188720" cy="1188720"/>
          </a:xfrm>
          <a:prstGeom prst="rect">
            <a:avLst/>
          </a:prstGeom>
        </p:spPr>
      </p:pic>
      <p:pic>
        <p:nvPicPr>
          <p:cNvPr id="9" name="Picture 8" descr="park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4920" y="5257800"/>
            <a:ext cx="1417320" cy="1417320"/>
          </a:xfrm>
          <a:prstGeom prst="rect">
            <a:avLst/>
          </a:prstGeom>
        </p:spPr>
      </p:pic>
      <p:pic>
        <p:nvPicPr>
          <p:cNvPr id="10" name="Picture 9" descr="traffic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5303520"/>
            <a:ext cx="1097280" cy="1097280"/>
          </a:xfrm>
          <a:prstGeom prst="rect">
            <a:avLst/>
          </a:prstGeom>
        </p:spPr>
      </p:pic>
      <p:pic>
        <p:nvPicPr>
          <p:cNvPr id="11" name="Picture 10" descr="pi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212080"/>
            <a:ext cx="1051560" cy="1051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960120"/>
            <a:ext cx="8531352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600" b="0" i="0">
                <a:solidFill>
                  <a:srgbClr val="262626"/>
                </a:solidFill>
                <a:latin typeface="Calibri Light"/>
              </a:rPr>
              <a:t>Drive &amp; Decide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0248" y="2395728"/>
            <a:ext cx="3657600" cy="0"/>
          </a:xfrm>
          <a:prstGeom prst="bentConnector3">
            <a:avLst/>
          </a:prstGeom>
          <a:ln w="1905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45920" y="2542032"/>
            <a:ext cx="889711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Wirtschaftlichkeit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</a:t>
            </a: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eines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IoT-</a:t>
            </a: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basierten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Smart-Parking-Systems auf serverless AWS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11880"/>
            <a:ext cx="8531352" cy="456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dirty="0">
                <a:solidFill>
                  <a:srgbClr val="262626"/>
                </a:solidFill>
                <a:latin typeface="Calibri"/>
              </a:rPr>
              <a:t>Maximilian Seier · Julian Zankl</a:t>
            </a:r>
          </a:p>
          <a:p>
            <a:pPr algn="ctr">
              <a:spcBef>
                <a:spcPts val="200"/>
              </a:spcBef>
            </a:pPr>
            <a:r>
              <a:rPr lang="de-AT" sz="1300" dirty="0">
                <a:solidFill>
                  <a:srgbClr val="7F7F7F"/>
                </a:solidFill>
                <a:latin typeface="Calibri"/>
              </a:rPr>
              <a:t>Hochschule</a:t>
            </a:r>
            <a:r>
              <a:rPr sz="1300" b="0" i="0" dirty="0">
                <a:solidFill>
                  <a:srgbClr val="7F7F7F"/>
                </a:solidFill>
                <a:latin typeface="Calibri"/>
              </a:rPr>
              <a:t> Burgenland · </a:t>
            </a:r>
            <a:r>
              <a:rPr lang="de-AT" sz="1300" b="0" i="0" dirty="0">
                <a:solidFill>
                  <a:srgbClr val="7F7F7F"/>
                </a:solidFill>
                <a:latin typeface="Calibri"/>
              </a:rPr>
              <a:t>Infrastructure Engineering</a:t>
            </a:r>
            <a:endParaRPr sz="1300" b="0" i="0" dirty="0">
              <a:solidFill>
                <a:srgbClr val="7F7F7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262626"/>
                </a:solidFill>
                <a:latin typeface="Calibri Light"/>
              </a:rPr>
              <a:t>Agenda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9476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Problemstellung &amp; Motivation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990088"/>
            <a:ext cx="566928" cy="56692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Forschungsfrage &amp; Stand des Wissens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4014216"/>
            <a:ext cx="566928" cy="566928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99592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Lösungsansatz &amp; Use Case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5038344"/>
            <a:ext cx="566928" cy="566928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02005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Systemarchitektur &amp; Datenfluss</a:t>
            </a:r>
          </a:p>
        </p:txBody>
      </p:sp>
      <p:sp>
        <p:nvSpPr>
          <p:cNvPr id="12" name="Oval 11"/>
          <p:cNvSpPr/>
          <p:nvPr/>
        </p:nvSpPr>
        <p:spPr>
          <a:xfrm>
            <a:off x="6355080" y="1965960"/>
            <a:ext cx="566928" cy="566928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9476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Prototyp &amp; Live-Demo</a:t>
            </a:r>
          </a:p>
        </p:txBody>
      </p:sp>
      <p:sp>
        <p:nvSpPr>
          <p:cNvPr id="14" name="Oval 13"/>
          <p:cNvSpPr/>
          <p:nvPr/>
        </p:nvSpPr>
        <p:spPr>
          <a:xfrm>
            <a:off x="6355080" y="2990088"/>
            <a:ext cx="566928" cy="566928"/>
          </a:xfrm>
          <a:prstGeom prst="ellipse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Kosten-Nutzen-Modell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4014216"/>
            <a:ext cx="566928" cy="566928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99592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Ergebnisse &amp; Sensitivität</a:t>
            </a:r>
          </a:p>
        </p:txBody>
      </p:sp>
      <p:sp>
        <p:nvSpPr>
          <p:cNvPr id="18" name="Oval 17"/>
          <p:cNvSpPr/>
          <p:nvPr/>
        </p:nvSpPr>
        <p:spPr>
          <a:xfrm>
            <a:off x="6355080" y="5038344"/>
            <a:ext cx="566928" cy="56692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502005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Diskussion &amp; Fazit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PROBLEMSTELLUNG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Mehr Verkehr, teure Parkplatzsuche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4472C4"/>
                </a:solidFill>
                <a:latin typeface="Calibri Light"/>
              </a:rPr>
              <a:t>+54.208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dirty="0" err="1">
                <a:solidFill>
                  <a:srgbClr val="262626"/>
                </a:solidFill>
                <a:latin typeface="Calibri"/>
              </a:rPr>
              <a:t>Pkw-Zuwachs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in Österreich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26864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7D31"/>
                </a:solidFill>
                <a:latin typeface="Calibri Light"/>
              </a:rPr>
              <a:t>&gt;7,5 Mio.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2715768"/>
            <a:ext cx="307238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dirty="0" err="1">
                <a:solidFill>
                  <a:srgbClr val="262626"/>
                </a:solidFill>
                <a:latin typeface="Calibri"/>
              </a:rPr>
              <a:t>zugelassene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Kfz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–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Höchststand</a:t>
            </a:r>
            <a:r>
              <a:rPr lang="de-DE" sz="1300" b="0" i="0" dirty="0">
                <a:solidFill>
                  <a:srgbClr val="262626"/>
                </a:solidFill>
                <a:latin typeface="Calibri"/>
              </a:rPr>
              <a:t> (2025)</a:t>
            </a:r>
            <a:endParaRPr sz="13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02168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30768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70AD47"/>
                </a:solidFill>
                <a:latin typeface="Calibri Light"/>
              </a:rPr>
              <a:t>~⅓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Verkehrstote durch Ablenkung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57600"/>
            <a:ext cx="11018520" cy="305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lang="de-DE" sz="1500" dirty="0">
                <a:solidFill>
                  <a:srgbClr val="262626"/>
                </a:solidFill>
              </a:rPr>
              <a:t>Pendlerverkehr nach Wien </a:t>
            </a: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lang="de-DE" sz="1500" dirty="0">
                <a:solidFill>
                  <a:srgbClr val="262626"/>
                </a:solidFill>
              </a:rPr>
              <a:t>PLS mit statischer Anzeige</a:t>
            </a: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lang="de-DE" sz="1500" dirty="0">
                <a:solidFill>
                  <a:srgbClr val="262626"/>
                </a:solidFill>
              </a:rPr>
              <a:t>wiederholtes Anfahren, Zeitverlust, Suchverkehr, Emissionen und Lärm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lang="de-DE" sz="1500" dirty="0">
                <a:solidFill>
                  <a:srgbClr val="262626"/>
                </a:solidFill>
              </a:rPr>
              <a:t>Betreibersicht</a:t>
            </a: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lang="de-DE" sz="1500" dirty="0">
                <a:solidFill>
                  <a:srgbClr val="262626"/>
                </a:solidFill>
              </a:rPr>
              <a:t>Stellplätze effizient auszulasten </a:t>
            </a:r>
            <a:endParaRPr lang="de-DE" sz="1500" dirty="0">
              <a:solidFill>
                <a:srgbClr val="262626"/>
              </a:solidFill>
              <a:sym typeface="Wingdings" pitchFamily="2" charset="2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lang="de-DE" sz="1500" dirty="0">
                <a:solidFill>
                  <a:srgbClr val="262626"/>
                </a:solidFill>
              </a:rPr>
              <a:t>Wirtschaftlichkeit eines Smart-</a:t>
            </a:r>
            <a:r>
              <a:rPr lang="de-DE" sz="1500" dirty="0" err="1">
                <a:solidFill>
                  <a:srgbClr val="262626"/>
                </a:solidFill>
              </a:rPr>
              <a:t>Parking</a:t>
            </a:r>
            <a:r>
              <a:rPr lang="de-DE" sz="1500" dirty="0">
                <a:solidFill>
                  <a:srgbClr val="262626"/>
                </a:solidFill>
              </a:rPr>
              <a:t>-Systems bleibt unklar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lang="de-DE" sz="1500" dirty="0">
                <a:solidFill>
                  <a:srgbClr val="262626"/>
                </a:solidFill>
              </a:rPr>
              <a:t>Sicherheit</a:t>
            </a: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lang="de-DE" sz="1500" dirty="0">
                <a:solidFill>
                  <a:srgbClr val="262626"/>
                </a:solidFill>
              </a:rPr>
              <a:t>Parkinfo-Suche während Fahrt </a:t>
            </a:r>
            <a:r>
              <a:rPr lang="de-DE" sz="1500" dirty="0">
                <a:solidFill>
                  <a:srgbClr val="262626"/>
                </a:solidFill>
                <a:sym typeface="Wingdings" panose="05000000000000000000" pitchFamily="2" charset="2"/>
              </a:rPr>
              <a:t> </a:t>
            </a:r>
            <a:r>
              <a:rPr lang="de-DE" sz="1500" dirty="0">
                <a:solidFill>
                  <a:srgbClr val="262626"/>
                </a:solidFill>
              </a:rPr>
              <a:t>Erhöhtes Ablenkungspotenzial durch mobile Geräte</a:t>
            </a: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endParaRPr lang="de-DE" sz="1500" dirty="0">
              <a:solidFill>
                <a:srgbClr val="262626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3</a:t>
            </a:r>
          </a:p>
        </p:txBody>
      </p:sp>
      <p:pic>
        <p:nvPicPr>
          <p:cNvPr id="17" name="Grafik 16" descr="Krankenwagen mit einfarbiger Füllung">
            <a:extLst>
              <a:ext uri="{FF2B5EF4-FFF2-40B4-BE49-F238E27FC236}">
                <a16:creationId xmlns:a16="http://schemas.microsoft.com/office/drawing/2014/main" id="{CC9386F9-CD09-7B08-B349-5416BAB67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817352" y="1778508"/>
            <a:ext cx="914400" cy="914400"/>
          </a:xfrm>
          <a:prstGeom prst="rect">
            <a:avLst/>
          </a:prstGeom>
        </p:spPr>
      </p:pic>
      <p:pic>
        <p:nvPicPr>
          <p:cNvPr id="18" name="Grafik 17" descr="Auto mit einfarbiger Füllung">
            <a:extLst>
              <a:ext uri="{FF2B5EF4-FFF2-40B4-BE49-F238E27FC236}">
                <a16:creationId xmlns:a16="http://schemas.microsoft.com/office/drawing/2014/main" id="{3F963098-0279-5665-B9E5-F2CA3408AA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09544" y="1778508"/>
            <a:ext cx="914400" cy="914400"/>
          </a:xfrm>
          <a:prstGeom prst="rect">
            <a:avLst/>
          </a:prstGeom>
        </p:spPr>
      </p:pic>
      <p:pic>
        <p:nvPicPr>
          <p:cNvPr id="21" name="Grafik 20" descr="Bus mit einfarbiger Füllung">
            <a:extLst>
              <a:ext uri="{FF2B5EF4-FFF2-40B4-BE49-F238E27FC236}">
                <a16:creationId xmlns:a16="http://schemas.microsoft.com/office/drawing/2014/main" id="{80E3F443-E2CC-268B-062E-58ACF19B48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012910" y="17830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FORSCHUNGSFRAGE &amp; STAND DES WISSENS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Die Lücke: nicht Machbarkeit, sondern Wirtschaftlichkeit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2880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44546A"/>
                </a:solidFill>
                <a:latin typeface="Calibri"/>
              </a:rPr>
              <a:t>Stand des Wissens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31720"/>
            <a:ext cx="5074920" cy="3007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b="0" i="0" dirty="0" err="1">
                <a:solidFill>
                  <a:srgbClr val="262626"/>
                </a:solidFill>
                <a:latin typeface="Calibri"/>
              </a:rPr>
              <a:t>Sensorik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: IR, Kamera,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Induktion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Ultraschall</a:t>
            </a:r>
            <a:endParaRPr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b="0" i="0" dirty="0">
                <a:solidFill>
                  <a:srgbClr val="262626"/>
                </a:solidFill>
                <a:latin typeface="Calibri"/>
              </a:rPr>
              <a:t>Edge-, Fog- und Cloud-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Architekturen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für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Echtzeitdaten</a:t>
            </a:r>
            <a:endParaRPr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b="0" i="0" dirty="0" err="1">
                <a:solidFill>
                  <a:srgbClr val="262626"/>
                </a:solidFill>
                <a:latin typeface="Calibri"/>
              </a:rPr>
              <a:t>Dynamische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Preis- und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Routingansätze</a:t>
            </a:r>
            <a:endParaRPr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b="0" i="0" dirty="0">
                <a:solidFill>
                  <a:srgbClr val="262626"/>
                </a:solidFill>
                <a:latin typeface="Calibri"/>
              </a:rPr>
              <a:t>Forschung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zu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Fahrerablenkung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und Sicherheit</a:t>
            </a:r>
            <a:endParaRPr lang="de-DE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endParaRPr lang="de-DE" dirty="0">
              <a:solidFill>
                <a:srgbClr val="262626"/>
              </a:solidFill>
              <a:latin typeface="Calibri"/>
            </a:endParaRPr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FontTx/>
              <a:buChar char="•"/>
            </a:pPr>
            <a:r>
              <a:rPr lang="de-DE" b="0" i="0" dirty="0">
                <a:solidFill>
                  <a:srgbClr val="262626"/>
                </a:solidFill>
                <a:latin typeface="Calibri"/>
                <a:sym typeface="Wingdings" panose="05000000000000000000" pitchFamily="2" charset="2"/>
              </a:rPr>
              <a:t> </a:t>
            </a:r>
            <a:r>
              <a:rPr lang="de-DE" dirty="0">
                <a:solidFill>
                  <a:srgbClr val="262626"/>
                </a:solidFill>
              </a:rPr>
              <a:t>Technische Machbarkeit ist längst gezeigt</a:t>
            </a: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endParaRPr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89320" y="1783080"/>
            <a:ext cx="5623560" cy="1691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63640" y="1938528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7D31"/>
                </a:solidFill>
                <a:latin typeface="Calibri"/>
              </a:rPr>
              <a:t>Forschungslücke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331720"/>
            <a:ext cx="5074920" cy="5747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</a:pPr>
            <a:r>
              <a:rPr lang="de-DE" b="0" i="0" dirty="0">
                <a:solidFill>
                  <a:srgbClr val="262626"/>
                </a:solidFill>
                <a:latin typeface="Calibri"/>
              </a:rPr>
              <a:t>R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eproduzierbarer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Bewertungsrahmen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DE" b="0" i="0" dirty="0">
                <a:solidFill>
                  <a:srgbClr val="262626"/>
                </a:solidFill>
                <a:latin typeface="Calibri"/>
              </a:rPr>
              <a:t>für Wirtschaftlichkeit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aus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Sicht des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Betreibers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DE" b="0" i="0" dirty="0">
                <a:solidFill>
                  <a:srgbClr val="262626"/>
                </a:solidFill>
                <a:latin typeface="Calibri"/>
              </a:rPr>
              <a:t>fehlt</a:t>
            </a:r>
            <a:endParaRPr lang="en-US" b="1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89320" y="3657600"/>
            <a:ext cx="5623560" cy="1965960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3840480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Forschungsfrage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251960"/>
            <a:ext cx="5074920" cy="8837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b="0" i="0" dirty="0" err="1">
                <a:solidFill>
                  <a:srgbClr val="FFFFFF"/>
                </a:solidFill>
                <a:latin typeface="Calibri"/>
              </a:rPr>
              <a:t>Rechtfertigt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der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erwartete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Nutzen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die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Investitions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- und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Betriebskosten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eines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IoT-Smart-Parking-Systems und ab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wann</a:t>
            </a:r>
            <a:r>
              <a:rPr lang="de-AT" b="0" i="0" dirty="0">
                <a:solidFill>
                  <a:srgbClr val="FFFFFF"/>
                </a:solidFill>
                <a:latin typeface="Calibri"/>
              </a:rPr>
              <a:t> ist dies der Fall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(Break-Even)?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  <a:latin typeface="Calibri"/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LÖSUNGSANSATZ &amp;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Prototyp trifft Kosten-Nutzen-Modell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019338"/>
            <a:ext cx="10469880" cy="569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b="1" i="0" dirty="0">
                <a:solidFill>
                  <a:srgbClr val="44546A"/>
                </a:solidFill>
                <a:latin typeface="Calibri"/>
              </a:rPr>
              <a:t>Drive &amp; Decide = </a:t>
            </a:r>
            <a:endParaRPr lang="de-DE" b="1" i="0" dirty="0">
              <a:solidFill>
                <a:srgbClr val="44546A"/>
              </a:solidFill>
              <a:latin typeface="Calibri"/>
            </a:endParaRPr>
          </a:p>
          <a:p>
            <a:pPr algn="ctr">
              <a:lnSpc>
                <a:spcPct val="105000"/>
              </a:lnSpc>
            </a:pPr>
            <a:r>
              <a:rPr b="1" i="0" dirty="0" err="1">
                <a:solidFill>
                  <a:srgbClr val="44546A"/>
                </a:solidFill>
                <a:latin typeface="Calibri"/>
              </a:rPr>
              <a:t>realitätsnaher</a:t>
            </a:r>
            <a:r>
              <a:rPr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44546A"/>
                </a:solidFill>
                <a:latin typeface="Calibri"/>
              </a:rPr>
              <a:t>Prototyp</a:t>
            </a:r>
            <a:r>
              <a:rPr b="1" i="0" dirty="0">
                <a:solidFill>
                  <a:srgbClr val="44546A"/>
                </a:solidFill>
                <a:latin typeface="Calibri"/>
              </a:rPr>
              <a:t> (</a:t>
            </a:r>
            <a:r>
              <a:rPr b="1" i="0" dirty="0" err="1">
                <a:solidFill>
                  <a:srgbClr val="44546A"/>
                </a:solidFill>
                <a:latin typeface="Calibri"/>
              </a:rPr>
              <a:t>physisch</a:t>
            </a:r>
            <a:r>
              <a:rPr b="1" i="0" dirty="0">
                <a:solidFill>
                  <a:srgbClr val="44546A"/>
                </a:solidFill>
                <a:latin typeface="Calibri"/>
              </a:rPr>
              <a:t> + </a:t>
            </a:r>
            <a:r>
              <a:rPr b="1" i="0" dirty="0" err="1">
                <a:solidFill>
                  <a:srgbClr val="44546A"/>
                </a:solidFill>
                <a:latin typeface="Calibri"/>
              </a:rPr>
              <a:t>virtuell</a:t>
            </a:r>
            <a:r>
              <a:rPr b="1" i="0" dirty="0">
                <a:solidFill>
                  <a:srgbClr val="44546A"/>
                </a:solidFill>
                <a:latin typeface="Calibri"/>
              </a:rPr>
              <a:t>) + Kosten-</a:t>
            </a:r>
            <a:r>
              <a:rPr b="1" i="0" dirty="0" err="1">
                <a:solidFill>
                  <a:srgbClr val="44546A"/>
                </a:solidFill>
                <a:latin typeface="Calibri"/>
              </a:rPr>
              <a:t>Nutzen</a:t>
            </a:r>
            <a:r>
              <a:rPr b="1" i="0" dirty="0">
                <a:solidFill>
                  <a:srgbClr val="44546A"/>
                </a:solidFill>
                <a:latin typeface="Calibri"/>
              </a:rPr>
              <a:t>-Modell </a:t>
            </a:r>
            <a:r>
              <a:rPr b="1" i="0" dirty="0" err="1">
                <a:solidFill>
                  <a:srgbClr val="44546A"/>
                </a:solidFill>
                <a:latin typeface="Calibri"/>
              </a:rPr>
              <a:t>aus</a:t>
            </a:r>
            <a:r>
              <a:rPr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44546A"/>
                </a:solidFill>
                <a:latin typeface="Calibri"/>
              </a:rPr>
              <a:t>Betreibersicht</a:t>
            </a:r>
            <a:endParaRPr b="1" i="0" dirty="0">
              <a:solidFill>
                <a:srgbClr val="44546A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297180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3182112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70AD47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639312"/>
            <a:ext cx="4855464" cy="1065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b="0" i="0" dirty="0" err="1">
                <a:solidFill>
                  <a:srgbClr val="262626"/>
                </a:solidFill>
                <a:latin typeface="Calibri"/>
              </a:rPr>
              <a:t>Mittelgroßer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Wiener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Parkhausbetreiber</a:t>
            </a:r>
            <a:endParaRPr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b="0" i="0" dirty="0">
                <a:solidFill>
                  <a:srgbClr val="262626"/>
                </a:solidFill>
                <a:latin typeface="Calibri"/>
              </a:rPr>
              <a:t>200</a:t>
            </a:r>
            <a:r>
              <a:rPr lang="de-AT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innerstädtisch</a:t>
            </a:r>
            <a:endParaRPr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b="0" i="0" dirty="0" err="1">
                <a:solidFill>
                  <a:srgbClr val="262626"/>
                </a:solidFill>
                <a:latin typeface="Calibri"/>
              </a:rPr>
              <a:t>Schwankende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den Tag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7180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4808" y="3182112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/>
              </a:rPr>
              <a:t>Bewertungslogik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3639312"/>
            <a:ext cx="4855464" cy="16476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b="0" i="0" dirty="0" err="1">
                <a:solidFill>
                  <a:srgbClr val="262626"/>
                </a:solidFill>
                <a:latin typeface="Calibri"/>
              </a:rPr>
              <a:t>Betreiber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=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Entscheidungsträger</a:t>
            </a:r>
            <a:endParaRPr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b="0" i="0" dirty="0">
                <a:solidFill>
                  <a:srgbClr val="262626"/>
                </a:solidFill>
                <a:latin typeface="Calibri"/>
              </a:rPr>
              <a:t>Investition in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Sensorik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+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Konnektivität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+ Cloud =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zu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bewertende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Maßnahme</a:t>
            </a:r>
            <a:endParaRPr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b="0" i="0" dirty="0" err="1">
                <a:solidFill>
                  <a:srgbClr val="262626"/>
                </a:solidFill>
                <a:latin typeface="Calibri"/>
              </a:rPr>
              <a:t>Endnutzer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wirken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indirekt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b="0" i="0" dirty="0" err="1">
                <a:solidFill>
                  <a:srgbClr val="262626"/>
                </a:solidFill>
                <a:latin typeface="Calibri"/>
              </a:rPr>
              <a:t>Verhalten</a:t>
            </a:r>
            <a:r>
              <a:rPr lang="de-DE" b="0" i="0" dirty="0">
                <a:solidFill>
                  <a:srgbClr val="262626"/>
                </a:solidFill>
                <a:latin typeface="Calibri"/>
              </a:rPr>
              <a:t> (Navigation zur Garage)</a:t>
            </a:r>
            <a:endParaRPr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SYSTEMARCHITEKTUR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Serverless auf AWS </a:t>
            </a:r>
            <a:r>
              <a:rPr lang="de-AT" sz="2800" dirty="0">
                <a:solidFill>
                  <a:srgbClr val="262626"/>
                </a:solidFill>
                <a:latin typeface="Calibri Light"/>
              </a:rPr>
              <a:t>-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Voraussetzung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für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messbare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Kosten</a:t>
            </a:r>
          </a:p>
        </p:txBody>
      </p:sp>
      <p:pic>
        <p:nvPicPr>
          <p:cNvPr id="4" name="Picture 3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8800"/>
            <a:ext cx="7040880" cy="3932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01000" y="17830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546A"/>
                </a:solidFill>
                <a:latin typeface="Calibri"/>
              </a:rPr>
              <a:t>Datenpfad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1000" y="2286000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57031" y="2267712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62626"/>
                </a:solidFill>
                <a:latin typeface="Calibri"/>
              </a:rPr>
              <a:t>AWS IoT Core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 dirty="0" err="1">
                <a:solidFill>
                  <a:srgbClr val="7F7F7F"/>
                </a:solidFill>
                <a:latin typeface="Calibri"/>
              </a:rPr>
              <a:t>Geräteanbindung</a:t>
            </a:r>
            <a:r>
              <a:rPr sz="1150" b="0" i="0" dirty="0">
                <a:solidFill>
                  <a:srgbClr val="7F7F7F"/>
                </a:solidFill>
                <a:latin typeface="Calibri"/>
              </a:rPr>
              <a:t> + MQTT-Routing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999232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57031" y="2980944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AWS Lambda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ereignisgetriebene Verarbeitung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3712464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3694176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Amazon DynamoDB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aktueller Belegungsstatus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4425696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57031" y="4407408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API Gateway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Ausgabe an Web / Navigation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980509"/>
            <a:ext cx="658368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1" i="0" dirty="0">
                <a:solidFill>
                  <a:srgbClr val="375A28"/>
                </a:solidFill>
                <a:latin typeface="Calibri"/>
              </a:rPr>
              <a:t>Keine </a:t>
            </a:r>
            <a:r>
              <a:rPr sz="1600" b="1" i="0" dirty="0" err="1">
                <a:solidFill>
                  <a:srgbClr val="375A28"/>
                </a:solidFill>
                <a:latin typeface="Calibri"/>
              </a:rPr>
              <a:t>dauerhaft</a:t>
            </a:r>
            <a:r>
              <a:rPr sz="1600" b="1" i="0" dirty="0">
                <a:solidFill>
                  <a:srgbClr val="375A28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375A28"/>
                </a:solidFill>
                <a:latin typeface="Calibri"/>
              </a:rPr>
              <a:t>laufenden</a:t>
            </a:r>
            <a:r>
              <a:rPr sz="1600" b="1" i="0" dirty="0">
                <a:solidFill>
                  <a:srgbClr val="375A28"/>
                </a:solidFill>
                <a:latin typeface="Calibri"/>
              </a:rPr>
              <a:t> Server </a:t>
            </a:r>
            <a:r>
              <a:rPr lang="en-US" sz="1600" b="1" dirty="0">
                <a:solidFill>
                  <a:srgbClr val="375A28"/>
                </a:solidFill>
                <a:latin typeface="Calibri"/>
              </a:rPr>
              <a:t>→</a:t>
            </a:r>
            <a:r>
              <a:rPr lang="de-AT" sz="1600" b="1" dirty="0">
                <a:solidFill>
                  <a:srgbClr val="375A28"/>
                </a:solidFill>
                <a:latin typeface="Calibri"/>
                <a:sym typeface="Wingdings" pitchFamily="2" charset="2"/>
              </a:rPr>
              <a:t> </a:t>
            </a:r>
            <a:r>
              <a:rPr sz="1600" b="1" i="0" dirty="0">
                <a:solidFill>
                  <a:srgbClr val="375A28"/>
                </a:solidFill>
                <a:latin typeface="Calibri"/>
              </a:rPr>
              <a:t>Kosten fallen </a:t>
            </a:r>
            <a:r>
              <a:rPr sz="1600" b="1" i="0" dirty="0" err="1">
                <a:solidFill>
                  <a:srgbClr val="375A28"/>
                </a:solidFill>
                <a:latin typeface="Calibri"/>
              </a:rPr>
              <a:t>nur</a:t>
            </a:r>
            <a:r>
              <a:rPr sz="1600" b="1" i="0" dirty="0">
                <a:solidFill>
                  <a:srgbClr val="375A28"/>
                </a:solidFill>
                <a:latin typeface="Calibri"/>
              </a:rPr>
              <a:t> pro </a:t>
            </a:r>
            <a:r>
              <a:rPr sz="1600" b="1" i="0" dirty="0" err="1">
                <a:solidFill>
                  <a:srgbClr val="375A28"/>
                </a:solidFill>
                <a:latin typeface="Calibri"/>
              </a:rPr>
              <a:t>Ereignis</a:t>
            </a:r>
            <a:r>
              <a:rPr sz="1600" b="1" i="0" dirty="0">
                <a:solidFill>
                  <a:srgbClr val="375A28"/>
                </a:solidFill>
                <a:latin typeface="Calibri"/>
              </a:rPr>
              <a:t> 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62055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DATENFLUSS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Vo</a:t>
            </a:r>
            <a:r>
              <a:rPr lang="de-DE" sz="2800" b="0" i="0" dirty="0">
                <a:solidFill>
                  <a:srgbClr val="262626"/>
                </a:solidFill>
                <a:latin typeface="Calibri Light"/>
              </a:rPr>
              <a:t>m Sensor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zur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Anzeige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in 6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Schritten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8" y="1984248"/>
            <a:ext cx="457200" cy="457200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17721"/>
            <a:ext cx="2569463" cy="5023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600" b="1" i="0" dirty="0">
                <a:solidFill>
                  <a:srgbClr val="262626"/>
                </a:solidFill>
                <a:latin typeface="Calibri"/>
              </a:rPr>
              <a:t>Sensor </a:t>
            </a:r>
            <a:r>
              <a:rPr sz="1600" b="1" i="0" dirty="0" err="1">
                <a:solidFill>
                  <a:srgbClr val="262626"/>
                </a:solidFill>
                <a:latin typeface="Calibri"/>
              </a:rPr>
              <a:t>erkennt</a:t>
            </a:r>
            <a:r>
              <a:rPr sz="160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262626"/>
                </a:solidFill>
                <a:latin typeface="Calibri"/>
              </a:rPr>
              <a:t>Statuswechsel</a:t>
            </a:r>
            <a:r>
              <a:rPr sz="1600" b="1" i="0" dirty="0">
                <a:solidFill>
                  <a:srgbClr val="262626"/>
                </a:solidFill>
                <a:latin typeface="Calibri"/>
              </a:rPr>
              <a:t> (TCRT5000)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99432" y="1984248"/>
            <a:ext cx="457200" cy="4572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5504" y="2089673"/>
            <a:ext cx="2569463" cy="7584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600" b="1" i="0" dirty="0">
                <a:solidFill>
                  <a:srgbClr val="262626"/>
                </a:solidFill>
                <a:latin typeface="Calibri"/>
              </a:rPr>
              <a:t>ESP32 </a:t>
            </a:r>
            <a:r>
              <a:rPr sz="1600" b="1" i="0" dirty="0" err="1">
                <a:solidFill>
                  <a:srgbClr val="262626"/>
                </a:solidFill>
                <a:latin typeface="Calibri"/>
              </a:rPr>
              <a:t>baut</a:t>
            </a:r>
            <a:r>
              <a:rPr sz="1600" b="1" i="0" dirty="0">
                <a:solidFill>
                  <a:srgbClr val="262626"/>
                </a:solidFill>
                <a:latin typeface="Calibri"/>
              </a:rPr>
              <a:t> MQTT-</a:t>
            </a:r>
            <a:r>
              <a:rPr sz="1600" b="1" i="0" dirty="0" err="1">
                <a:solidFill>
                  <a:srgbClr val="262626"/>
                </a:solidFill>
                <a:latin typeface="Calibri"/>
              </a:rPr>
              <a:t>Nachricht</a:t>
            </a:r>
            <a:r>
              <a:rPr sz="1600" b="1" i="0" dirty="0">
                <a:solidFill>
                  <a:srgbClr val="262626"/>
                </a:solidFill>
                <a:latin typeface="Calibri"/>
              </a:rPr>
              <a:t>: </a:t>
            </a:r>
            <a:r>
              <a:rPr sz="1600" b="1" i="0" dirty="0" err="1">
                <a:solidFill>
                  <a:srgbClr val="262626"/>
                </a:solidFill>
                <a:latin typeface="Calibri"/>
              </a:rPr>
              <a:t>sensorId</a:t>
            </a:r>
            <a:r>
              <a:rPr sz="1600" b="1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262626"/>
                </a:solidFill>
                <a:latin typeface="Calibri"/>
              </a:rPr>
              <a:t>spotId</a:t>
            </a:r>
            <a:r>
              <a:rPr sz="1600" b="1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262626"/>
                </a:solidFill>
                <a:latin typeface="Calibri"/>
              </a:rPr>
              <a:t>ts</a:t>
            </a:r>
            <a:r>
              <a:rPr sz="1600" b="1" i="0" dirty="0">
                <a:solidFill>
                  <a:srgbClr val="262626"/>
                </a:solidFill>
                <a:latin typeface="Calibri"/>
              </a:rPr>
              <a:t>, raw,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2168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403336" y="1984248"/>
            <a:ext cx="457200" cy="4572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2217721"/>
            <a:ext cx="2569463" cy="5023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Publish auf parking/garage1/spot/&lt;id&gt;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95528" y="3584448"/>
            <a:ext cx="457200" cy="457200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817921"/>
            <a:ext cx="2569463" cy="5023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IoT-Rule → Validierungs-Lambda → DynamoDB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599432" y="3584448"/>
            <a:ext cx="457200" cy="45720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3817921"/>
            <a:ext cx="2569463" cy="5023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Aggregations-Lambda: Auslastung + Ampel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8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403336" y="3584448"/>
            <a:ext cx="457200" cy="457200"/>
          </a:xfrm>
          <a:prstGeom prst="ellipse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817921"/>
            <a:ext cx="2569463" cy="5023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600" b="1" i="0" dirty="0">
                <a:solidFill>
                  <a:srgbClr val="262626"/>
                </a:solidFill>
                <a:latin typeface="Calibri"/>
              </a:rPr>
              <a:t>API Gateway → Web / Navigation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074920"/>
            <a:ext cx="11018520" cy="8658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 dirty="0" err="1">
                <a:solidFill>
                  <a:srgbClr val="44546A"/>
                </a:solidFill>
                <a:latin typeface="Calibri"/>
              </a:rPr>
              <a:t>Jede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Nachricht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= 1 IoT-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Nachricht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= 1 Lambda-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Aufruf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= 1 DynamoDB-Write </a:t>
            </a:r>
            <a:endParaRPr lang="de-DE" sz="1600" b="1" i="0" dirty="0">
              <a:solidFill>
                <a:srgbClr val="44546A"/>
              </a:solidFill>
              <a:latin typeface="Calibri"/>
            </a:endParaRP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 dirty="0">
                <a:solidFill>
                  <a:srgbClr val="44546A"/>
                </a:solidFill>
                <a:latin typeface="Calibri"/>
              </a:rPr>
              <a:t>→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macht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die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laufenden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Cloud-Kosten (OPEX)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messbar</a:t>
            </a:r>
            <a:endParaRPr sz="1600" b="1" i="0" dirty="0">
              <a:solidFill>
                <a:srgbClr val="44546A"/>
              </a:solidFill>
              <a:latin typeface="Calibri"/>
            </a:endParaRPr>
          </a:p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70AD47"/>
                </a:solidFill>
                <a:latin typeface="Calibri"/>
              </a:rPr>
              <a:t>● </a:t>
            </a:r>
            <a:r>
              <a:rPr sz="1600" b="0" dirty="0">
                <a:solidFill>
                  <a:srgbClr val="262626"/>
                </a:solidFill>
                <a:latin typeface="Calibri"/>
              </a:rPr>
              <a:t>&lt;0,70    </a:t>
            </a:r>
            <a:r>
              <a:rPr sz="1600" b="1" dirty="0">
                <a:solidFill>
                  <a:srgbClr val="FFC000"/>
                </a:solidFill>
                <a:latin typeface="Calibri"/>
              </a:rPr>
              <a:t>● </a:t>
            </a:r>
            <a:r>
              <a:rPr sz="1600" b="0" dirty="0">
                <a:solidFill>
                  <a:srgbClr val="262626"/>
                </a:solidFill>
                <a:latin typeface="Calibri"/>
              </a:rPr>
              <a:t>0,70–0,90    </a:t>
            </a:r>
            <a:r>
              <a:rPr sz="1600" b="1" dirty="0">
                <a:solidFill>
                  <a:srgbClr val="ED7D31"/>
                </a:solidFill>
                <a:latin typeface="Calibri"/>
              </a:rPr>
              <a:t>● </a:t>
            </a:r>
            <a:r>
              <a:rPr sz="1600" b="0" dirty="0">
                <a:solidFill>
                  <a:srgbClr val="262626"/>
                </a:solidFill>
                <a:latin typeface="Calibri"/>
              </a:rPr>
              <a:t>&gt;0,90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PROTOTYP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Physisch für Realismus, virtuell für Skalierung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28799"/>
            <a:ext cx="3931920" cy="4469364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800600" y="1828800"/>
            <a:ext cx="6812280" cy="157276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74920" y="1956816"/>
            <a:ext cx="62636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Physisch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340864"/>
            <a:ext cx="6263640" cy="7489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Modellgarage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4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markierten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Stellplätzen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Je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TCRT5000-IR-Sensor,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ausgelesen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vom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ESP32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Belegung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per Matchbox-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Fahrzeugen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, Publish via MQTT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3502152"/>
            <a:ext cx="6812280" cy="157276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74920" y="3630168"/>
            <a:ext cx="62636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5B9BD5"/>
                </a:solidFill>
                <a:latin typeface="Calibri"/>
              </a:rPr>
              <a:t>Virtuell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4014216"/>
            <a:ext cx="6263640" cy="7489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Load Generator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simuliert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ganze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Garage (200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;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Großgarage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: 400)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Nutzt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denselben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MQTT-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Pfad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+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Einfahrts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-Ampel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Realistische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Last und Cloud-Kosten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ohne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Hardware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34F388D-4510-9F39-A213-C6F611B379F4}"/>
              </a:ext>
            </a:extLst>
          </p:cNvPr>
          <p:cNvGrpSpPr/>
          <p:nvPr/>
        </p:nvGrpSpPr>
        <p:grpSpPr>
          <a:xfrm>
            <a:off x="4800600" y="5212080"/>
            <a:ext cx="6812280" cy="658368"/>
            <a:chOff x="594360" y="5212080"/>
            <a:chExt cx="11018520" cy="658368"/>
          </a:xfrm>
        </p:grpSpPr>
        <p:sp>
          <p:nvSpPr>
            <p:cNvPr id="12" name="Rounded Rectangle 11"/>
            <p:cNvSpPr/>
            <p:nvPr/>
          </p:nvSpPr>
          <p:spPr>
            <a:xfrm>
              <a:off x="594360" y="5212080"/>
              <a:ext cx="11018520" cy="658368"/>
            </a:xfrm>
            <a:prstGeom prst="roundRect">
              <a:avLst>
                <a:gd name="adj" fmla="val 6000"/>
              </a:avLst>
            </a:prstGeom>
            <a:solidFill>
              <a:srgbClr val="DAE3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40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68679" y="5316676"/>
              <a:ext cx="10469879" cy="4308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400" b="1" i="0" dirty="0" err="1">
                  <a:solidFill>
                    <a:srgbClr val="44546A"/>
                  </a:solidFill>
                  <a:latin typeface="Calibri"/>
                </a:rPr>
                <a:t>Beide</a:t>
              </a:r>
              <a:r>
                <a:rPr sz="140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400" b="1" i="0" dirty="0" err="1">
                  <a:solidFill>
                    <a:srgbClr val="44546A"/>
                  </a:solidFill>
                  <a:latin typeface="Calibri"/>
                </a:rPr>
                <a:t>Prototypen</a:t>
              </a:r>
              <a:r>
                <a:rPr sz="140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400" b="1" i="0" dirty="0" err="1">
                  <a:solidFill>
                    <a:srgbClr val="44546A"/>
                  </a:solidFill>
                  <a:latin typeface="Calibri"/>
                </a:rPr>
                <a:t>nutzen</a:t>
              </a:r>
              <a:r>
                <a:rPr sz="140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400" b="1" i="0" dirty="0" err="1">
                  <a:solidFill>
                    <a:srgbClr val="44546A"/>
                  </a:solidFill>
                  <a:latin typeface="Calibri"/>
                </a:rPr>
                <a:t>identisches</a:t>
              </a:r>
              <a:r>
                <a:rPr sz="1400" b="1" i="0" dirty="0">
                  <a:solidFill>
                    <a:srgbClr val="44546A"/>
                  </a:solidFill>
                  <a:latin typeface="Calibri"/>
                </a:rPr>
                <a:t> Topic und JSON-Schema </a:t>
              </a:r>
              <a:r>
                <a:rPr lang="de-AT" sz="1400" b="1" dirty="0">
                  <a:solidFill>
                    <a:srgbClr val="44546A"/>
                  </a:solidFill>
                  <a:latin typeface="Calibri"/>
                  <a:sym typeface="Wingdings" pitchFamily="2" charset="2"/>
                </a:rPr>
                <a:t> </a:t>
              </a:r>
              <a:r>
                <a:rPr sz="1400" b="1" i="0" dirty="0" err="1">
                  <a:solidFill>
                    <a:srgbClr val="44546A"/>
                  </a:solidFill>
                  <a:latin typeface="Calibri"/>
                </a:rPr>
                <a:t>ein</a:t>
              </a:r>
              <a:r>
                <a:rPr sz="140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400" b="1" i="0" dirty="0" err="1">
                  <a:solidFill>
                    <a:srgbClr val="44546A"/>
                  </a:solidFill>
                  <a:latin typeface="Calibri"/>
                </a:rPr>
                <a:t>gemeinsame</a:t>
              </a:r>
              <a:r>
                <a:rPr lang="de-AT" sz="1400" b="1" i="0" dirty="0" err="1">
                  <a:solidFill>
                    <a:srgbClr val="44546A"/>
                  </a:solidFill>
                  <a:latin typeface="Calibri"/>
                </a:rPr>
                <a:t>r</a:t>
              </a:r>
              <a:r>
                <a:rPr sz="1400" b="1" i="0" dirty="0">
                  <a:solidFill>
                    <a:srgbClr val="44546A"/>
                  </a:solidFill>
                  <a:latin typeface="Calibri"/>
                </a:rPr>
                <a:t> „Contract“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8</a:t>
            </a:r>
          </a:p>
        </p:txBody>
      </p:sp>
      <p:pic>
        <p:nvPicPr>
          <p:cNvPr id="17" name="Picture 16" descr="A box with wires and wires&#10;&#10;AI-generated content may be incorrect.">
            <a:extLst>
              <a:ext uri="{FF2B5EF4-FFF2-40B4-BE49-F238E27FC236}">
                <a16:creationId xmlns:a16="http://schemas.microsoft.com/office/drawing/2014/main" id="{D18DBD1C-A9A6-BD14-8413-005DA0BF89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965" b="5222"/>
          <a:stretch>
            <a:fillRect/>
          </a:stretch>
        </p:blipFill>
        <p:spPr>
          <a:xfrm>
            <a:off x="1157096" y="1915482"/>
            <a:ext cx="2806448" cy="213359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5EE447D-276C-08FA-91D7-B3B6D8DFE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096" y="4099030"/>
            <a:ext cx="2806448" cy="21048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02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14600" y="21488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i="0">
                <a:solidFill>
                  <a:srgbClr val="262626"/>
                </a:solidFill>
                <a:latin typeface="Calibri Light"/>
              </a:rPr>
              <a:t>Live-Demo</a:t>
            </a:r>
          </a:p>
          <a:p>
            <a:pPr algn="l">
              <a:spcBef>
                <a:spcPts val="200"/>
              </a:spcBef>
            </a:pPr>
            <a:r>
              <a:rPr sz="2000" b="1" i="0">
                <a:solidFill>
                  <a:srgbClr val="ED7D31"/>
                </a:solidFill>
                <a:latin typeface="Calibri"/>
              </a:rPr>
              <a:t>mit Video-Fallback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2032" y="3703320"/>
            <a:ext cx="87782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Physische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Belegung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(Modell) → Web-Update in 1–2 s</a:t>
            </a:r>
          </a:p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Großgarage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„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Andrang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simulieren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“ → Ampel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grün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gelb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rot</a:t>
            </a:r>
          </a:p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>
                <a:solidFill>
                  <a:srgbClr val="262626"/>
                </a:solidFill>
                <a:latin typeface="Calibri"/>
              </a:rPr>
              <a:t>End-to-End-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Pfad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live: Sensor → MQTT → IoT Core → Lambda → DynamoDB → API →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KOSTEN-NUTZEN-MODELL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Aufbau: Kosten gegen Nutzen über 5 Jahre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 Same Side Corner Rectangle 4"/>
          <p:cNvSpPr/>
          <p:nvPr/>
        </p:nvSpPr>
        <p:spPr>
          <a:xfrm>
            <a:off x="594360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CAPEX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651760"/>
            <a:ext cx="2267712" cy="798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Sensoren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Mikrocontroller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Verkabelung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, Installation,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initiale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Cloud-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Konfiguration</a:t>
            </a:r>
            <a:endParaRPr sz="16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438144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 Same Side Corner Rectangle 8"/>
          <p:cNvSpPr/>
          <p:nvPr/>
        </p:nvSpPr>
        <p:spPr>
          <a:xfrm>
            <a:off x="3438144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21024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51760"/>
            <a:ext cx="2267712" cy="1340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262626"/>
                </a:solidFill>
                <a:latin typeface="Calibri"/>
              </a:rPr>
              <a:t>Nutzungsabhängige AWS-Kosten (IoT, Lambda, DynamoDB, Transfer, Speicher) + Wartung, Sensoraustausch, Strom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81928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4808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Nutzen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651760"/>
            <a:ext cx="2267712" cy="1069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Höhere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dynamische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Preise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weniger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Fehlfahrten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Datenverwertung</a:t>
            </a:r>
            <a:endParaRPr sz="16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125712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>
            <a:off x="9125712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08592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Kennzahlen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651760"/>
            <a:ext cx="2267712" cy="798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>
                <a:solidFill>
                  <a:srgbClr val="262626"/>
                </a:solidFill>
                <a:latin typeface="Calibri"/>
              </a:rPr>
              <a:t>TCO · ROI ·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Amortisation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· Break-Even (</a:t>
            </a:r>
            <a:r>
              <a:rPr lang="el-GR" sz="1600" b="0" i="0" dirty="0">
                <a:solidFill>
                  <a:srgbClr val="262626"/>
                </a:solidFill>
                <a:latin typeface="Calibri"/>
              </a:rPr>
              <a:t>Δ</a:t>
            </a:r>
            <a:r>
              <a:rPr lang="en-US"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in %-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Punkten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257800"/>
            <a:ext cx="11018520" cy="1938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 dirty="0" err="1">
                <a:solidFill>
                  <a:srgbClr val="7F7F7F"/>
                </a:solidFill>
                <a:latin typeface="Calibri"/>
              </a:rPr>
              <a:t>Datenquellen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: 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Herstellerpreise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AWS-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Listenpreise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Literaturparameter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</a:t>
            </a:r>
            <a:r>
              <a:rPr lang="de-AT" sz="1250" i="1" dirty="0">
                <a:solidFill>
                  <a:srgbClr val="7F7F7F"/>
                </a:solidFill>
                <a:latin typeface="Calibri"/>
              </a:rPr>
              <a:t>Run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-Manifest des </a:t>
            </a:r>
            <a:r>
              <a:rPr lang="de-AT" sz="1250" b="0" i="1" dirty="0">
                <a:solidFill>
                  <a:srgbClr val="7F7F7F"/>
                </a:solidFill>
                <a:latin typeface="Calibri"/>
              </a:rPr>
              <a:t>Load Generators</a:t>
            </a:r>
            <a:endParaRPr sz="1250" b="0" i="1" dirty="0">
              <a:solidFill>
                <a:srgbClr val="7F7F7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CAPEX dominiert, OPEX bleibt minimal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783080"/>
          <a:ext cx="67665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783080"/>
            <a:ext cx="3931920" cy="4206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0" y="1993392"/>
            <a:ext cx="33832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72C4"/>
                </a:solidFill>
                <a:latin typeface="Calibri"/>
              </a:rPr>
              <a:t>Das Wichtigste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450592"/>
            <a:ext cx="3364991" cy="1363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OPEX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rund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470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890 € pro Jahr</a:t>
            </a: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Gesamtkosten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klar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von den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einmaligen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CAPEX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dominiert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Serverless =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sehr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geringe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laufende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Cloud-Kosten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5074920"/>
            <a:ext cx="3383279" cy="713232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5175504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TCO (5 J.): 9.958 € · 15.461 € · 18.241 €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KENNZAHLEN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Break-Even als belastbare Kennzahl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5528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4472C4"/>
                </a:solidFill>
                <a:latin typeface="Calibri Light"/>
              </a:rPr>
              <a:t>~0,03</a:t>
            </a:r>
            <a:r>
              <a:rPr lang="de-DE" sz="2600" b="1" i="0" dirty="0">
                <a:solidFill>
                  <a:srgbClr val="4472C4"/>
                </a:solidFill>
                <a:latin typeface="Calibri Light"/>
              </a:rPr>
              <a:t> </a:t>
            </a:r>
            <a:r>
              <a:rPr lang="de-AT" sz="2600" b="1" i="0" dirty="0">
                <a:solidFill>
                  <a:srgbClr val="4472C4"/>
                </a:solidFill>
                <a:latin typeface="Calibri Light"/>
              </a:rPr>
              <a:t>- </a:t>
            </a:r>
            <a:r>
              <a:rPr sz="2600" b="1" i="0" dirty="0">
                <a:solidFill>
                  <a:srgbClr val="4472C4"/>
                </a:solidFill>
                <a:latin typeface="Calibri Light"/>
              </a:rPr>
              <a:t>0,04 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807208"/>
            <a:ext cx="2267712" cy="568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 dirty="0">
                <a:solidFill>
                  <a:srgbClr val="262626"/>
                </a:solidFill>
                <a:latin typeface="Calibri"/>
              </a:rPr>
              <a:t>Break-Even: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nötige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Auslastungs</a:t>
            </a:r>
            <a:r>
              <a:rPr lang="de-AT" sz="12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steigerung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, ab der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sich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die Investition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trägt</a:t>
            </a:r>
            <a:endParaRPr sz="12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438144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9312" y="2039112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70AD47"/>
                </a:solidFill>
                <a:latin typeface="Calibri Light"/>
              </a:rPr>
              <a:t>&lt; 1 Jahr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807208"/>
            <a:ext cx="226771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Amortisationsdauer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83096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ED7D31"/>
                </a:solidFill>
                <a:latin typeface="Calibri Light"/>
              </a:rPr>
              <a:t>470</a:t>
            </a:r>
            <a:r>
              <a:rPr lang="de-DE" sz="2600" b="1" i="0" dirty="0">
                <a:solidFill>
                  <a:srgbClr val="ED7D31"/>
                </a:solidFill>
                <a:latin typeface="Calibri Light"/>
              </a:rPr>
              <a:t> </a:t>
            </a:r>
            <a:r>
              <a:rPr lang="de-AT" sz="2600" b="1" i="0" dirty="0">
                <a:solidFill>
                  <a:srgbClr val="ED7D31"/>
                </a:solidFill>
                <a:latin typeface="Calibri Light"/>
              </a:rPr>
              <a:t>- </a:t>
            </a:r>
            <a:r>
              <a:rPr sz="2600" b="1" i="0" dirty="0">
                <a:solidFill>
                  <a:srgbClr val="ED7D31"/>
                </a:solidFill>
                <a:latin typeface="Calibri Light"/>
              </a:rPr>
              <a:t>890 €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807208"/>
            <a:ext cx="226771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OPEX pro Jahr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5712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0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44546A"/>
                </a:solidFill>
                <a:latin typeface="Calibri Light"/>
              </a:rPr>
              <a:t>9.95</a:t>
            </a:r>
            <a:r>
              <a:rPr lang="de-DE" sz="2600" b="1" i="0" dirty="0">
                <a:solidFill>
                  <a:srgbClr val="44546A"/>
                </a:solidFill>
                <a:latin typeface="Calibri Light"/>
              </a:rPr>
              <a:t>8 </a:t>
            </a:r>
            <a:r>
              <a:rPr lang="de-AT" sz="2600" b="1" i="0" dirty="0">
                <a:solidFill>
                  <a:srgbClr val="44546A"/>
                </a:solidFill>
                <a:latin typeface="Calibri Light"/>
              </a:rPr>
              <a:t>- </a:t>
            </a:r>
            <a:r>
              <a:rPr sz="2600" b="1" i="0" dirty="0">
                <a:solidFill>
                  <a:srgbClr val="44546A"/>
                </a:solidFill>
                <a:latin typeface="Calibri Light"/>
              </a:rPr>
              <a:t>18.241 €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807208"/>
            <a:ext cx="2267712" cy="3767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 dirty="0">
                <a:solidFill>
                  <a:srgbClr val="262626"/>
                </a:solidFill>
                <a:latin typeface="Calibri"/>
              </a:rPr>
              <a:t>TCO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5 Jahre</a:t>
            </a:r>
            <a:br>
              <a:rPr lang="de-AT" sz="1200" b="0" i="0" dirty="0">
                <a:solidFill>
                  <a:srgbClr val="262626"/>
                </a:solidFill>
                <a:latin typeface="Calibri"/>
              </a:rPr>
            </a:br>
            <a:r>
              <a:rPr sz="1200" b="0" i="0" dirty="0">
                <a:solidFill>
                  <a:srgbClr val="262626"/>
                </a:solidFill>
                <a:latin typeface="Calibri"/>
              </a:rPr>
              <a:t>(200</a:t>
            </a:r>
            <a:r>
              <a:rPr lang="de-AT" sz="12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018520" cy="1783080"/>
          </a:xfrm>
          <a:prstGeom prst="roundRect">
            <a:avLst>
              <a:gd name="adj" fmla="val 6000"/>
            </a:avLst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224528"/>
            <a:ext cx="10469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4546A"/>
                </a:solidFill>
                <a:latin typeface="Calibri"/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17720"/>
            <a:ext cx="10469880" cy="462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Break-Even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liegt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weit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unter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dem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konservativsten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Szenario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(+1 pp) und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unter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den in der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Literatur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berichteten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Effekten</a:t>
            </a:r>
            <a:br>
              <a:rPr lang="de-AT" sz="1400" dirty="0">
                <a:solidFill>
                  <a:srgbClr val="262626"/>
                </a:solidFill>
                <a:latin typeface="Calibri"/>
              </a:rPr>
            </a:br>
            <a:r>
              <a:rPr sz="1400" b="0" i="0" dirty="0">
                <a:solidFill>
                  <a:srgbClr val="262626"/>
                </a:solidFill>
                <a:latin typeface="Calibri"/>
              </a:rPr>
              <a:t>ROI und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Amortisation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sind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alle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Szenarien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deutlich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positiv</a:t>
            </a:r>
            <a:r>
              <a:rPr lang="de-AT" sz="1400" dirty="0">
                <a:solidFill>
                  <a:srgbClr val="262626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als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robuste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Kennzahl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wird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der Break-Even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betrachtet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SENSITIVITÄT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Ergebnis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hängt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an der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Nutzenseite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78308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783080"/>
            <a:ext cx="3931920" cy="40233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0" y="1993392"/>
            <a:ext cx="338327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DE" sz="1600" b="1" i="0" dirty="0">
                <a:solidFill>
                  <a:srgbClr val="4472C4"/>
                </a:solidFill>
                <a:latin typeface="Calibri"/>
              </a:rPr>
              <a:t>Interpretation</a:t>
            </a:r>
            <a:endParaRPr sz="1600" b="1" i="0" dirty="0">
              <a:solidFill>
                <a:srgbClr val="4472C4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955280" y="2450592"/>
            <a:ext cx="3364991" cy="1542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Parktarif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und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Auslastungssteigerung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bestimmen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Ergebnis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fast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vollständig</a:t>
            </a:r>
            <a:endParaRPr sz="13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Sensorkosten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und Cloud-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Ereignisrate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spielen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kaum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eine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Rolle</a:t>
            </a: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Deshalb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wird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350" b="0" i="0" dirty="0">
                <a:solidFill>
                  <a:srgbClr val="262626"/>
                </a:solidFill>
                <a:latin typeface="Calibri"/>
              </a:rPr>
              <a:t>der 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Break-Even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eines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einzelnen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ROI-Werts </a:t>
            </a:r>
            <a:r>
              <a:rPr lang="de-AT" sz="1350" b="0" i="0" dirty="0">
                <a:solidFill>
                  <a:srgbClr val="262626"/>
                </a:solidFill>
                <a:latin typeface="Calibri"/>
              </a:rPr>
              <a:t>betrachtet</a:t>
            </a:r>
            <a:endParaRPr sz="135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0" y="5074920"/>
            <a:ext cx="338327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 dirty="0" err="1">
                <a:solidFill>
                  <a:srgbClr val="7F7F7F"/>
                </a:solidFill>
                <a:latin typeface="Calibri"/>
              </a:rPr>
              <a:t>Einfluss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je Parameter,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normiert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auf den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stärksten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(±30 % Variation, Basis 400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Stellplätze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DISKUSSION &amp; LIMITATIONEN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Wann es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sich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trägt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und was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offen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bleibt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544068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6968" y="2011680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70AD47"/>
                </a:solidFill>
                <a:latin typeface="Calibri"/>
              </a:rPr>
              <a:t>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05456"/>
            <a:ext cx="4873752" cy="1924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Unter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den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getroffenen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Annahmen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amortisiert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sich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die Investition</a:t>
            </a: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Nutzenseite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(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, Tarif)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dominiert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Ergebnis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Skaleneffekt</a:t>
            </a:r>
            <a:endParaRPr lang="de-AT" sz="1400" dirty="0">
              <a:solidFill>
                <a:srgbClr val="262626"/>
              </a:solidFill>
              <a:latin typeface="Calibri"/>
            </a:endParaRPr>
          </a:p>
          <a:p>
            <a:pPr marL="671200" lvl="1" indent="-214000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OPEX je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Stellplatz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sinkt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der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Größe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Serverless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macht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 Erfassung von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OPEX </a:t>
            </a:r>
            <a:r>
              <a:rPr lang="en-US" sz="1400" b="0" i="0" dirty="0" err="1">
                <a:solidFill>
                  <a:srgbClr val="262626"/>
                </a:solidFill>
                <a:latin typeface="Calibri"/>
              </a:rPr>
              <a:t>überhaupt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erst möglich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64808" y="2011680"/>
            <a:ext cx="489204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DE" sz="1700" b="1" i="0" dirty="0">
                <a:solidFill>
                  <a:srgbClr val="ED7D31"/>
                </a:solidFill>
                <a:latin typeface="Calibri"/>
              </a:rPr>
              <a:t>Future Work</a:t>
            </a:r>
            <a:endParaRPr sz="1700" b="1" i="0" dirty="0">
              <a:solidFill>
                <a:srgbClr val="ED7D3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64808" y="2505456"/>
            <a:ext cx="4873752" cy="1555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lang="de-DE" sz="1400" b="0" i="0" dirty="0">
                <a:solidFill>
                  <a:srgbClr val="262626"/>
                </a:solidFill>
                <a:latin typeface="Calibri"/>
              </a:rPr>
              <a:t>Statt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Modellierte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langfristig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gemessene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Cloud-Kosten</a:t>
            </a: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Nutzen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vollen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Tarif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angesetzt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→ ROI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überschätzt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; Break-Even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ist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die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belastbare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Aussage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Sensor-Benchmark,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Endnutzerstudie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Sicherheitseffekte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DE" sz="1400" b="0" i="0" dirty="0">
                <a:solidFill>
                  <a:srgbClr val="262626"/>
                </a:solidFill>
                <a:latin typeface="Calibri"/>
              </a:rPr>
              <a:t>berücksichtigen</a:t>
            </a:r>
            <a:endParaRPr lang="de-AT" sz="140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FAZIT &amp; AUSBLICK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Investitionsentscheidung auf belastbarer Basis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18520" cy="1554480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57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2318857"/>
            <a:ext cx="9189720" cy="5195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 dirty="0" err="1">
                <a:solidFill>
                  <a:srgbClr val="FFFFFF"/>
                </a:solidFill>
                <a:latin typeface="Calibri"/>
              </a:rPr>
              <a:t>Investitionsentscheidungen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für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ein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Smart-Parking-System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sollten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auf TCO, ROI und Break-Even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beruhen</a:t>
            </a:r>
            <a:r>
              <a:rPr lang="de-AT" sz="1600" b="1" dirty="0">
                <a:solidFill>
                  <a:srgbClr val="FFFFFF"/>
                </a:solidFill>
                <a:latin typeface="Calibri"/>
              </a:rPr>
              <a:t>: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de-AT" sz="1600" b="1" i="0" dirty="0">
                <a:solidFill>
                  <a:srgbClr val="FFFFFF"/>
                </a:solidFill>
                <a:latin typeface="Calibri"/>
              </a:rPr>
              <a:t>S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erverless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ereignisgetriebenes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Design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ist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die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Voraussetzung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für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belastbare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laufende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Kosten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11018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44546A"/>
                </a:solidFill>
                <a:latin typeface="Calibri"/>
              </a:rPr>
              <a:t>Ausblick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58952" y="4279392"/>
            <a:ext cx="402336" cy="402336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420624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62626"/>
                </a:solidFill>
                <a:latin typeface="Calibri"/>
              </a:rPr>
              <a:t>Reale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Messreihen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modellierter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OPEX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336792" y="4279392"/>
            <a:ext cx="402336" cy="402336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432" y="420624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 err="1">
                <a:solidFill>
                  <a:srgbClr val="262626"/>
                </a:solidFill>
                <a:latin typeface="Calibri"/>
              </a:rPr>
              <a:t>Feldstudie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zum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tatsächlichen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Auslastungseffekt</a:t>
            </a:r>
            <a:endParaRPr sz="1350" b="1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94360" y="498348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58952" y="514807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507492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Mehr Sensoren/Stellplätze, robustere Sensorik (ToF)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98348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336792" y="5148072"/>
            <a:ext cx="402336" cy="402336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432" y="507492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Navigations-Anbindung und dynamische Tarife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BACKUP &amp; QUELLEN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Für Rückfragen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0240"/>
            <a:ext cx="4937760" cy="22138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Ampel-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Schwellen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&amp;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Aggregationslogik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Contract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Topic-Schema + JSON-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Nachricht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IoT-Policy (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Connect + Publish)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Lastprofile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&amp;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awsUsageEstimate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-Manifest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Quellenverzeichnis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(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references.bib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2746041"/>
              </p:ext>
            </p:extLst>
          </p:nvPr>
        </p:nvGraphicFramePr>
        <p:xfrm>
          <a:off x="5806440" y="1920240"/>
          <a:ext cx="580643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Szenario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CAPEX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OPEX/J.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TCO 5J.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Break-Even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200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7.616 €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468 €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9.958 €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0,04 pp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400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11.720 €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748 €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15.461 €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0,03 pp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500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13.784 €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891 €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18.241 €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0,03 pp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06440" y="4389120"/>
            <a:ext cx="58064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 dirty="0" err="1">
                <a:solidFill>
                  <a:srgbClr val="7F7F7F"/>
                </a:solidFill>
                <a:latin typeface="Calibri"/>
              </a:rPr>
              <a:t>Kennzahlen</a:t>
            </a:r>
            <a:r>
              <a:rPr sz="1150" b="0" i="1" dirty="0">
                <a:solidFill>
                  <a:srgbClr val="7F7F7F"/>
                </a:solidFill>
                <a:latin typeface="Calibri"/>
              </a:rPr>
              <a:t> je </a:t>
            </a:r>
            <a:r>
              <a:rPr sz="1150" b="0" i="1" dirty="0" err="1">
                <a:solidFill>
                  <a:srgbClr val="7F7F7F"/>
                </a:solidFill>
                <a:latin typeface="Calibri"/>
              </a:rPr>
              <a:t>Garagengröße</a:t>
            </a:r>
            <a:endParaRPr sz="1150" b="0" i="1" dirty="0">
              <a:solidFill>
                <a:srgbClr val="7F7F7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154803_TF33787325_Win32" id="{A05DB3F5-BA6F-4664-A3B9-681B10D2394A}" vid="{175BBC83-BB1E-424A-B9B3-703D6939672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Sicherheit für Testlabors</Template>
  <TotalTime>0</TotalTime>
  <Words>1417</Words>
  <Application>Microsoft Office PowerPoint</Application>
  <PresentationFormat>Breitbild</PresentationFormat>
  <Paragraphs>267</Paragraphs>
  <Slides>16</Slides>
  <Notes>11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Wingdings</vt:lpstr>
      <vt:lpstr>Office-Design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Seier Maximilian</dc:creator>
  <cp:lastModifiedBy>Max Seier</cp:lastModifiedBy>
  <cp:revision>59</cp:revision>
  <dcterms:created xsi:type="dcterms:W3CDTF">2026-06-19T07:20:18Z</dcterms:created>
  <dcterms:modified xsi:type="dcterms:W3CDTF">2026-06-19T18:12:42Z</dcterms:modified>
</cp:coreProperties>
</file>